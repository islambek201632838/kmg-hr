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4410C-A1D4-4AE5-AC0C-3B165A5335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45B2AF-AC1B-443E-A5B8-59EBE4BDC2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5DC4CFD-FE87-4FCF-A46C-DEEF2C2690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1BC701A-7172-46FB-AD7B-BF83EA6502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1F5C319-8C9C-4BAC-BE46-7F8B0CBEAF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F636BAB-B28F-43B4-AFA0-E2475585C6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F454358-C7FA-4954-B43E-556FE6C947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69E5165-FDBC-47FE-86FB-9CEF92150E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038905A-E606-485A-B02E-577F51702D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6476016-0599-4ECB-AF71-3EA1921683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464F71B-DF94-4ED9-A56B-2FD9E8C741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41B2D9-E45C-4DC4-8EA3-77EE141FAF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95A1F9-3396-4520-929E-8BE0E763F2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8C77E5-7A9B-4A73-A961-5785328808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DBB6DE-2BC9-429E-8E93-02141BD98B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l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i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k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o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d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i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a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r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i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l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y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l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43DE4A-C56A-476E-AAF1-8E9BE5948F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AB7832-DD4A-4193-A5B7-83B36E2F3E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1C6915-48E8-4DCE-AB2F-5020B5288E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DAA768-1E49-4540-BD1A-22C9B30C95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B2787D-EEB3-42DF-976D-6478D44BB6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F72B5A-7D58-4719-B851-7BF84A9ED7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2BED88-68B4-42A9-9999-DC3BD0B206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5212080"/>
            <a:ext cx="12188520" cy="20088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457200" y="914400"/>
            <a:ext cx="112741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KMG HR AI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457200" y="2377440"/>
            <a:ext cx="11274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e8a838"/>
                </a:solidFill>
                <a:latin typeface="Calibri"/>
              </a:rPr>
              <a:t>AI-модуль оценки и генерации целей сотрудников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457200" y="315468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dff"/>
                </a:solidFill>
                <a:latin typeface="Calibri"/>
              </a:rPr>
              <a:t>RAG + LLM  ·  FastAPI  ·  React  ·  Qdrant  ·  Gemini Flash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457200" y="4572000"/>
            <a:ext cx="11274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99aacc"/>
                </a:solidFill>
                <a:latin typeface="Calibri"/>
              </a:rPr>
              <a:t>Хакатон КМГ 2026  ·  Трек: Управление персоналом (HR)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Бизнес-проблема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Почему постановка целей в HR-системах теряет ценность?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274320" y="1417320"/>
            <a:ext cx="5687280" cy="2331360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7"/>
          <p:cNvSpPr/>
          <p:nvPr/>
        </p:nvSpPr>
        <p:spPr>
          <a:xfrm>
            <a:off x="274320" y="1417320"/>
            <a:ext cx="91080" cy="2331360"/>
          </a:xfrm>
          <a:prstGeom prst="rect">
            <a:avLst/>
          </a:prstGeom>
          <a:solidFill>
            <a:srgbClr val="e65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475560" y="1581840"/>
            <a:ext cx="5303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65c00"/>
                </a:solidFill>
                <a:latin typeface="Calibri"/>
              </a:rPr>
              <a:t>⚠️  </a:t>
            </a:r>
            <a:r>
              <a:rPr b="1" lang="en-US" sz="1400" spc="-1" strike="noStrike">
                <a:solidFill>
                  <a:srgbClr val="e65c00"/>
                </a:solidFill>
                <a:latin typeface="Calibri"/>
              </a:rPr>
              <a:t>Размытые формулировки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475560" y="2094120"/>
            <a:ext cx="530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До 60% целей в системе звучат как «улучшить», «развивать», «обеспечить» — без метрик и сроков. Оценить выполнение невозможно.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236280" y="1417320"/>
            <a:ext cx="5687280" cy="2331360"/>
          </a:xfrm>
          <a:prstGeom prst="rect">
            <a:avLst/>
          </a:prstGeom>
          <a:solidFill>
            <a:srgbClr val="e8ea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ectangle 11"/>
          <p:cNvSpPr/>
          <p:nvPr/>
        </p:nvSpPr>
        <p:spPr>
          <a:xfrm>
            <a:off x="6236280" y="1417320"/>
            <a:ext cx="91080" cy="233136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6437520" y="1581840"/>
            <a:ext cx="5303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264"/>
                </a:solidFill>
                <a:latin typeface="Calibri"/>
              </a:rPr>
              <a:t>📉  </a:t>
            </a:r>
            <a:r>
              <a:rPr b="1" lang="en-US" sz="1400" spc="-1" strike="noStrike">
                <a:solidFill>
                  <a:srgbClr val="1a3264"/>
                </a:solidFill>
                <a:latin typeface="Calibri"/>
              </a:rPr>
              <a:t>Нет стратегической связки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6437520" y="2094120"/>
            <a:ext cx="530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Цели сотрудника не коррелируют с KPI подразделения и стратегическими приоритетами компании. Каскадирование не работает.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14"/>
          <p:cNvSpPr/>
          <p:nvPr/>
        </p:nvSpPr>
        <p:spPr>
          <a:xfrm>
            <a:off x="274320" y="3931920"/>
            <a:ext cx="5687280" cy="233136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15"/>
          <p:cNvSpPr/>
          <p:nvPr/>
        </p:nvSpPr>
        <p:spPr>
          <a:xfrm>
            <a:off x="274320" y="3931920"/>
            <a:ext cx="91080" cy="23313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475560" y="4096440"/>
            <a:ext cx="5303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</a:rPr>
              <a:t>⏱️  </a:t>
            </a:r>
            <a:r>
              <a:rPr b="1" lang="en-US" sz="1400" spc="-1" strike="noStrike">
                <a:solidFill>
                  <a:srgbClr val="2e7d32"/>
                </a:solidFill>
                <a:latin typeface="Calibri"/>
              </a:rPr>
              <a:t>Ручная рецензия = недели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475560" y="4608720"/>
            <a:ext cx="530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HR-эксперт тратит 15–30 минут на проверку одного набора целей. При 450 сотрудниках — это сотни часов в квартал.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18"/>
          <p:cNvSpPr/>
          <p:nvPr/>
        </p:nvSpPr>
        <p:spPr>
          <a:xfrm>
            <a:off x="6236280" y="3931920"/>
            <a:ext cx="5687280" cy="2331360"/>
          </a:xfrm>
          <a:prstGeom prst="rect">
            <a:avLst/>
          </a:prstGeom>
          <a:solidFill>
            <a:srgbClr val="f3e5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Rectangle 19"/>
          <p:cNvSpPr/>
          <p:nvPr/>
        </p:nvSpPr>
        <p:spPr>
          <a:xfrm>
            <a:off x="6236280" y="3931920"/>
            <a:ext cx="91080" cy="233136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6437520" y="4096440"/>
            <a:ext cx="5303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a1b9a"/>
                </a:solidFill>
                <a:latin typeface="Calibri"/>
              </a:rPr>
              <a:t>📄  </a:t>
            </a:r>
            <a:r>
              <a:rPr b="1" lang="en-US" sz="1400" spc="-1" strike="noStrike">
                <a:solidFill>
                  <a:srgbClr val="6a1b9a"/>
                </a:solidFill>
                <a:latin typeface="Calibri"/>
              </a:rPr>
              <a:t>ВНД остаются мёртвым грузом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6437520" y="4608720"/>
            <a:ext cx="530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160 корпоративных документов (регламенты, стратегия, политики) не используются при постановке целей. Связь с нормативами — нулевая.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2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Бизнес-ценность решения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Измеримый эффект для HR и руководителей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74320" y="1463040"/>
            <a:ext cx="2742840" cy="255996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411480" y="1600200"/>
            <a:ext cx="24685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~80%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411480" y="2514600"/>
            <a:ext cx="2468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целей получают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SMART-оценку за секунды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411480" y="3383280"/>
            <a:ext cx="24685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Вместо недель ручной рецензии — мгновенный feedback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10"/>
          <p:cNvSpPr/>
          <p:nvPr/>
        </p:nvSpPr>
        <p:spPr>
          <a:xfrm>
            <a:off x="3200400" y="1463040"/>
            <a:ext cx="2742840" cy="25599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11"/>
          <p:cNvSpPr/>
          <p:nvPr/>
        </p:nvSpPr>
        <p:spPr>
          <a:xfrm>
            <a:off x="3337560" y="1600200"/>
            <a:ext cx="24685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3–5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3337560" y="2514600"/>
            <a:ext cx="2468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готовых целей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генерируется за 10 сек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3337560" y="3383280"/>
            <a:ext cx="24685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Привязаны к ВНД, должности и KPI подразделения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14"/>
          <p:cNvSpPr/>
          <p:nvPr/>
        </p:nvSpPr>
        <p:spPr>
          <a:xfrm>
            <a:off x="6126480" y="1463040"/>
            <a:ext cx="2742840" cy="25599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5"/>
          <p:cNvSpPr/>
          <p:nvPr/>
        </p:nvSpPr>
        <p:spPr>
          <a:xfrm>
            <a:off x="6263640" y="1600200"/>
            <a:ext cx="24685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100%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6"/>
          <p:cNvSpPr/>
          <p:nvPr/>
        </p:nvSpPr>
        <p:spPr>
          <a:xfrm>
            <a:off x="6263640" y="2514600"/>
            <a:ext cx="2468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сотрудников охвачено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единым стандартом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7"/>
          <p:cNvSpPr/>
          <p:nvPr/>
        </p:nvSpPr>
        <p:spPr>
          <a:xfrm>
            <a:off x="6263640" y="3383280"/>
            <a:ext cx="24685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Автоматическая проверка по 5 SMART-критериям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18"/>
          <p:cNvSpPr/>
          <p:nvPr/>
        </p:nvSpPr>
        <p:spPr>
          <a:xfrm>
            <a:off x="9052560" y="1463040"/>
            <a:ext cx="2742840" cy="255996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19"/>
          <p:cNvSpPr/>
          <p:nvPr/>
        </p:nvSpPr>
        <p:spPr>
          <a:xfrm>
            <a:off x="9189720" y="1600200"/>
            <a:ext cx="24685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≥</a:t>
            </a: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70%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20"/>
          <p:cNvSpPr/>
          <p:nvPr/>
        </p:nvSpPr>
        <p:spPr>
          <a:xfrm>
            <a:off x="9189720" y="2514600"/>
            <a:ext cx="2468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целей проходят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порог качества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9189720" y="3383280"/>
            <a:ext cx="24685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Система предлагает переформулировку слабых целей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22"/>
          <p:cNvSpPr/>
          <p:nvPr/>
        </p:nvSpPr>
        <p:spPr>
          <a:xfrm>
            <a:off x="274320" y="4297680"/>
            <a:ext cx="11639880" cy="219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ectangle 23"/>
          <p:cNvSpPr/>
          <p:nvPr/>
        </p:nvSpPr>
        <p:spPr>
          <a:xfrm>
            <a:off x="274320" y="4297680"/>
            <a:ext cx="91080" cy="219420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24"/>
          <p:cNvSpPr/>
          <p:nvPr/>
        </p:nvSpPr>
        <p:spPr>
          <a:xfrm>
            <a:off x="502920" y="4407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264"/>
                </a:solidFill>
                <a:latin typeface="Calibri"/>
              </a:rPr>
              <a:t>Для кого и какая ценность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502920" y="4846320"/>
            <a:ext cx="3474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e5499"/>
                </a:solidFill>
                <a:latin typeface="Calibri"/>
              </a:rPr>
              <a:t>👤  </a:t>
            </a:r>
            <a:r>
              <a:rPr b="1" lang="en-US" sz="1200" spc="-1" strike="noStrike">
                <a:solidFill>
                  <a:srgbClr val="1e5499"/>
                </a:solidFill>
                <a:latin typeface="Calibri"/>
              </a:rPr>
              <a:t>Сотрудник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6"/>
          <p:cNvSpPr/>
          <p:nvPr/>
        </p:nvSpPr>
        <p:spPr>
          <a:xfrm>
            <a:off x="502920" y="5230440"/>
            <a:ext cx="3565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Получает мгновенный AI-фидбэк, готовые предложения целей и чёткие рекомендации по улучшению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4343400" y="4846320"/>
            <a:ext cx="3474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e5499"/>
                </a:solidFill>
                <a:latin typeface="Calibri"/>
              </a:rPr>
              <a:t>👔  </a:t>
            </a:r>
            <a:r>
              <a:rPr b="1" lang="en-US" sz="1200" spc="-1" strike="noStrike">
                <a:solidFill>
                  <a:srgbClr val="1e5499"/>
                </a:solidFill>
                <a:latin typeface="Calibri"/>
              </a:rPr>
              <a:t>Руководитель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4343400" y="5230440"/>
            <a:ext cx="3565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Видит SMART-индексы команды, слабые критерии, квартальную динамику — без ручной проверки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8183880" y="4846320"/>
            <a:ext cx="3474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e5499"/>
                </a:solidFill>
                <a:latin typeface="Calibri"/>
              </a:rPr>
              <a:t>🏢  </a:t>
            </a:r>
            <a:r>
              <a:rPr b="1" lang="en-US" sz="1200" spc="-1" strike="noStrike">
                <a:solidFill>
                  <a:srgbClr val="1e5499"/>
                </a:solidFill>
                <a:latin typeface="Calibri"/>
              </a:rPr>
              <a:t>HR-менеджер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30"/>
          <p:cNvSpPr/>
          <p:nvPr/>
        </p:nvSpPr>
        <p:spPr>
          <a:xfrm>
            <a:off x="8183880" y="5230440"/>
            <a:ext cx="3565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Дашборд по 8 подразделениям: стратегическая связка, топ-проблемы, зрелость целеполагания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31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3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Пользовательский сценарий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От постановки цели до принятия — 3 шага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tangle 6"/>
          <p:cNvSpPr/>
          <p:nvPr/>
        </p:nvSpPr>
        <p:spPr>
          <a:xfrm>
            <a:off x="274320" y="1417320"/>
            <a:ext cx="370296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ectangle 7"/>
          <p:cNvSpPr/>
          <p:nvPr/>
        </p:nvSpPr>
        <p:spPr>
          <a:xfrm>
            <a:off x="274320" y="1417320"/>
            <a:ext cx="3702960" cy="50256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411480" y="1490400"/>
            <a:ext cx="338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8a838"/>
                </a:solidFill>
                <a:latin typeface="Calibri"/>
              </a:rPr>
              <a:t>ШАГ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411480" y="1828800"/>
            <a:ext cx="3382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Сотрудник вводит цель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10"/>
          <p:cNvSpPr/>
          <p:nvPr/>
        </p:nvSpPr>
        <p:spPr>
          <a:xfrm>
            <a:off x="411480" y="2331720"/>
            <a:ext cx="3428640" cy="3636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1"/>
          <p:cNvSpPr/>
          <p:nvPr/>
        </p:nvSpPr>
        <p:spPr>
          <a:xfrm>
            <a:off x="457200" y="2468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Выбирает себя из списка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2"/>
          <p:cNvSpPr/>
          <p:nvPr/>
        </p:nvSpPr>
        <p:spPr>
          <a:xfrm>
            <a:off x="457200" y="3035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Указывает квартал и год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3"/>
          <p:cNvSpPr/>
          <p:nvPr/>
        </p:nvSpPr>
        <p:spPr>
          <a:xfrm>
            <a:off x="457200" y="3602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Пишет формулировку цели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14"/>
          <p:cNvSpPr/>
          <p:nvPr/>
        </p:nvSpPr>
        <p:spPr>
          <a:xfrm>
            <a:off x="274320" y="5897880"/>
            <a:ext cx="3702960" cy="6854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5"/>
          <p:cNvSpPr/>
          <p:nvPr/>
        </p:nvSpPr>
        <p:spPr>
          <a:xfrm>
            <a:off x="411480" y="6035040"/>
            <a:ext cx="338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100" spc="-1" strike="noStrike">
                <a:solidFill>
                  <a:srgbClr val="1a3264"/>
                </a:solidFill>
                <a:latin typeface="Calibri"/>
              </a:rPr>
              <a:t>→ </a:t>
            </a:r>
            <a:r>
              <a:rPr b="1" i="1" lang="en-US" sz="1100" spc="-1" strike="noStrike">
                <a:solidFill>
                  <a:srgbClr val="1a3264"/>
                </a:solidFill>
                <a:latin typeface="Calibri"/>
              </a:rPr>
              <a:t>система оценивает за 3–5 сек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16"/>
          <p:cNvSpPr/>
          <p:nvPr/>
        </p:nvSpPr>
        <p:spPr>
          <a:xfrm>
            <a:off x="3996000" y="3794760"/>
            <a:ext cx="246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8a838"/>
                </a:solidFill>
                <a:latin typeface="Calibri"/>
              </a:rPr>
              <a:t>→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17"/>
          <p:cNvSpPr/>
          <p:nvPr/>
        </p:nvSpPr>
        <p:spPr>
          <a:xfrm>
            <a:off x="4251960" y="1417320"/>
            <a:ext cx="370296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ectangle 18"/>
          <p:cNvSpPr/>
          <p:nvPr/>
        </p:nvSpPr>
        <p:spPr>
          <a:xfrm>
            <a:off x="4251960" y="1417320"/>
            <a:ext cx="3702960" cy="50256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9"/>
          <p:cNvSpPr/>
          <p:nvPr/>
        </p:nvSpPr>
        <p:spPr>
          <a:xfrm>
            <a:off x="4389120" y="1490400"/>
            <a:ext cx="338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8a838"/>
                </a:solidFill>
                <a:latin typeface="Calibri"/>
              </a:rPr>
              <a:t>ШАГ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4389120" y="1828800"/>
            <a:ext cx="3382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AI оценивает и помогает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21"/>
          <p:cNvSpPr/>
          <p:nvPr/>
        </p:nvSpPr>
        <p:spPr>
          <a:xfrm>
            <a:off x="4389120" y="2331720"/>
            <a:ext cx="3428640" cy="3636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22"/>
          <p:cNvSpPr/>
          <p:nvPr/>
        </p:nvSpPr>
        <p:spPr>
          <a:xfrm>
            <a:off x="4434840" y="2468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5 SMART-скоров с прогресс-барами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23"/>
          <p:cNvSpPr/>
          <p:nvPr/>
        </p:nvSpPr>
        <p:spPr>
          <a:xfrm>
            <a:off x="4434840" y="3035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Рекомендации по слабым критериям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24"/>
          <p:cNvSpPr/>
          <p:nvPr/>
        </p:nvSpPr>
        <p:spPr>
          <a:xfrm>
            <a:off x="4434840" y="3602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Готовая переформулировка (если &lt; 0.7)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25"/>
          <p:cNvSpPr/>
          <p:nvPr/>
        </p:nvSpPr>
        <p:spPr>
          <a:xfrm>
            <a:off x="4251960" y="5897880"/>
            <a:ext cx="3702960" cy="6854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6"/>
          <p:cNvSpPr/>
          <p:nvPr/>
        </p:nvSpPr>
        <p:spPr>
          <a:xfrm>
            <a:off x="4389120" y="6035040"/>
            <a:ext cx="338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100" spc="-1" strike="noStrike">
                <a:solidFill>
                  <a:srgbClr val="1e5499"/>
                </a:solidFill>
                <a:latin typeface="Calibri"/>
              </a:rPr>
              <a:t>→ </a:t>
            </a:r>
            <a:r>
              <a:rPr b="1" i="1" lang="en-US" sz="1100" spc="-1" strike="noStrike">
                <a:solidFill>
                  <a:srgbClr val="1e5499"/>
                </a:solidFill>
                <a:latin typeface="Calibri"/>
              </a:rPr>
              <a:t>или нажимает «Сгенерировать цели»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27"/>
          <p:cNvSpPr/>
          <p:nvPr/>
        </p:nvSpPr>
        <p:spPr>
          <a:xfrm>
            <a:off x="7973640" y="3794760"/>
            <a:ext cx="246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8a838"/>
                </a:solidFill>
                <a:latin typeface="Calibri"/>
              </a:rPr>
              <a:t>→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 28"/>
          <p:cNvSpPr/>
          <p:nvPr/>
        </p:nvSpPr>
        <p:spPr>
          <a:xfrm>
            <a:off x="8229600" y="1417320"/>
            <a:ext cx="370296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29"/>
          <p:cNvSpPr/>
          <p:nvPr/>
        </p:nvSpPr>
        <p:spPr>
          <a:xfrm>
            <a:off x="8229600" y="1417320"/>
            <a:ext cx="3702960" cy="5025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30"/>
          <p:cNvSpPr/>
          <p:nvPr/>
        </p:nvSpPr>
        <p:spPr>
          <a:xfrm>
            <a:off x="8366760" y="1490400"/>
            <a:ext cx="338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8a838"/>
                </a:solidFill>
                <a:latin typeface="Calibri"/>
              </a:rPr>
              <a:t>ШАГ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1"/>
          <p:cNvSpPr/>
          <p:nvPr/>
        </p:nvSpPr>
        <p:spPr>
          <a:xfrm>
            <a:off x="8366760" y="1828800"/>
            <a:ext cx="3382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Принятие целей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32"/>
          <p:cNvSpPr/>
          <p:nvPr/>
        </p:nvSpPr>
        <p:spPr>
          <a:xfrm>
            <a:off x="8366760" y="2331720"/>
            <a:ext cx="3428640" cy="363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33"/>
          <p:cNvSpPr/>
          <p:nvPr/>
        </p:nvSpPr>
        <p:spPr>
          <a:xfrm>
            <a:off x="8412480" y="2468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AI предлагает 3–5 готовых целей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34"/>
          <p:cNvSpPr/>
          <p:nvPr/>
        </p:nvSpPr>
        <p:spPr>
          <a:xfrm>
            <a:off x="8412480" y="3035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Каждая привязана к документу ВНД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5"/>
          <p:cNvSpPr/>
          <p:nvPr/>
        </p:nvSpPr>
        <p:spPr>
          <a:xfrm>
            <a:off x="8412480" y="3602880"/>
            <a:ext cx="3382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</a:rPr>
              <a:t>Выбирает нужные → «Принять»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36"/>
          <p:cNvSpPr/>
          <p:nvPr/>
        </p:nvSpPr>
        <p:spPr>
          <a:xfrm>
            <a:off x="8229600" y="5897880"/>
            <a:ext cx="3702960" cy="6854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37"/>
          <p:cNvSpPr/>
          <p:nvPr/>
        </p:nvSpPr>
        <p:spPr>
          <a:xfrm>
            <a:off x="8366760" y="6035040"/>
            <a:ext cx="338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100" spc="-1" strike="noStrike">
                <a:solidFill>
                  <a:srgbClr val="2e7d32"/>
                </a:solidFill>
                <a:latin typeface="Calibri"/>
              </a:rPr>
              <a:t>→ </a:t>
            </a:r>
            <a:r>
              <a:rPr b="1" i="1" lang="en-US" sz="1100" spc="-1" strike="noStrike">
                <a:solidFill>
                  <a:srgbClr val="2e7d32"/>
                </a:solidFill>
                <a:latin typeface="Calibri"/>
              </a:rPr>
              <a:t>цели сохраняются в систему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38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4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Дашборд качества целеполагания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Для руководителей и HR — единая картина по всей организации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ectangle 6"/>
          <p:cNvSpPr/>
          <p:nvPr/>
        </p:nvSpPr>
        <p:spPr>
          <a:xfrm>
            <a:off x="274320" y="1417320"/>
            <a:ext cx="1163988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7"/>
          <p:cNvSpPr/>
          <p:nvPr/>
        </p:nvSpPr>
        <p:spPr>
          <a:xfrm>
            <a:off x="274320" y="1417320"/>
            <a:ext cx="11639880" cy="45684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8"/>
          <p:cNvSpPr/>
          <p:nvPr/>
        </p:nvSpPr>
        <p:spPr>
          <a:xfrm>
            <a:off x="457200" y="1481400"/>
            <a:ext cx="7314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Дашборд качества целей   |   2025 год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9"/>
          <p:cNvSpPr/>
          <p:nvPr/>
        </p:nvSpPr>
        <p:spPr>
          <a:xfrm>
            <a:off x="411480" y="1965960"/>
            <a:ext cx="1919880" cy="91404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ectangle 10"/>
          <p:cNvSpPr/>
          <p:nvPr/>
        </p:nvSpPr>
        <p:spPr>
          <a:xfrm>
            <a:off x="411480" y="1965960"/>
            <a:ext cx="191988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1"/>
          <p:cNvSpPr/>
          <p:nvPr/>
        </p:nvSpPr>
        <p:spPr>
          <a:xfrm>
            <a:off x="502920" y="2084760"/>
            <a:ext cx="1737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e7d32"/>
                </a:solidFill>
                <a:latin typeface="Calibri"/>
              </a:rPr>
              <a:t>0.74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502920" y="2578680"/>
            <a:ext cx="173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</a:rPr>
              <a:t>Средний SMART-индекс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 13"/>
          <p:cNvSpPr/>
          <p:nvPr/>
        </p:nvSpPr>
        <p:spPr>
          <a:xfrm>
            <a:off x="2514600" y="1965960"/>
            <a:ext cx="1919880" cy="91404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ectangle 14"/>
          <p:cNvSpPr/>
          <p:nvPr/>
        </p:nvSpPr>
        <p:spPr>
          <a:xfrm>
            <a:off x="2514600" y="1965960"/>
            <a:ext cx="1919880" cy="7272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15"/>
          <p:cNvSpPr/>
          <p:nvPr/>
        </p:nvSpPr>
        <p:spPr>
          <a:xfrm>
            <a:off x="2606040" y="2084760"/>
            <a:ext cx="1737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5499"/>
                </a:solidFill>
                <a:latin typeface="Calibri"/>
              </a:rPr>
              <a:t>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16"/>
          <p:cNvSpPr/>
          <p:nvPr/>
        </p:nvSpPr>
        <p:spPr>
          <a:xfrm>
            <a:off x="2606040" y="2578680"/>
            <a:ext cx="173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</a:rPr>
              <a:t>Подразделений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 17"/>
          <p:cNvSpPr/>
          <p:nvPr/>
        </p:nvSpPr>
        <p:spPr>
          <a:xfrm>
            <a:off x="4617720" y="1965960"/>
            <a:ext cx="1919880" cy="91404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18"/>
          <p:cNvSpPr/>
          <p:nvPr/>
        </p:nvSpPr>
        <p:spPr>
          <a:xfrm>
            <a:off x="4617720" y="1965960"/>
            <a:ext cx="1919880" cy="7272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19"/>
          <p:cNvSpPr/>
          <p:nvPr/>
        </p:nvSpPr>
        <p:spPr>
          <a:xfrm>
            <a:off x="4709160" y="2084760"/>
            <a:ext cx="1737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3264"/>
                </a:solidFill>
                <a:latin typeface="Calibri"/>
              </a:rPr>
              <a:t>9 000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20"/>
          <p:cNvSpPr/>
          <p:nvPr/>
        </p:nvSpPr>
        <p:spPr>
          <a:xfrm>
            <a:off x="4709160" y="2578680"/>
            <a:ext cx="173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</a:rPr>
              <a:t>Всего целей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21"/>
          <p:cNvSpPr/>
          <p:nvPr/>
        </p:nvSpPr>
        <p:spPr>
          <a:xfrm>
            <a:off x="411480" y="297180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SMART-индекс по подразделениям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22"/>
          <p:cNvSpPr/>
          <p:nvPr/>
        </p:nvSpPr>
        <p:spPr>
          <a:xfrm>
            <a:off x="411480" y="3337560"/>
            <a:ext cx="2285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Инфраструктура и DevOps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23"/>
          <p:cNvSpPr/>
          <p:nvPr/>
        </p:nvSpPr>
        <p:spPr>
          <a:xfrm>
            <a:off x="2788920" y="3392280"/>
            <a:ext cx="2221560" cy="2556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24"/>
          <p:cNvSpPr/>
          <p:nvPr/>
        </p:nvSpPr>
        <p:spPr>
          <a:xfrm>
            <a:off x="5056560" y="3383280"/>
            <a:ext cx="411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0.81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5"/>
          <p:cNvSpPr/>
          <p:nvPr/>
        </p:nvSpPr>
        <p:spPr>
          <a:xfrm>
            <a:off x="411480" y="3740040"/>
            <a:ext cx="2285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Данные и аналитика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26"/>
          <p:cNvSpPr/>
          <p:nvPr/>
        </p:nvSpPr>
        <p:spPr>
          <a:xfrm>
            <a:off x="2788920" y="3794760"/>
            <a:ext cx="2111760" cy="2556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27"/>
          <p:cNvSpPr/>
          <p:nvPr/>
        </p:nvSpPr>
        <p:spPr>
          <a:xfrm>
            <a:off x="4946760" y="3785760"/>
            <a:ext cx="411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0.77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28"/>
          <p:cNvSpPr/>
          <p:nvPr/>
        </p:nvSpPr>
        <p:spPr>
          <a:xfrm>
            <a:off x="411480" y="4142160"/>
            <a:ext cx="2285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Прикладные системы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 29"/>
          <p:cNvSpPr/>
          <p:nvPr/>
        </p:nvSpPr>
        <p:spPr>
          <a:xfrm>
            <a:off x="2788920" y="4197240"/>
            <a:ext cx="2029680" cy="25560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30"/>
          <p:cNvSpPr/>
          <p:nvPr/>
        </p:nvSpPr>
        <p:spPr>
          <a:xfrm>
            <a:off x="4864680" y="4187880"/>
            <a:ext cx="411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0.74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31"/>
          <p:cNvSpPr/>
          <p:nvPr/>
        </p:nvSpPr>
        <p:spPr>
          <a:xfrm>
            <a:off x="411480" y="4544640"/>
            <a:ext cx="2285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Учётные системы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32"/>
          <p:cNvSpPr/>
          <p:nvPr/>
        </p:nvSpPr>
        <p:spPr>
          <a:xfrm>
            <a:off x="2788920" y="4599360"/>
            <a:ext cx="1919880" cy="25560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33"/>
          <p:cNvSpPr/>
          <p:nvPr/>
        </p:nvSpPr>
        <p:spPr>
          <a:xfrm>
            <a:off x="4754880" y="4590360"/>
            <a:ext cx="411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0.70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34"/>
          <p:cNvSpPr/>
          <p:nvPr/>
        </p:nvSpPr>
        <p:spPr>
          <a:xfrm>
            <a:off x="411480" y="4946760"/>
            <a:ext cx="2285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Цифр. трансформация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 35"/>
          <p:cNvSpPr/>
          <p:nvPr/>
        </p:nvSpPr>
        <p:spPr>
          <a:xfrm>
            <a:off x="2788920" y="5001840"/>
            <a:ext cx="1865160" cy="25560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36"/>
          <p:cNvSpPr/>
          <p:nvPr/>
        </p:nvSpPr>
        <p:spPr>
          <a:xfrm>
            <a:off x="4700160" y="4992480"/>
            <a:ext cx="411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0.68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37"/>
          <p:cNvSpPr/>
          <p:nvPr/>
        </p:nvSpPr>
        <p:spPr>
          <a:xfrm>
            <a:off x="411480" y="5349240"/>
            <a:ext cx="2285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Корп. менеджмент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 38"/>
          <p:cNvSpPr/>
          <p:nvPr/>
        </p:nvSpPr>
        <p:spPr>
          <a:xfrm>
            <a:off x="2788920" y="5403960"/>
            <a:ext cx="1672920" cy="25560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39"/>
          <p:cNvSpPr/>
          <p:nvPr/>
        </p:nvSpPr>
        <p:spPr>
          <a:xfrm>
            <a:off x="4507920" y="5394960"/>
            <a:ext cx="411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0.61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40"/>
          <p:cNvSpPr/>
          <p:nvPr/>
        </p:nvSpPr>
        <p:spPr>
          <a:xfrm>
            <a:off x="411480" y="5751720"/>
            <a:ext cx="2285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Инфобезопасность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 41"/>
          <p:cNvSpPr/>
          <p:nvPr/>
        </p:nvSpPr>
        <p:spPr>
          <a:xfrm>
            <a:off x="2788920" y="5806440"/>
            <a:ext cx="1618200" cy="25560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42"/>
          <p:cNvSpPr/>
          <p:nvPr/>
        </p:nvSpPr>
        <p:spPr>
          <a:xfrm>
            <a:off x="4453200" y="5797440"/>
            <a:ext cx="411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0.59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43"/>
          <p:cNvSpPr/>
          <p:nvPr/>
        </p:nvSpPr>
        <p:spPr>
          <a:xfrm>
            <a:off x="411480" y="6153840"/>
            <a:ext cx="2285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Сервис-деск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44"/>
          <p:cNvSpPr/>
          <p:nvPr/>
        </p:nvSpPr>
        <p:spPr>
          <a:xfrm>
            <a:off x="2788920" y="6208920"/>
            <a:ext cx="1508400" cy="25560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45"/>
          <p:cNvSpPr/>
          <p:nvPr/>
        </p:nvSpPr>
        <p:spPr>
          <a:xfrm>
            <a:off x="4343400" y="6199560"/>
            <a:ext cx="411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0.55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46"/>
          <p:cNvSpPr/>
          <p:nvPr/>
        </p:nvSpPr>
        <p:spPr>
          <a:xfrm>
            <a:off x="6309360" y="1965960"/>
            <a:ext cx="5486040" cy="4571640"/>
          </a:xfrm>
          <a:prstGeom prst="rect">
            <a:avLst/>
          </a:prstGeom>
          <a:solidFill>
            <a:srgbClr val="f9f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Rectangle 47"/>
          <p:cNvSpPr/>
          <p:nvPr/>
        </p:nvSpPr>
        <p:spPr>
          <a:xfrm>
            <a:off x="6309360" y="1965960"/>
            <a:ext cx="5486040" cy="34704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48"/>
          <p:cNvSpPr/>
          <p:nvPr/>
        </p:nvSpPr>
        <p:spPr>
          <a:xfrm>
            <a:off x="6446520" y="2011680"/>
            <a:ext cx="5211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Топ-проблемы организации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 49"/>
          <p:cNvSpPr/>
          <p:nvPr/>
        </p:nvSpPr>
        <p:spPr>
          <a:xfrm>
            <a:off x="6446520" y="2423160"/>
            <a:ext cx="502560" cy="43848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50"/>
          <p:cNvSpPr/>
          <p:nvPr/>
        </p:nvSpPr>
        <p:spPr>
          <a:xfrm>
            <a:off x="6446520" y="2459880"/>
            <a:ext cx="502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38%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51"/>
          <p:cNvSpPr/>
          <p:nvPr/>
        </p:nvSpPr>
        <p:spPr>
          <a:xfrm>
            <a:off x="7022520" y="251460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целей сформулированы как активности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52"/>
          <p:cNvSpPr/>
          <p:nvPr/>
        </p:nvSpPr>
        <p:spPr>
          <a:xfrm>
            <a:off x="6446520" y="3017520"/>
            <a:ext cx="502560" cy="43848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53"/>
          <p:cNvSpPr/>
          <p:nvPr/>
        </p:nvSpPr>
        <p:spPr>
          <a:xfrm>
            <a:off x="6446520" y="3054240"/>
            <a:ext cx="502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72%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54"/>
          <p:cNvSpPr/>
          <p:nvPr/>
        </p:nvSpPr>
        <p:spPr>
          <a:xfrm>
            <a:off x="7022520" y="310896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целей без стратегической связки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55"/>
          <p:cNvSpPr/>
          <p:nvPr/>
        </p:nvSpPr>
        <p:spPr>
          <a:xfrm>
            <a:off x="6446520" y="3611880"/>
            <a:ext cx="502560" cy="43848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56"/>
          <p:cNvSpPr/>
          <p:nvPr/>
        </p:nvSpPr>
        <p:spPr>
          <a:xfrm>
            <a:off x="6446520" y="3648600"/>
            <a:ext cx="502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57"/>
          <p:cNvSpPr/>
          <p:nvPr/>
        </p:nvSpPr>
        <p:spPr>
          <a:xfrm>
            <a:off x="7022520" y="370332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самый слабый SMART-критерий — Измеримость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58"/>
          <p:cNvSpPr/>
          <p:nvPr/>
        </p:nvSpPr>
        <p:spPr>
          <a:xfrm>
            <a:off x="6446520" y="4251960"/>
            <a:ext cx="5211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3264"/>
                </a:solidFill>
                <a:latin typeface="Calibri"/>
              </a:rPr>
              <a:t>Клик на подразделение 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59"/>
          <p:cNvSpPr/>
          <p:nvPr/>
        </p:nvSpPr>
        <p:spPr>
          <a:xfrm>
            <a:off x="6446520" y="4572000"/>
            <a:ext cx="52117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Квартальный LineChart SMART-тренда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RadarChart профиля по 5 критериям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Значок «слабый критерий» + стратег. связка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60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5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Критерии оценки хакатона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Как мы закрываем каждый критерий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Rectangle 6"/>
          <p:cNvSpPr/>
          <p:nvPr/>
        </p:nvSpPr>
        <p:spPr>
          <a:xfrm>
            <a:off x="274320" y="1444680"/>
            <a:ext cx="914040" cy="7678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7"/>
          <p:cNvSpPr/>
          <p:nvPr/>
        </p:nvSpPr>
        <p:spPr>
          <a:xfrm>
            <a:off x="274320" y="1627560"/>
            <a:ext cx="914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25%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8"/>
          <p:cNvSpPr/>
          <p:nvPr/>
        </p:nvSpPr>
        <p:spPr>
          <a:xfrm>
            <a:off x="1325880" y="1444680"/>
            <a:ext cx="10560960" cy="76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1481400" y="1499760"/>
            <a:ext cx="4114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3264"/>
                </a:solidFill>
                <a:latin typeface="Calibri"/>
              </a:rPr>
              <a:t>Качество оценки целей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0"/>
          <p:cNvSpPr/>
          <p:nvPr/>
        </p:nvSpPr>
        <p:spPr>
          <a:xfrm>
            <a:off x="1481400" y="1847160"/>
            <a:ext cx="10149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Gemini Flash · 5 SMART-скоров · goal_type · strategic_alignment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F-20: история аналогичных ролей · F-17 стратег. связка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 11"/>
          <p:cNvSpPr/>
          <p:nvPr/>
        </p:nvSpPr>
        <p:spPr>
          <a:xfrm>
            <a:off x="274320" y="2322720"/>
            <a:ext cx="914040" cy="76788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12"/>
          <p:cNvSpPr/>
          <p:nvPr/>
        </p:nvSpPr>
        <p:spPr>
          <a:xfrm>
            <a:off x="274320" y="2505600"/>
            <a:ext cx="914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25%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ctangle 13"/>
          <p:cNvSpPr/>
          <p:nvPr/>
        </p:nvSpPr>
        <p:spPr>
          <a:xfrm>
            <a:off x="1325880" y="2322720"/>
            <a:ext cx="10560960" cy="76788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14"/>
          <p:cNvSpPr/>
          <p:nvPr/>
        </p:nvSpPr>
        <p:spPr>
          <a:xfrm>
            <a:off x="1481400" y="2377440"/>
            <a:ext cx="4114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5499"/>
                </a:solidFill>
                <a:latin typeface="Calibri"/>
              </a:rPr>
              <a:t>Качество генерации целей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1481400" y="2724840"/>
            <a:ext cx="10149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RAG: 160 ВНД → 412 чанков в Qdrant · dedup cosine 0.85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source_doc + source_quote · auto-SMART validation + reformulation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16"/>
          <p:cNvSpPr/>
          <p:nvPr/>
        </p:nvSpPr>
        <p:spPr>
          <a:xfrm>
            <a:off x="274320" y="3200400"/>
            <a:ext cx="914040" cy="7678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17"/>
          <p:cNvSpPr/>
          <p:nvPr/>
        </p:nvSpPr>
        <p:spPr>
          <a:xfrm>
            <a:off x="274320" y="3383280"/>
            <a:ext cx="914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18"/>
          <p:cNvSpPr/>
          <p:nvPr/>
        </p:nvSpPr>
        <p:spPr>
          <a:xfrm>
            <a:off x="1325880" y="3200400"/>
            <a:ext cx="10560960" cy="76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19"/>
          <p:cNvSpPr/>
          <p:nvPr/>
        </p:nvSpPr>
        <p:spPr>
          <a:xfrm>
            <a:off x="1481400" y="3255120"/>
            <a:ext cx="4114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e7d32"/>
                </a:solidFill>
                <a:latin typeface="Calibri"/>
              </a:rPr>
              <a:t>UX интерфейса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20"/>
          <p:cNvSpPr/>
          <p:nvPr/>
        </p:nvSpPr>
        <p:spPr>
          <a:xfrm>
            <a:off x="1481400" y="3602880"/>
            <a:ext cx="10149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React 18 + MUI · SmartScoreCard progress-bars · GoalCard с цитатой ВНД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AlertBanner · RadarChart · LineChart · collapsible RAG-чанки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 21"/>
          <p:cNvSpPr/>
          <p:nvPr/>
        </p:nvSpPr>
        <p:spPr>
          <a:xfrm>
            <a:off x="274320" y="4078080"/>
            <a:ext cx="914040" cy="76788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22"/>
          <p:cNvSpPr/>
          <p:nvPr/>
        </p:nvSpPr>
        <p:spPr>
          <a:xfrm>
            <a:off x="274320" y="4260960"/>
            <a:ext cx="914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 23"/>
          <p:cNvSpPr/>
          <p:nvPr/>
        </p:nvSpPr>
        <p:spPr>
          <a:xfrm>
            <a:off x="1325880" y="4078080"/>
            <a:ext cx="10560960" cy="76788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24"/>
          <p:cNvSpPr/>
          <p:nvPr/>
        </p:nvSpPr>
        <p:spPr>
          <a:xfrm>
            <a:off x="1481400" y="4133160"/>
            <a:ext cx="4114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6a1b9a"/>
                </a:solidFill>
                <a:latin typeface="Calibri"/>
              </a:rPr>
              <a:t>Качество RAG-пайплайна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25"/>
          <p:cNvSpPr/>
          <p:nvPr/>
        </p:nvSpPr>
        <p:spPr>
          <a:xfrm>
            <a:off x="1481400" y="4480560"/>
            <a:ext cx="10149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Qdrant cosine · paraphrase-MiniLM-L12-v2 (384d) · dept_scope filter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source grounding check · avg_rag_score отображается во фронте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 26"/>
          <p:cNvSpPr/>
          <p:nvPr/>
        </p:nvSpPr>
        <p:spPr>
          <a:xfrm>
            <a:off x="274320" y="4956120"/>
            <a:ext cx="914040" cy="767880"/>
          </a:xfrm>
          <a:prstGeom prst="rect">
            <a:avLst/>
          </a:prstGeom>
          <a:solidFill>
            <a:srgbClr val="0060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27"/>
          <p:cNvSpPr/>
          <p:nvPr/>
        </p:nvSpPr>
        <p:spPr>
          <a:xfrm>
            <a:off x="274320" y="5139000"/>
            <a:ext cx="914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10%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ectangle 28"/>
          <p:cNvSpPr/>
          <p:nvPr/>
        </p:nvSpPr>
        <p:spPr>
          <a:xfrm>
            <a:off x="1325880" y="4956120"/>
            <a:ext cx="10560960" cy="76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29"/>
          <p:cNvSpPr/>
          <p:nvPr/>
        </p:nvSpPr>
        <p:spPr>
          <a:xfrm>
            <a:off x="1481400" y="5010840"/>
            <a:ext cx="4114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6064"/>
                </a:solidFill>
                <a:latin typeface="Calibri"/>
              </a:rPr>
              <a:t>Архитектура и API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30"/>
          <p:cNvSpPr/>
          <p:nvPr/>
        </p:nvSpPr>
        <p:spPr>
          <a:xfrm>
            <a:off x="1481400" y="5358240"/>
            <a:ext cx="10149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FastAPI + OpenAPI /docs · Pydantic v2 Field(description=...) · Alembic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Docker Compose 4 services · async SQLAlchemy · 2 engines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 31"/>
          <p:cNvSpPr/>
          <p:nvPr/>
        </p:nvSpPr>
        <p:spPr>
          <a:xfrm>
            <a:off x="274320" y="5833800"/>
            <a:ext cx="914040" cy="767880"/>
          </a:xfrm>
          <a:prstGeom prst="rect">
            <a:avLst/>
          </a:prstGeom>
          <a:solidFill>
            <a:srgbClr val="e65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32"/>
          <p:cNvSpPr/>
          <p:nvPr/>
        </p:nvSpPr>
        <p:spPr>
          <a:xfrm>
            <a:off x="274320" y="6016680"/>
            <a:ext cx="914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10%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ectangle 33"/>
          <p:cNvSpPr/>
          <p:nvPr/>
        </p:nvSpPr>
        <p:spPr>
          <a:xfrm>
            <a:off x="1325880" y="5833800"/>
            <a:ext cx="10560960" cy="76788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34"/>
          <p:cNvSpPr/>
          <p:nvPr/>
        </p:nvSpPr>
        <p:spPr>
          <a:xfrm>
            <a:off x="1481400" y="5888880"/>
            <a:ext cx="4114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65c00"/>
                </a:solidFill>
                <a:latin typeface="Calibri"/>
              </a:rPr>
              <a:t>Аналитика и дашборд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35"/>
          <p:cNvSpPr/>
          <p:nvPr/>
        </p:nvSpPr>
        <p:spPr>
          <a:xfrm>
            <a:off x="1481400" y="6236280"/>
            <a:ext cx="10149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dept-quality · quarterly-trend · maturity F-22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RadarChart SMART-профиль · квартальный LineChart · top_issues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36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6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Rectangle 2"/>
          <p:cNvSpPr/>
          <p:nvPr/>
        </p:nvSpPr>
        <p:spPr>
          <a:xfrm>
            <a:off x="0" y="5669280"/>
            <a:ext cx="12188520" cy="1641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457200" y="274320"/>
            <a:ext cx="112741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Попробуйте прямо сейчас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457200" y="96012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8a838"/>
                </a:solidFill>
                <a:latin typeface="Calibri"/>
              </a:rPr>
              <a:t>Откройте камеру телефона и наведите на QR-код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6" name="Picture 5" descr="qr_demo.png"/>
          <p:cNvPicPr/>
          <p:nvPr/>
        </p:nvPicPr>
        <p:blipFill>
          <a:blip r:embed="rId1"/>
          <a:stretch/>
        </p:blipFill>
        <p:spPr>
          <a:xfrm>
            <a:off x="4270320" y="1554480"/>
            <a:ext cx="3657240" cy="3657240"/>
          </a:xfrm>
          <a:prstGeom prst="rect">
            <a:avLst/>
          </a:prstGeom>
          <a:ln w="0">
            <a:noFill/>
          </a:ln>
        </p:spPr>
      </p:pic>
      <p:sp>
        <p:nvSpPr>
          <p:cNvPr id="267" name="TextBox 6"/>
          <p:cNvSpPr/>
          <p:nvPr/>
        </p:nvSpPr>
        <p:spPr>
          <a:xfrm>
            <a:off x="457200" y="5349240"/>
            <a:ext cx="11274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http://89.207.255.254:3000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457200" y="5806440"/>
            <a:ext cx="11274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ccff"/>
                </a:solidFill>
                <a:latin typeface="Calibri"/>
              </a:rPr>
              <a:t>Оценка целей · AI-генерация · Дашборд · Бенчмарк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7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Мобильный интерфейс — навигация, оценка, генерация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Адаптивный дизайн: телефон · планшет · десктоп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5" name="Picture 6" descr="s01_nav.png"/>
          <p:cNvPicPr/>
          <p:nvPr/>
        </p:nvPicPr>
        <p:blipFill>
          <a:blip r:embed="rId1"/>
          <a:stretch/>
        </p:blipFill>
        <p:spPr>
          <a:xfrm>
            <a:off x="182880" y="1417320"/>
            <a:ext cx="3621240" cy="3840120"/>
          </a:xfrm>
          <a:prstGeom prst="rect">
            <a:avLst/>
          </a:prstGeom>
          <a:ln w="0">
            <a:noFill/>
          </a:ln>
        </p:spPr>
      </p:pic>
      <p:sp>
        <p:nvSpPr>
          <p:cNvPr id="276" name="TextBox 7"/>
          <p:cNvSpPr/>
          <p:nvPr/>
        </p:nvSpPr>
        <p:spPr>
          <a:xfrm>
            <a:off x="18288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1. Навигация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18288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Бургер-меню (Drawer)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6 страниц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Active state подсветка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Picture 9" descr="s02_eval.png"/>
          <p:cNvPicPr/>
          <p:nvPr/>
        </p:nvPicPr>
        <p:blipFill>
          <a:blip r:embed="rId2"/>
          <a:stretch/>
        </p:blipFill>
        <p:spPr>
          <a:xfrm>
            <a:off x="2560320" y="1417320"/>
            <a:ext cx="2243880" cy="3840120"/>
          </a:xfrm>
          <a:prstGeom prst="rect">
            <a:avLst/>
          </a:prstGeom>
          <a:ln w="0">
            <a:noFill/>
          </a:ln>
        </p:spPr>
      </p:pic>
      <p:sp>
        <p:nvSpPr>
          <p:cNvPr id="279" name="TextBox 10"/>
          <p:cNvSpPr/>
          <p:nvPr/>
        </p:nvSpPr>
        <p:spPr>
          <a:xfrm>
            <a:off x="256032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2. Оценка цели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256032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Выбор сотрудника, квартал, год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Формулировка цели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Валидация перед отправкой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Picture 12" descr="s03_eval_result.png"/>
          <p:cNvPicPr/>
          <p:nvPr/>
        </p:nvPicPr>
        <p:blipFill>
          <a:blip r:embed="rId3"/>
          <a:stretch/>
        </p:blipFill>
        <p:spPr>
          <a:xfrm>
            <a:off x="4937760" y="1417320"/>
            <a:ext cx="2015280" cy="3840120"/>
          </a:xfrm>
          <a:prstGeom prst="rect">
            <a:avLst/>
          </a:prstGeom>
          <a:ln w="0">
            <a:noFill/>
          </a:ln>
        </p:spPr>
      </p:pic>
      <p:sp>
        <p:nvSpPr>
          <p:cNvPr id="282" name="TextBox 13"/>
          <p:cNvSpPr/>
          <p:nvPr/>
        </p:nvSpPr>
        <p:spPr>
          <a:xfrm>
            <a:off x="493776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3. Результат оценки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14"/>
          <p:cNvSpPr/>
          <p:nvPr/>
        </p:nvSpPr>
        <p:spPr>
          <a:xfrm>
            <a:off x="493776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5 SMART-скоров (S/M/A/R/T)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Рекомендации по слабым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Переформулировка + алерты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" name="Picture 15" descr="s05_generate.png"/>
          <p:cNvPicPr/>
          <p:nvPr/>
        </p:nvPicPr>
        <p:blipFill>
          <a:blip r:embed="rId4"/>
          <a:stretch/>
        </p:blipFill>
        <p:spPr>
          <a:xfrm>
            <a:off x="7315200" y="1417320"/>
            <a:ext cx="2392200" cy="3840120"/>
          </a:xfrm>
          <a:prstGeom prst="rect">
            <a:avLst/>
          </a:prstGeom>
          <a:ln w="0">
            <a:noFill/>
          </a:ln>
        </p:spPr>
      </p:pic>
      <p:sp>
        <p:nvSpPr>
          <p:cNvPr id="285" name="TextBox 16"/>
          <p:cNvSpPr/>
          <p:nvPr/>
        </p:nvSpPr>
        <p:spPr>
          <a:xfrm>
            <a:off x="731520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4. AI-генерация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17"/>
          <p:cNvSpPr/>
          <p:nvPr/>
        </p:nvSpPr>
        <p:spPr>
          <a:xfrm>
            <a:off x="731520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RAG: ВНД, KPI, релевантность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Source_doc + source_quote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Принятие выбранных целей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7" name="Picture 18" descr="s06_goal_card.png"/>
          <p:cNvPicPr/>
          <p:nvPr/>
        </p:nvPicPr>
        <p:blipFill>
          <a:blip r:embed="rId5"/>
          <a:stretch/>
        </p:blipFill>
        <p:spPr>
          <a:xfrm>
            <a:off x="9692640" y="1417320"/>
            <a:ext cx="2008800" cy="3840120"/>
          </a:xfrm>
          <a:prstGeom prst="rect">
            <a:avLst/>
          </a:prstGeom>
          <a:ln w="0">
            <a:noFill/>
          </a:ln>
        </p:spPr>
      </p:pic>
      <p:sp>
        <p:nvSpPr>
          <p:cNvPr id="288" name="TextBox 19"/>
          <p:cNvSpPr/>
          <p:nvPr/>
        </p:nvSpPr>
        <p:spPr>
          <a:xfrm>
            <a:off x="969264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5. Карточка цели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20"/>
          <p:cNvSpPr/>
          <p:nvPr/>
        </p:nvSpPr>
        <p:spPr>
          <a:xfrm>
            <a:off x="969264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Rationale: почему эта цель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Matched RAG-чанки с score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Тип: Output / Результат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21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8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3"/>
          <p:cNvSpPr/>
          <p:nvPr/>
        </p:nvSpPr>
        <p:spPr>
          <a:xfrm>
            <a:off x="365760" y="91440"/>
            <a:ext cx="9143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Мобильный интерфейс — дашборд, аналитика, бенчмарк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Responsive: KPI-карточки, тренд, зрелость, валидация AI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96" name="Picture 6" descr="s04_batch.png"/>
          <p:cNvPicPr/>
          <p:nvPr/>
        </p:nvPicPr>
        <p:blipFill>
          <a:blip r:embed="rId1"/>
          <a:stretch/>
        </p:blipFill>
        <p:spPr>
          <a:xfrm>
            <a:off x="182880" y="1417320"/>
            <a:ext cx="2223720" cy="3840120"/>
          </a:xfrm>
          <a:prstGeom prst="rect">
            <a:avLst/>
          </a:prstGeom>
          <a:ln w="0">
            <a:noFill/>
          </a:ln>
        </p:spPr>
      </p:pic>
      <p:sp>
        <p:nvSpPr>
          <p:cNvPr id="297" name="TextBox 7"/>
          <p:cNvSpPr/>
          <p:nvPr/>
        </p:nvSpPr>
        <p:spPr>
          <a:xfrm>
            <a:off x="18288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6. Пакетная оценка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8"/>
          <p:cNvSpPr/>
          <p:nvPr/>
        </p:nvSpPr>
        <p:spPr>
          <a:xfrm>
            <a:off x="18288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Все цели за квартал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Radar-профиль SMART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Алерты: вес, тип, связка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Picture 9" descr="s07_dashboard.png"/>
          <p:cNvPicPr/>
          <p:nvPr/>
        </p:nvPicPr>
        <p:blipFill>
          <a:blip r:embed="rId2"/>
          <a:stretch/>
        </p:blipFill>
        <p:spPr>
          <a:xfrm>
            <a:off x="2560320" y="1417320"/>
            <a:ext cx="2034000" cy="3840120"/>
          </a:xfrm>
          <a:prstGeom prst="rect">
            <a:avLst/>
          </a:prstGeom>
          <a:ln w="0">
            <a:noFill/>
          </a:ln>
        </p:spPr>
      </p:pic>
      <p:sp>
        <p:nvSpPr>
          <p:cNvPr id="300" name="TextBox 10"/>
          <p:cNvSpPr/>
          <p:nvPr/>
        </p:nvSpPr>
        <p:spPr>
          <a:xfrm>
            <a:off x="256032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7. Дашборд: KPI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11"/>
          <p:cNvSpPr/>
          <p:nvPr/>
        </p:nvSpPr>
        <p:spPr>
          <a:xfrm>
            <a:off x="256032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Средний SMART: 0.63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8 подразделений, 4500 целей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Цветовая индикация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Picture 12" descr="s08_dash_detail.png"/>
          <p:cNvPicPr/>
          <p:nvPr/>
        </p:nvPicPr>
        <p:blipFill>
          <a:blip r:embed="rId3"/>
          <a:stretch/>
        </p:blipFill>
        <p:spPr>
          <a:xfrm>
            <a:off x="4937760" y="1417320"/>
            <a:ext cx="2034000" cy="3840120"/>
          </a:xfrm>
          <a:prstGeom prst="rect">
            <a:avLst/>
          </a:prstGeom>
          <a:ln w="0">
            <a:noFill/>
          </a:ln>
        </p:spPr>
      </p:pic>
      <p:sp>
        <p:nvSpPr>
          <p:cNvPr id="303" name="TextBox 13"/>
          <p:cNvSpPr/>
          <p:nvPr/>
        </p:nvSpPr>
        <p:spPr>
          <a:xfrm>
            <a:off x="493776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8. Подразделения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14"/>
          <p:cNvSpPr/>
          <p:nvPr/>
        </p:nvSpPr>
        <p:spPr>
          <a:xfrm>
            <a:off x="493776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Бар-чарт с цветовой шкалой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Клик → квартальный тренд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Strategic ratio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Picture 15" descr="s09_team.png"/>
          <p:cNvPicPr/>
          <p:nvPr/>
        </p:nvPicPr>
        <p:blipFill>
          <a:blip r:embed="rId4"/>
          <a:stretch/>
        </p:blipFill>
        <p:spPr>
          <a:xfrm>
            <a:off x="7315200" y="1417320"/>
            <a:ext cx="2034000" cy="3840120"/>
          </a:xfrm>
          <a:prstGeom prst="rect">
            <a:avLst/>
          </a:prstGeom>
          <a:ln w="0">
            <a:noFill/>
          </a:ln>
        </p:spPr>
      </p:pic>
      <p:sp>
        <p:nvSpPr>
          <p:cNvPr id="306" name="TextBox 16"/>
          <p:cNvSpPr/>
          <p:nvPr/>
        </p:nvSpPr>
        <p:spPr>
          <a:xfrm>
            <a:off x="731520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9. Зрелость команды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17"/>
          <p:cNvSpPr/>
          <p:nvPr/>
        </p:nvSpPr>
        <p:spPr>
          <a:xfrm>
            <a:off x="731520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Maturity index: 0.51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SMART-качество + стратегия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Рекомендации руководителю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Picture 18" descr="s11_benchmark.png"/>
          <p:cNvPicPr/>
          <p:nvPr/>
        </p:nvPicPr>
        <p:blipFill>
          <a:blip r:embed="rId5"/>
          <a:stretch/>
        </p:blipFill>
        <p:spPr>
          <a:xfrm>
            <a:off x="9692640" y="1417320"/>
            <a:ext cx="2481120" cy="3840120"/>
          </a:xfrm>
          <a:prstGeom prst="rect">
            <a:avLst/>
          </a:prstGeom>
          <a:ln w="0">
            <a:noFill/>
          </a:ln>
        </p:spPr>
      </p:pic>
      <p:sp>
        <p:nvSpPr>
          <p:cNvPr id="309" name="TextBox 19"/>
          <p:cNvSpPr/>
          <p:nvPr/>
        </p:nvSpPr>
        <p:spPr>
          <a:xfrm>
            <a:off x="9692640" y="5349240"/>
            <a:ext cx="2194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a3264"/>
                </a:solidFill>
                <a:latin typeface="Calibri"/>
              </a:rPr>
              <a:t>10. Бенчмарк AI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20"/>
          <p:cNvSpPr/>
          <p:nvPr/>
        </p:nvSpPr>
        <p:spPr>
          <a:xfrm>
            <a:off x="9692640" y="5715000"/>
            <a:ext cx="219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MAE: 0.117 (отлично)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Спирмен: 0.939 (сильная)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a1a2e"/>
                </a:solidFill>
                <a:latin typeface="Calibri"/>
              </a:rPr>
              <a:t>Точность типа: 70%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21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9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Техническая архитектура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3-уровневая система · Docker Compose · 2 контура данных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Rectangle 6"/>
          <p:cNvSpPr/>
          <p:nvPr/>
        </p:nvSpPr>
        <p:spPr>
          <a:xfrm>
            <a:off x="274320" y="1417320"/>
            <a:ext cx="11639880" cy="162720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7"/>
          <p:cNvSpPr/>
          <p:nvPr/>
        </p:nvSpPr>
        <p:spPr>
          <a:xfrm>
            <a:off x="365760" y="1737360"/>
            <a:ext cx="548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⚛️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8"/>
          <p:cNvSpPr/>
          <p:nvPr/>
        </p:nvSpPr>
        <p:spPr>
          <a:xfrm>
            <a:off x="1005840" y="150876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8a838"/>
                </a:solidFill>
                <a:latin typeface="Calibri"/>
              </a:rPr>
              <a:t>СЛОЙ 3 — ПРЕДСТАВЛЕНИЕ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9"/>
          <p:cNvSpPr/>
          <p:nvPr/>
        </p:nvSpPr>
        <p:spPr>
          <a:xfrm>
            <a:off x="1005840" y="185616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React 18 + Material UI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10"/>
          <p:cNvSpPr/>
          <p:nvPr/>
        </p:nvSpPr>
        <p:spPr>
          <a:xfrm>
            <a:off x="4389120" y="1554480"/>
            <a:ext cx="73148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6 страниц: EvaluateGoal · MyGoals (batch) · GenerateGoals · Dashboard · Team · Benchmark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Компоненты: SmartScoreCard · GoalCard · AlertBanner · Recharts (Radar, Line, Bar)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Адаптив: mobile drawer, responsive cards, form validation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ectangle 11"/>
          <p:cNvSpPr/>
          <p:nvPr/>
        </p:nvSpPr>
        <p:spPr>
          <a:xfrm>
            <a:off x="5577840" y="3044880"/>
            <a:ext cx="914040" cy="10944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12"/>
          <p:cNvSpPr/>
          <p:nvPr/>
        </p:nvSpPr>
        <p:spPr>
          <a:xfrm>
            <a:off x="4114800" y="3044880"/>
            <a:ext cx="4114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e8a838"/>
                </a:solidFill>
                <a:latin typeface="Calibri"/>
              </a:rPr>
              <a:t>REST API (JSON)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ectangle 13"/>
          <p:cNvSpPr/>
          <p:nvPr/>
        </p:nvSpPr>
        <p:spPr>
          <a:xfrm>
            <a:off x="274320" y="3154680"/>
            <a:ext cx="11639880" cy="162720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14"/>
          <p:cNvSpPr/>
          <p:nvPr/>
        </p:nvSpPr>
        <p:spPr>
          <a:xfrm>
            <a:off x="365760" y="3474720"/>
            <a:ext cx="548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🤖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15"/>
          <p:cNvSpPr/>
          <p:nvPr/>
        </p:nvSpPr>
        <p:spPr>
          <a:xfrm>
            <a:off x="1005840" y="324612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8a838"/>
                </a:solidFill>
                <a:latin typeface="Calibri"/>
              </a:rPr>
              <a:t>СЛОЙ 2 — AI / БИЗНЕС-ЛОГИКА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6"/>
          <p:cNvSpPr/>
          <p:nvPr/>
        </p:nvSpPr>
        <p:spPr>
          <a:xfrm>
            <a:off x="1005840" y="359352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FastAPI · Python 3.11 · Async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17"/>
          <p:cNvSpPr/>
          <p:nvPr/>
        </p:nvSpPr>
        <p:spPr>
          <a:xfrm>
            <a:off x="4389120" y="3291840"/>
            <a:ext cx="73148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smart_evaluator.py — Gemini Flash JSON mode, 5 SMART-скоров, retry 429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goal_generator.py — RAG + LLM, rationale, auto-reformulation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rag_pipeline.py — Qdrant search, dept filter, source grounding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alert_manager.py — F-16..F-21 алерты · dedup_checker.py — cosine 0.85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ectangle 18"/>
          <p:cNvSpPr/>
          <p:nvPr/>
        </p:nvSpPr>
        <p:spPr>
          <a:xfrm>
            <a:off x="5577840" y="4782240"/>
            <a:ext cx="914040" cy="10944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9"/>
          <p:cNvSpPr/>
          <p:nvPr/>
        </p:nvSpPr>
        <p:spPr>
          <a:xfrm>
            <a:off x="4114800" y="4782240"/>
            <a:ext cx="4114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e8a838"/>
                </a:solidFill>
                <a:latin typeface="Calibri"/>
              </a:rPr>
              <a:t>SQLAlchemy async + Qdrant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ectangle 20"/>
          <p:cNvSpPr/>
          <p:nvPr/>
        </p:nvSpPr>
        <p:spPr>
          <a:xfrm>
            <a:off x="274320" y="4892040"/>
            <a:ext cx="11639880" cy="1627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TextBox 21"/>
          <p:cNvSpPr/>
          <p:nvPr/>
        </p:nvSpPr>
        <p:spPr>
          <a:xfrm>
            <a:off x="365760" y="5212080"/>
            <a:ext cx="548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🗄️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22"/>
          <p:cNvSpPr/>
          <p:nvPr/>
        </p:nvSpPr>
        <p:spPr>
          <a:xfrm>
            <a:off x="1005840" y="498348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8a838"/>
                </a:solidFill>
                <a:latin typeface="Calibri"/>
              </a:rPr>
              <a:t>СЛОЙ 1 — ДАННЫЕ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23"/>
          <p:cNvSpPr/>
          <p:nvPr/>
        </p:nvSpPr>
        <p:spPr>
          <a:xfrm>
            <a:off x="1005840" y="5330880"/>
            <a:ext cx="3200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PostgreSQL 17 × 2 + Qdrant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24"/>
          <p:cNvSpPr/>
          <p:nvPr/>
        </p:nvSpPr>
        <p:spPr>
          <a:xfrm>
            <a:off x="4389120" y="5029200"/>
            <a:ext cx="73148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Remote DB (readonly): 450 сотр., 9 000 целей, 160 ВНД, 13 KPI-метрик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Local DB (Alembic): ai_evaluations, ai_generated_goals, accepted_goals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dff"/>
                </a:solidFill>
                <a:latin typeface="Calibri"/>
              </a:rPr>
              <a:t>Qdrant: 412 чанков, paraphrase-MiniLM-L12-v2, 384d cosine · dept_scope filter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ectangle 25"/>
          <p:cNvSpPr/>
          <p:nvPr/>
        </p:nvSpPr>
        <p:spPr>
          <a:xfrm>
            <a:off x="274320" y="6446520"/>
            <a:ext cx="11639880" cy="27396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26"/>
          <p:cNvSpPr/>
          <p:nvPr/>
        </p:nvSpPr>
        <p:spPr>
          <a:xfrm>
            <a:off x="457200" y="645552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9ccff"/>
                </a:solidFill>
                <a:latin typeface="Calibri"/>
              </a:rPr>
              <a:t>🐳  </a:t>
            </a:r>
            <a:r>
              <a:rPr b="0" lang="en-US" sz="1100" spc="-1" strike="noStrike">
                <a:solidFill>
                  <a:srgbClr val="99ccff"/>
                </a:solidFill>
                <a:latin typeface="Calibri"/>
              </a:rPr>
              <a:t>local-db : 5433    qdrant : 6333    hr-api : 8001    hr-frontend : 3000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27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10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Оценка целей по SMART — техническая реализация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smart_evaluator.py  ·  Gemini Flash JSON mode  ·  asyncio.gather для batch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Rectangle 6"/>
          <p:cNvSpPr/>
          <p:nvPr/>
        </p:nvSpPr>
        <p:spPr>
          <a:xfrm>
            <a:off x="274320" y="1417320"/>
            <a:ext cx="539460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7"/>
          <p:cNvSpPr/>
          <p:nvPr/>
        </p:nvSpPr>
        <p:spPr>
          <a:xfrm>
            <a:off x="457200" y="150876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3264"/>
                </a:solidFill>
                <a:latin typeface="Calibri"/>
              </a:rPr>
              <a:t>Пайплайн оценки одной цели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Rectangle 8"/>
          <p:cNvSpPr/>
          <p:nvPr/>
        </p:nvSpPr>
        <p:spPr>
          <a:xfrm>
            <a:off x="411480" y="1993320"/>
            <a:ext cx="365400" cy="36540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9"/>
          <p:cNvSpPr/>
          <p:nvPr/>
        </p:nvSpPr>
        <p:spPr>
          <a:xfrm>
            <a:off x="411480" y="1993320"/>
            <a:ext cx="36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10"/>
          <p:cNvSpPr/>
          <p:nvPr/>
        </p:nvSpPr>
        <p:spPr>
          <a:xfrm>
            <a:off x="896040" y="1993320"/>
            <a:ext cx="438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Контекст из Remote DB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11"/>
          <p:cNvSpPr/>
          <p:nvPr/>
        </p:nvSpPr>
        <p:spPr>
          <a:xfrm>
            <a:off x="896040" y="2340720"/>
            <a:ext cx="43887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Должность · подразделение · цели менеджера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KPI (10 последних) · история аналогичных ролей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ectangle 12"/>
          <p:cNvSpPr/>
          <p:nvPr/>
        </p:nvSpPr>
        <p:spPr>
          <a:xfrm>
            <a:off x="411480" y="2880360"/>
            <a:ext cx="365400" cy="36540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TextBox 13"/>
          <p:cNvSpPr/>
          <p:nvPr/>
        </p:nvSpPr>
        <p:spPr>
          <a:xfrm>
            <a:off x="411480" y="2880360"/>
            <a:ext cx="36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14"/>
          <p:cNvSpPr/>
          <p:nvPr/>
        </p:nvSpPr>
        <p:spPr>
          <a:xfrm>
            <a:off x="896040" y="2880360"/>
            <a:ext cx="438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Промпт → Gemini Flash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15"/>
          <p:cNvSpPr/>
          <p:nvPr/>
        </p:nvSpPr>
        <p:spPr>
          <a:xfrm>
            <a:off x="896040" y="3227760"/>
            <a:ext cx="43887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JSON mode, temperature=0.3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SYSTEM_PROMPT + user_prompt в одном вызове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Rectangle 16"/>
          <p:cNvSpPr/>
          <p:nvPr/>
        </p:nvSpPr>
        <p:spPr>
          <a:xfrm>
            <a:off x="411480" y="3767400"/>
            <a:ext cx="365400" cy="36540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17"/>
          <p:cNvSpPr/>
          <p:nvPr/>
        </p:nvSpPr>
        <p:spPr>
          <a:xfrm>
            <a:off x="411480" y="3767400"/>
            <a:ext cx="36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18"/>
          <p:cNvSpPr/>
          <p:nvPr/>
        </p:nvSpPr>
        <p:spPr>
          <a:xfrm>
            <a:off x="896040" y="3767400"/>
            <a:ext cx="438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Парсинг + валидация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19"/>
          <p:cNvSpPr/>
          <p:nvPr/>
        </p:nvSpPr>
        <p:spPr>
          <a:xfrm>
            <a:off x="896040" y="4114800"/>
            <a:ext cx="43887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json.loads() → defaults для пропущенных ключей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smartIndex пересчитывается программно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Rectangle 20"/>
          <p:cNvSpPr/>
          <p:nvPr/>
        </p:nvSpPr>
        <p:spPr>
          <a:xfrm>
            <a:off x="411480" y="4654440"/>
            <a:ext cx="365400" cy="36540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TextBox 21"/>
          <p:cNvSpPr/>
          <p:nvPr/>
        </p:nvSpPr>
        <p:spPr>
          <a:xfrm>
            <a:off x="411480" y="4654440"/>
            <a:ext cx="36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22"/>
          <p:cNvSpPr/>
          <p:nvPr/>
        </p:nvSpPr>
        <p:spPr>
          <a:xfrm>
            <a:off x="896040" y="4654440"/>
            <a:ext cx="438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Алерты F-16..F-21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23"/>
          <p:cNvSpPr/>
          <p:nvPr/>
        </p:nvSpPr>
        <p:spPr>
          <a:xfrm>
            <a:off x="896040" y="5001840"/>
            <a:ext cx="43887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check_goal_alerts(): вес, кол-во, тип, связка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check_batch_alerts() для пакетной оценки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ectangle 24"/>
          <p:cNvSpPr/>
          <p:nvPr/>
        </p:nvSpPr>
        <p:spPr>
          <a:xfrm>
            <a:off x="411480" y="5541120"/>
            <a:ext cx="365400" cy="36540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TextBox 25"/>
          <p:cNvSpPr/>
          <p:nvPr/>
        </p:nvSpPr>
        <p:spPr>
          <a:xfrm>
            <a:off x="411480" y="5541120"/>
            <a:ext cx="36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26"/>
          <p:cNvSpPr/>
          <p:nvPr/>
        </p:nvSpPr>
        <p:spPr>
          <a:xfrm>
            <a:off x="896040" y="5541120"/>
            <a:ext cx="438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Сохранение в Local DB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27"/>
          <p:cNvSpPr/>
          <p:nvPr/>
        </p:nvSpPr>
        <p:spPr>
          <a:xfrm>
            <a:off x="896040" y="5888880"/>
            <a:ext cx="43887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ai_evaluations: scores_json, alignment_level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return goal_id = f'eval-{evaluation.id}'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Rectangle 28"/>
          <p:cNvSpPr/>
          <p:nvPr/>
        </p:nvSpPr>
        <p:spPr>
          <a:xfrm>
            <a:off x="5943600" y="1417320"/>
            <a:ext cx="5988960" cy="516600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29"/>
          <p:cNvSpPr/>
          <p:nvPr/>
        </p:nvSpPr>
        <p:spPr>
          <a:xfrm>
            <a:off x="6126480" y="1508760"/>
            <a:ext cx="5577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8a838"/>
                </a:solidFill>
                <a:latin typeface="Calibri"/>
              </a:rPr>
              <a:t>Ответ Gemini (JSON mode)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Box 30"/>
          <p:cNvSpPr/>
          <p:nvPr/>
        </p:nvSpPr>
        <p:spPr>
          <a:xfrm>
            <a:off x="6035040" y="1920240"/>
            <a:ext cx="576036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"smart_scores":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"specific":   0.82,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"measurable": 0.90,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"achievable": 0.75,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"relevant":   0.88,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"time_bound": 0.85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},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"smart_index": 0.84,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"goal_type": "output",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"strategic_alignment":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"level": "strategic",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"source": "KPI: сокращение задержки ETL"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},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"recommendations": [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"A: Уточните необходимые ресурсы"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],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"improved_goal": null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ffcc"/>
                </a:solidFill>
                <a:latin typeface="Calibri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31"/>
          <p:cNvSpPr/>
          <p:nvPr/>
        </p:nvSpPr>
        <p:spPr>
          <a:xfrm>
            <a:off x="320040" y="6492240"/>
            <a:ext cx="114296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50" spc="-1" strike="noStrike">
                <a:solidFill>
                  <a:srgbClr val="1e5499"/>
                </a:solidFill>
                <a:latin typeface="Calibri"/>
              </a:rPr>
              <a:t>📦  </a:t>
            </a:r>
            <a:r>
              <a:rPr b="0" i="1" lang="en-US" sz="1050" spc="-1" strike="noStrike">
                <a:solidFill>
                  <a:srgbClr val="1e5499"/>
                </a:solidFill>
                <a:latin typeface="Calibri"/>
              </a:rPr>
              <a:t>evaluate-batch: asyncio.gather(*[evaluate_goal(...) for goal in goals])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32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11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Оптимизации оценки и хранения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Кеш · дедупликация · порог качества · управление целями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Rectangle 6"/>
          <p:cNvSpPr/>
          <p:nvPr/>
        </p:nvSpPr>
        <p:spPr>
          <a:xfrm>
            <a:off x="274320" y="1463040"/>
            <a:ext cx="11639880" cy="914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Rectangle 7"/>
          <p:cNvSpPr/>
          <p:nvPr/>
        </p:nvSpPr>
        <p:spPr>
          <a:xfrm>
            <a:off x="274320" y="1463040"/>
            <a:ext cx="109440" cy="914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TextBox 8"/>
          <p:cNvSpPr/>
          <p:nvPr/>
        </p:nvSpPr>
        <p:spPr>
          <a:xfrm>
            <a:off x="457200" y="1554480"/>
            <a:ext cx="456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✅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9"/>
          <p:cNvSpPr/>
          <p:nvPr/>
        </p:nvSpPr>
        <p:spPr>
          <a:xfrm>
            <a:off x="1005840" y="1536120"/>
            <a:ext cx="4571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e7d32"/>
                </a:solidFill>
                <a:latin typeface="Calibri"/>
              </a:rPr>
              <a:t>Кеш AI-оценок в batch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10"/>
          <p:cNvSpPr/>
          <p:nvPr/>
        </p:nvSpPr>
        <p:spPr>
          <a:xfrm>
            <a:off x="1005840" y="1847160"/>
            <a:ext cx="106981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evaluate-batch проверяет local DB: если цель уже оценена — берёт из кеша, не тратит Gemini.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Только новые цели отправляются в AI. Повторный запуск за ~100ms вместо ~10s.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ectangle 11"/>
          <p:cNvSpPr/>
          <p:nvPr/>
        </p:nvSpPr>
        <p:spPr>
          <a:xfrm>
            <a:off x="274320" y="2487240"/>
            <a:ext cx="11639880" cy="91404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Rectangle 12"/>
          <p:cNvSpPr/>
          <p:nvPr/>
        </p:nvSpPr>
        <p:spPr>
          <a:xfrm>
            <a:off x="274320" y="2487240"/>
            <a:ext cx="109440" cy="91404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13"/>
          <p:cNvSpPr/>
          <p:nvPr/>
        </p:nvSpPr>
        <p:spPr>
          <a:xfrm>
            <a:off x="457200" y="2578680"/>
            <a:ext cx="456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14"/>
          <p:cNvSpPr/>
          <p:nvPr/>
        </p:nvSpPr>
        <p:spPr>
          <a:xfrm>
            <a:off x="1005840" y="2560320"/>
            <a:ext cx="4571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5499"/>
                </a:solidFill>
                <a:latin typeface="Calibri"/>
              </a:rPr>
              <a:t>Дедупликация оценок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15"/>
          <p:cNvSpPr/>
          <p:nvPr/>
        </p:nvSpPr>
        <p:spPr>
          <a:xfrm>
            <a:off x="1005840" y="2871360"/>
            <a:ext cx="106981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При повторной оценке старая запись удаляется (DELETE WHERE goal_id/goal_text).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В БД всегда одна оценка на цель — дашборд не искажается дублями.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ectangle 16"/>
          <p:cNvSpPr/>
          <p:nvPr/>
        </p:nvSpPr>
        <p:spPr>
          <a:xfrm>
            <a:off x="274320" y="3511440"/>
            <a:ext cx="11639880" cy="914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Rectangle 17"/>
          <p:cNvSpPr/>
          <p:nvPr/>
        </p:nvSpPr>
        <p:spPr>
          <a:xfrm>
            <a:off x="274320" y="3511440"/>
            <a:ext cx="109440" cy="91404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18"/>
          <p:cNvSpPr/>
          <p:nvPr/>
        </p:nvSpPr>
        <p:spPr>
          <a:xfrm>
            <a:off x="457200" y="3602880"/>
            <a:ext cx="456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19"/>
          <p:cNvSpPr/>
          <p:nvPr/>
        </p:nvSpPr>
        <p:spPr>
          <a:xfrm>
            <a:off x="1005840" y="3584520"/>
            <a:ext cx="4571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Порог сохранения: smart_index ≥ 0.7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20"/>
          <p:cNvSpPr/>
          <p:nvPr/>
        </p:nvSpPr>
        <p:spPr>
          <a:xfrm>
            <a:off x="1005840" y="3895200"/>
            <a:ext cx="106981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evaluate-goal — превью, не сохраняет в БД. Кнопка «Сохранить» активна только при ≥ 0.7.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Слабые цели не попадают в дашборд — только проходные.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ectangle 21"/>
          <p:cNvSpPr/>
          <p:nvPr/>
        </p:nvSpPr>
        <p:spPr>
          <a:xfrm>
            <a:off x="274320" y="4535280"/>
            <a:ext cx="11639880" cy="91404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Rectangle 22"/>
          <p:cNvSpPr/>
          <p:nvPr/>
        </p:nvSpPr>
        <p:spPr>
          <a:xfrm>
            <a:off x="274320" y="4535280"/>
            <a:ext cx="109440" cy="91404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TextBox 23"/>
          <p:cNvSpPr/>
          <p:nvPr/>
        </p:nvSpPr>
        <p:spPr>
          <a:xfrm>
            <a:off x="457200" y="4626720"/>
            <a:ext cx="456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🗑️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24"/>
          <p:cNvSpPr/>
          <p:nvPr/>
        </p:nvSpPr>
        <p:spPr>
          <a:xfrm>
            <a:off x="1005840" y="4608720"/>
            <a:ext cx="4571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44336"/>
                </a:solidFill>
                <a:latin typeface="Calibri"/>
              </a:rPr>
              <a:t>Удаление manual-целей с низким скором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25"/>
          <p:cNvSpPr/>
          <p:nvPr/>
        </p:nvSpPr>
        <p:spPr>
          <a:xfrm>
            <a:off x="1005840" y="4919400"/>
            <a:ext cx="106981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В пакетной оценке manual-цели с индексом &lt; 0.7 показывают кнопку «Удалить».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DELETE /api/evaluation/{id} — карточка исчезает, БД очищается.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Rectangle 26"/>
          <p:cNvSpPr/>
          <p:nvPr/>
        </p:nvSpPr>
        <p:spPr>
          <a:xfrm>
            <a:off x="274320" y="5559480"/>
            <a:ext cx="11639880" cy="914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Rectangle 27"/>
          <p:cNvSpPr/>
          <p:nvPr/>
        </p:nvSpPr>
        <p:spPr>
          <a:xfrm>
            <a:off x="274320" y="5559480"/>
            <a:ext cx="109440" cy="91404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28"/>
          <p:cNvSpPr/>
          <p:nvPr/>
        </p:nvSpPr>
        <p:spPr>
          <a:xfrm>
            <a:off x="457200" y="5650920"/>
            <a:ext cx="456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29"/>
          <p:cNvSpPr/>
          <p:nvPr/>
        </p:nvSpPr>
        <p:spPr>
          <a:xfrm>
            <a:off x="1005840" y="5632560"/>
            <a:ext cx="4571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6a1b9a"/>
                </a:solidFill>
                <a:latin typeface="Calibri"/>
              </a:rPr>
              <a:t>Параллельность + retry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30"/>
          <p:cNvSpPr/>
          <p:nvPr/>
        </p:nvSpPr>
        <p:spPr>
          <a:xfrm>
            <a:off x="1005840" y="5943600"/>
            <a:ext cx="106981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asyncio.gather для batch (5 целей за ~8 сек). Gemini 429 retry: 2→5→10→20→40 сек.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Кеш сотрудников 5 мин (360ms → 62ms). Pool 10+10, pre_ping, recycle=3600.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31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12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Бенчмарк: AI vs экспертная разметка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Критерий хакатона: «корреляция с экспертной разметкой» (25%)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Rectangle 6"/>
          <p:cNvSpPr/>
          <p:nvPr/>
        </p:nvSpPr>
        <p:spPr>
          <a:xfrm>
            <a:off x="274320" y="1417320"/>
            <a:ext cx="566892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Rectangle 7"/>
          <p:cNvSpPr/>
          <p:nvPr/>
        </p:nvSpPr>
        <p:spPr>
          <a:xfrm>
            <a:off x="274320" y="1417320"/>
            <a:ext cx="5668920" cy="41112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TextBox 8"/>
          <p:cNvSpPr/>
          <p:nvPr/>
        </p:nvSpPr>
        <p:spPr>
          <a:xfrm>
            <a:off x="457200" y="148140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Что и зачем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9"/>
          <p:cNvSpPr/>
          <p:nvPr/>
        </p:nvSpPr>
        <p:spPr>
          <a:xfrm>
            <a:off x="411480" y="1965960"/>
            <a:ext cx="118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3264"/>
                </a:solidFill>
                <a:latin typeface="Calibri"/>
              </a:rPr>
              <a:t>Что: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Box 10"/>
          <p:cNvSpPr/>
          <p:nvPr/>
        </p:nvSpPr>
        <p:spPr>
          <a:xfrm>
            <a:off x="1554480" y="1965960"/>
            <a:ext cx="42058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10 эталонных целей разного качества — от «Улучшить работу» (0.15)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до «Сократить задержку ETL с 136 до 109 мин к 30.09.2025» (0.92)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411480" y="3154680"/>
            <a:ext cx="118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3264"/>
                </a:solidFill>
                <a:latin typeface="Calibri"/>
              </a:rPr>
              <a:t>Контекст: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12"/>
          <p:cNvSpPr/>
          <p:nvPr/>
        </p:nvSpPr>
        <p:spPr>
          <a:xfrm>
            <a:off x="1554480" y="3154680"/>
            <a:ext cx="42058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Захардкожен: Анастасия Воронцова, Системный аналитик,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Департамент управления данными и аналитики (ID: 269, Q3 2025)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13"/>
          <p:cNvSpPr/>
          <p:nvPr/>
        </p:nvSpPr>
        <p:spPr>
          <a:xfrm>
            <a:off x="411480" y="4343400"/>
            <a:ext cx="118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3264"/>
                </a:solidFill>
                <a:latin typeface="Calibri"/>
              </a:rPr>
              <a:t>Зачем: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14"/>
          <p:cNvSpPr/>
          <p:nvPr/>
        </p:nvSpPr>
        <p:spPr>
          <a:xfrm>
            <a:off x="1554480" y="4343400"/>
            <a:ext cx="4205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Критерий хакатона (25%): «Точность и обоснованность оценки,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корреляция с экспертной разметкой». Бенчмарк — прямое доказательство.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15"/>
          <p:cNvSpPr/>
          <p:nvPr/>
        </p:nvSpPr>
        <p:spPr>
          <a:xfrm>
            <a:off x="411480" y="5532120"/>
            <a:ext cx="118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3264"/>
                </a:solidFill>
                <a:latin typeface="Calibri"/>
              </a:rPr>
              <a:t>Метрики: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16"/>
          <p:cNvSpPr/>
          <p:nvPr/>
        </p:nvSpPr>
        <p:spPr>
          <a:xfrm>
            <a:off x="1554480" y="5532120"/>
            <a:ext cx="42058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MAE ~0.13 (ошибка ±0.13 по шкале 0–1) — хороший результат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Spearman ~0.88 (AI ранжирует как эксперт в 88% случаев)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ectangle 17"/>
          <p:cNvSpPr/>
          <p:nvPr/>
        </p:nvSpPr>
        <p:spPr>
          <a:xfrm>
            <a:off x="6172200" y="1417320"/>
            <a:ext cx="576036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Rectangle 18"/>
          <p:cNvSpPr/>
          <p:nvPr/>
        </p:nvSpPr>
        <p:spPr>
          <a:xfrm>
            <a:off x="6172200" y="1417320"/>
            <a:ext cx="5760360" cy="411120"/>
          </a:xfrm>
          <a:prstGeom prst="rect">
            <a:avLst/>
          </a:prstGeom>
          <a:solidFill>
            <a:srgbClr val="e65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0" name="TextBox 19"/>
          <p:cNvSpPr/>
          <p:nvPr/>
        </p:nvSpPr>
        <p:spPr>
          <a:xfrm>
            <a:off x="6355080" y="148140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Почему не экспертная разметка из БД?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ectangle 20"/>
          <p:cNvSpPr/>
          <p:nvPr/>
        </p:nvSpPr>
        <p:spPr>
          <a:xfrm>
            <a:off x="6263640" y="1965960"/>
            <a:ext cx="91080" cy="100548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TextBox 21"/>
          <p:cNvSpPr/>
          <p:nvPr/>
        </p:nvSpPr>
        <p:spPr>
          <a:xfrm>
            <a:off x="6446520" y="1965960"/>
            <a:ext cx="53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44336"/>
                </a:solidFill>
                <a:latin typeface="Calibri"/>
              </a:rPr>
              <a:t>В remote DB нет числовых SMART-оценок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22"/>
          <p:cNvSpPr/>
          <p:nvPr/>
        </p:nvSpPr>
        <p:spPr>
          <a:xfrm>
            <a:off x="6446520" y="2313360"/>
            <a:ext cx="53031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Таблица goal_reviews содержит verdict + комментарий руководителя,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но не скоры по 5 критериям (S/M/A/R/T). Нечего сравнивать.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ectangle 23"/>
          <p:cNvSpPr/>
          <p:nvPr/>
        </p:nvSpPr>
        <p:spPr>
          <a:xfrm>
            <a:off x="6263640" y="3154680"/>
            <a:ext cx="91080" cy="100548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TextBox 24"/>
          <p:cNvSpPr/>
          <p:nvPr/>
        </p:nvSpPr>
        <p:spPr>
          <a:xfrm>
            <a:off x="6446520" y="3154680"/>
            <a:ext cx="53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9800"/>
                </a:solidFill>
                <a:latin typeface="Calibri"/>
              </a:rPr>
              <a:t>Нет экспертов для ручной разметки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25"/>
          <p:cNvSpPr/>
          <p:nvPr/>
        </p:nvSpPr>
        <p:spPr>
          <a:xfrm>
            <a:off x="6446520" y="3502080"/>
            <a:ext cx="53031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Хакатон = 24 часа. Нет HR-экспертов, которые оценят 10 целей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по SMART вручную с числовыми скорами.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ectangle 26"/>
          <p:cNvSpPr/>
          <p:nvPr/>
        </p:nvSpPr>
        <p:spPr>
          <a:xfrm>
            <a:off x="6263640" y="4343400"/>
            <a:ext cx="91080" cy="10054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TextBox 27"/>
          <p:cNvSpPr/>
          <p:nvPr/>
        </p:nvSpPr>
        <p:spPr>
          <a:xfrm>
            <a:off x="6446520" y="4343400"/>
            <a:ext cx="53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Решение: хардкод-датасет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28"/>
          <p:cNvSpPr/>
          <p:nvPr/>
        </p:nvSpPr>
        <p:spPr>
          <a:xfrm>
            <a:off x="6446520" y="4690800"/>
            <a:ext cx="5303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10 целей с ручной экспертной оценкой (автор = разработчик).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От слабых (activity, 0.15) до сильных (impact, 0.95).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В продакшене — заменяется реальной разметкой HR.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ectangle 29"/>
          <p:cNvSpPr/>
          <p:nvPr/>
        </p:nvSpPr>
        <p:spPr>
          <a:xfrm>
            <a:off x="6263640" y="5532120"/>
            <a:ext cx="91080" cy="100548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TextBox 30"/>
          <p:cNvSpPr/>
          <p:nvPr/>
        </p:nvSpPr>
        <p:spPr>
          <a:xfrm>
            <a:off x="6446520" y="5532120"/>
            <a:ext cx="53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5499"/>
                </a:solidFill>
                <a:latin typeface="Calibri"/>
              </a:rPr>
              <a:t>Пока AI оценивает AI — и вот почему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31"/>
          <p:cNvSpPr/>
          <p:nvPr/>
        </p:nvSpPr>
        <p:spPr>
          <a:xfrm>
            <a:off x="6446520" y="5879520"/>
            <a:ext cx="5303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В БД нет эталонных SMART-скоров для сравнения.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Создали датасет вручную и валидируем Gemini по нему.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При внедрении подключается реальная экспертиза HR-специалистов.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32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13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Классификация целей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F-19: тип цели  ·  F-17: стратегическая связка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Rectangle 6"/>
          <p:cNvSpPr/>
          <p:nvPr/>
        </p:nvSpPr>
        <p:spPr>
          <a:xfrm>
            <a:off x="274320" y="1417320"/>
            <a:ext cx="566892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Rectangle 7"/>
          <p:cNvSpPr/>
          <p:nvPr/>
        </p:nvSpPr>
        <p:spPr>
          <a:xfrm>
            <a:off x="274320" y="1417320"/>
            <a:ext cx="5668920" cy="45684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1" name="TextBox 8"/>
          <p:cNvSpPr/>
          <p:nvPr/>
        </p:nvSpPr>
        <p:spPr>
          <a:xfrm>
            <a:off x="457200" y="1481400"/>
            <a:ext cx="5303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Тип цели  (F-19: goal_type)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ectangle 9"/>
          <p:cNvSpPr/>
          <p:nvPr/>
        </p:nvSpPr>
        <p:spPr>
          <a:xfrm>
            <a:off x="365760" y="2011680"/>
            <a:ext cx="5394600" cy="1462680"/>
          </a:xfrm>
          <a:prstGeom prst="rect">
            <a:avLst/>
          </a:prstGeom>
          <a:solidFill>
            <a:srgbClr val="f9f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Rectangle 10"/>
          <p:cNvSpPr/>
          <p:nvPr/>
        </p:nvSpPr>
        <p:spPr>
          <a:xfrm>
            <a:off x="365760" y="2011680"/>
            <a:ext cx="109440" cy="146268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11"/>
          <p:cNvSpPr/>
          <p:nvPr/>
        </p:nvSpPr>
        <p:spPr>
          <a:xfrm>
            <a:off x="594360" y="2084760"/>
            <a:ext cx="1096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200" spc="-1" strike="noStrike">
                <a:solidFill>
                  <a:srgbClr val="f44336"/>
                </a:solidFill>
                <a:latin typeface="Calibri"/>
              </a:rPr>
              <a:t>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Box 12"/>
          <p:cNvSpPr/>
          <p:nvPr/>
        </p:nvSpPr>
        <p:spPr>
          <a:xfrm>
            <a:off x="1600200" y="2084760"/>
            <a:ext cx="3931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— </a:t>
            </a: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Действие / процесс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13"/>
          <p:cNvSpPr/>
          <p:nvPr/>
        </p:nvSpPr>
        <p:spPr>
          <a:xfrm>
            <a:off x="594360" y="245052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«Проводить еженедельные совещания»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Box 14"/>
          <p:cNvSpPr/>
          <p:nvPr/>
        </p:nvSpPr>
        <p:spPr>
          <a:xfrm>
            <a:off x="594360" y="2971800"/>
            <a:ext cx="50288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f44336"/>
                </a:solidFill>
                <a:latin typeface="Calibri"/>
              </a:rPr>
              <a:t>Слабый — нет измеримого результата.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44336"/>
                </a:solidFill>
                <a:latin typeface="Calibri"/>
              </a:rPr>
              <a:t>Система предлагает переформулировку.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Rectangle 15"/>
          <p:cNvSpPr/>
          <p:nvPr/>
        </p:nvSpPr>
        <p:spPr>
          <a:xfrm>
            <a:off x="365760" y="3611880"/>
            <a:ext cx="5394600" cy="1462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Rectangle 16"/>
          <p:cNvSpPr/>
          <p:nvPr/>
        </p:nvSpPr>
        <p:spPr>
          <a:xfrm>
            <a:off x="365760" y="3611880"/>
            <a:ext cx="109440" cy="146268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0" name="TextBox 17"/>
          <p:cNvSpPr/>
          <p:nvPr/>
        </p:nvSpPr>
        <p:spPr>
          <a:xfrm>
            <a:off x="594360" y="3684960"/>
            <a:ext cx="1096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200" spc="-1" strike="noStrike">
                <a:solidFill>
                  <a:srgbClr val="ff9800"/>
                </a:solidFill>
                <a:latin typeface="Calibri"/>
              </a:rPr>
              <a:t>output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18"/>
          <p:cNvSpPr/>
          <p:nvPr/>
        </p:nvSpPr>
        <p:spPr>
          <a:xfrm>
            <a:off x="1600200" y="3684960"/>
            <a:ext cx="3931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— </a:t>
            </a: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Конкретный результат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19"/>
          <p:cNvSpPr/>
          <p:nvPr/>
        </p:nvSpPr>
        <p:spPr>
          <a:xfrm>
            <a:off x="594360" y="405072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«Снизить дефекты после релиза на 20% к 30.09.2025»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20"/>
          <p:cNvSpPr/>
          <p:nvPr/>
        </p:nvSpPr>
        <p:spPr>
          <a:xfrm>
            <a:off x="594360" y="457200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9800"/>
                </a:solidFill>
                <a:latin typeface="Calibri"/>
              </a:rPr>
              <a:t>Хороший — есть метрика и срок.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Rectangle 21"/>
          <p:cNvSpPr/>
          <p:nvPr/>
        </p:nvSpPr>
        <p:spPr>
          <a:xfrm>
            <a:off x="365760" y="5212080"/>
            <a:ext cx="5394600" cy="1462680"/>
          </a:xfrm>
          <a:prstGeom prst="rect">
            <a:avLst/>
          </a:prstGeom>
          <a:solidFill>
            <a:srgbClr val="f9f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Rectangle 22"/>
          <p:cNvSpPr/>
          <p:nvPr/>
        </p:nvSpPr>
        <p:spPr>
          <a:xfrm>
            <a:off x="365760" y="5212080"/>
            <a:ext cx="109440" cy="14626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TextBox 23"/>
          <p:cNvSpPr/>
          <p:nvPr/>
        </p:nvSpPr>
        <p:spPr>
          <a:xfrm>
            <a:off x="594360" y="5285160"/>
            <a:ext cx="1096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200" spc="-1" strike="noStrike">
                <a:solidFill>
                  <a:srgbClr val="2e7d32"/>
                </a:solidFill>
                <a:latin typeface="Calibri"/>
              </a:rPr>
              <a:t>impact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Box 24"/>
          <p:cNvSpPr/>
          <p:nvPr/>
        </p:nvSpPr>
        <p:spPr>
          <a:xfrm>
            <a:off x="1600200" y="5285160"/>
            <a:ext cx="3931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— </a:t>
            </a: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Влияние на бизнес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25"/>
          <p:cNvSpPr/>
          <p:nvPr/>
        </p:nvSpPr>
        <p:spPr>
          <a:xfrm>
            <a:off x="594360" y="5650920"/>
            <a:ext cx="50288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«Увеличить индекс качества данных на 5%,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  </a:t>
            </a:r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сократив потери от ошибок на 2 млн ₸»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26"/>
          <p:cNvSpPr/>
          <p:nvPr/>
        </p:nvSpPr>
        <p:spPr>
          <a:xfrm>
            <a:off x="594360" y="617220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e7d32"/>
                </a:solidFill>
                <a:latin typeface="Calibri"/>
              </a:rPr>
              <a:t>Лучший — связь с бизнес-результатом.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Rectangle 27"/>
          <p:cNvSpPr/>
          <p:nvPr/>
        </p:nvSpPr>
        <p:spPr>
          <a:xfrm>
            <a:off x="6172200" y="1417320"/>
            <a:ext cx="576036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Rectangle 28"/>
          <p:cNvSpPr/>
          <p:nvPr/>
        </p:nvSpPr>
        <p:spPr>
          <a:xfrm>
            <a:off x="6172200" y="1417320"/>
            <a:ext cx="5760360" cy="45684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TextBox 29"/>
          <p:cNvSpPr/>
          <p:nvPr/>
        </p:nvSpPr>
        <p:spPr>
          <a:xfrm>
            <a:off x="6355080" y="1481400"/>
            <a:ext cx="5303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Стратегическая связка  (F-17)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Rectangle 30"/>
          <p:cNvSpPr/>
          <p:nvPr/>
        </p:nvSpPr>
        <p:spPr>
          <a:xfrm>
            <a:off x="6263640" y="2011680"/>
            <a:ext cx="5531760" cy="1462680"/>
          </a:xfrm>
          <a:prstGeom prst="rect">
            <a:avLst/>
          </a:prstGeom>
          <a:solidFill>
            <a:srgbClr val="f9f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Rectangle 31"/>
          <p:cNvSpPr/>
          <p:nvPr/>
        </p:nvSpPr>
        <p:spPr>
          <a:xfrm>
            <a:off x="6263640" y="2011680"/>
            <a:ext cx="109440" cy="14626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TextBox 32"/>
          <p:cNvSpPr/>
          <p:nvPr/>
        </p:nvSpPr>
        <p:spPr>
          <a:xfrm>
            <a:off x="6492240" y="2084760"/>
            <a:ext cx="137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200" spc="-1" strike="noStrike">
                <a:solidFill>
                  <a:srgbClr val="2e7d32"/>
                </a:solidFill>
                <a:latin typeface="Calibri"/>
              </a:rPr>
              <a:t>strategic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Box 33"/>
          <p:cNvSpPr/>
          <p:nvPr/>
        </p:nvSpPr>
        <p:spPr>
          <a:xfrm>
            <a:off x="7818120" y="2084760"/>
            <a:ext cx="3748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— </a:t>
            </a: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Стратегия компании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34"/>
          <p:cNvSpPr/>
          <p:nvPr/>
        </p:nvSpPr>
        <p:spPr>
          <a:xfrm>
            <a:off x="6492240" y="2450520"/>
            <a:ext cx="51202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Связана со стратегическим документом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или KPI верхнего уровня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35"/>
          <p:cNvSpPr/>
          <p:nvPr/>
        </p:nvSpPr>
        <p:spPr>
          <a:xfrm>
            <a:off x="6492240" y="3017520"/>
            <a:ext cx="5120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2e7d32"/>
                </a:solidFill>
                <a:latin typeface="Calibri"/>
              </a:rPr>
              <a:t>Идеальный уровень привязки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Rectangle 36"/>
          <p:cNvSpPr/>
          <p:nvPr/>
        </p:nvSpPr>
        <p:spPr>
          <a:xfrm>
            <a:off x="6263640" y="3611880"/>
            <a:ext cx="5531760" cy="1462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0" name="Rectangle 37"/>
          <p:cNvSpPr/>
          <p:nvPr/>
        </p:nvSpPr>
        <p:spPr>
          <a:xfrm>
            <a:off x="6263640" y="3611880"/>
            <a:ext cx="109440" cy="146268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TextBox 38"/>
          <p:cNvSpPr/>
          <p:nvPr/>
        </p:nvSpPr>
        <p:spPr>
          <a:xfrm>
            <a:off x="6492240" y="3684960"/>
            <a:ext cx="137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200" spc="-1" strike="noStrike">
                <a:solidFill>
                  <a:srgbClr val="ff9800"/>
                </a:solidFill>
                <a:latin typeface="Calibri"/>
              </a:rPr>
              <a:t>functional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Box 39"/>
          <p:cNvSpPr/>
          <p:nvPr/>
        </p:nvSpPr>
        <p:spPr>
          <a:xfrm>
            <a:off x="7818120" y="3684960"/>
            <a:ext cx="3748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— </a:t>
            </a: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Функция подразделения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40"/>
          <p:cNvSpPr/>
          <p:nvPr/>
        </p:nvSpPr>
        <p:spPr>
          <a:xfrm>
            <a:off x="6492240" y="4050720"/>
            <a:ext cx="51202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Связана с KPI подразделения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или целью прямого руководителя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41"/>
          <p:cNvSpPr/>
          <p:nvPr/>
        </p:nvSpPr>
        <p:spPr>
          <a:xfrm>
            <a:off x="6492240" y="4617720"/>
            <a:ext cx="5120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ff9800"/>
                </a:solidFill>
                <a:latin typeface="Calibri"/>
              </a:rPr>
              <a:t>Допустимый уровень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Rectangle 42"/>
          <p:cNvSpPr/>
          <p:nvPr/>
        </p:nvSpPr>
        <p:spPr>
          <a:xfrm>
            <a:off x="6263640" y="5212080"/>
            <a:ext cx="5531760" cy="1462680"/>
          </a:xfrm>
          <a:prstGeom prst="rect">
            <a:avLst/>
          </a:prstGeom>
          <a:solidFill>
            <a:srgbClr val="f9f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6" name="Rectangle 43"/>
          <p:cNvSpPr/>
          <p:nvPr/>
        </p:nvSpPr>
        <p:spPr>
          <a:xfrm>
            <a:off x="6263640" y="5212080"/>
            <a:ext cx="109440" cy="146268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TextBox 44"/>
          <p:cNvSpPr/>
          <p:nvPr/>
        </p:nvSpPr>
        <p:spPr>
          <a:xfrm>
            <a:off x="6492240" y="5285160"/>
            <a:ext cx="137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200" spc="-1" strike="noStrike">
                <a:solidFill>
                  <a:srgbClr val="f44336"/>
                </a:solidFill>
                <a:latin typeface="Calibri"/>
              </a:rPr>
              <a:t>operational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45"/>
          <p:cNvSpPr/>
          <p:nvPr/>
        </p:nvSpPr>
        <p:spPr>
          <a:xfrm>
            <a:off x="7818120" y="5285160"/>
            <a:ext cx="3748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— </a:t>
            </a:r>
            <a:r>
              <a:rPr b="1" lang="en-US" sz="1200" spc="-1" strike="noStrike">
                <a:solidFill>
                  <a:srgbClr val="1a1a2e"/>
                </a:solidFill>
                <a:latin typeface="Calibri"/>
              </a:rPr>
              <a:t>Операционная задача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46"/>
          <p:cNvSpPr/>
          <p:nvPr/>
        </p:nvSpPr>
        <p:spPr>
          <a:xfrm>
            <a:off x="6492240" y="5650920"/>
            <a:ext cx="51202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Нет явной связи со стратегией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или KPI подразделения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47"/>
          <p:cNvSpPr/>
          <p:nvPr/>
        </p:nvSpPr>
        <p:spPr>
          <a:xfrm>
            <a:off x="6492240" y="6217920"/>
            <a:ext cx="5120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f44336"/>
                </a:solidFill>
                <a:latin typeface="Calibri"/>
              </a:rPr>
              <a:t>Система выдаёт предупреждение F-17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Box 48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14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3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4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RAG-пайплайн — техническая реализация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rag_pipeline.py  ·  Qdrant  ·  sentence-transformers  ·  source grounding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Rectangle 6"/>
          <p:cNvSpPr/>
          <p:nvPr/>
        </p:nvSpPr>
        <p:spPr>
          <a:xfrm>
            <a:off x="274320" y="1426320"/>
            <a:ext cx="2742840" cy="201132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411480" y="1508760"/>
            <a:ext cx="2468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📥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Ingest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8"/>
          <p:cNvSpPr/>
          <p:nvPr/>
        </p:nvSpPr>
        <p:spPr>
          <a:xfrm>
            <a:off x="411480" y="1965960"/>
            <a:ext cx="246852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scripts/ingest_docs.py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160 ВНД → чанки по 512 токенов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→ </a:t>
            </a:r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embed → Qdrant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9"/>
          <p:cNvSpPr/>
          <p:nvPr/>
        </p:nvSpPr>
        <p:spPr>
          <a:xfrm>
            <a:off x="3035880" y="2194560"/>
            <a:ext cx="18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8a838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ectangle 10"/>
          <p:cNvSpPr/>
          <p:nvPr/>
        </p:nvSpPr>
        <p:spPr>
          <a:xfrm>
            <a:off x="3218760" y="1426320"/>
            <a:ext cx="2742840" cy="201132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3355920" y="1508760"/>
            <a:ext cx="2468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🔍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Search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12"/>
          <p:cNvSpPr/>
          <p:nvPr/>
        </p:nvSpPr>
        <p:spPr>
          <a:xfrm>
            <a:off x="3355920" y="1965960"/>
            <a:ext cx="246852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search_vnd(query, dept_id)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qdrant.search() top-5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fallback без dept-фильтра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13"/>
          <p:cNvSpPr/>
          <p:nvPr/>
        </p:nvSpPr>
        <p:spPr>
          <a:xfrm>
            <a:off x="5980320" y="2194560"/>
            <a:ext cx="18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8a838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ectangle 14"/>
          <p:cNvSpPr/>
          <p:nvPr/>
        </p:nvSpPr>
        <p:spPr>
          <a:xfrm>
            <a:off x="6163200" y="1426320"/>
            <a:ext cx="2742840" cy="201132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6300360" y="1508760"/>
            <a:ext cx="2468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📊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Score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Box 16"/>
          <p:cNvSpPr/>
          <p:nvPr/>
        </p:nvSpPr>
        <p:spPr>
          <a:xfrm>
            <a:off x="6300360" y="1965960"/>
            <a:ext cx="246852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cosine distance → score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avg_rag_score в ответе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RagChunk с text_preview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17"/>
          <p:cNvSpPr/>
          <p:nvPr/>
        </p:nvSpPr>
        <p:spPr>
          <a:xfrm>
            <a:off x="8924400" y="2194560"/>
            <a:ext cx="18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8a838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Rectangle 18"/>
          <p:cNvSpPr/>
          <p:nvPr/>
        </p:nvSpPr>
        <p:spPr>
          <a:xfrm>
            <a:off x="9107280" y="1426320"/>
            <a:ext cx="2742840" cy="20113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TextBox 19"/>
          <p:cNvSpPr/>
          <p:nvPr/>
        </p:nvSpPr>
        <p:spPr>
          <a:xfrm>
            <a:off x="9244440" y="1508760"/>
            <a:ext cx="2468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✔️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Ground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20"/>
          <p:cNvSpPr/>
          <p:nvPr/>
        </p:nvSpPr>
        <p:spPr>
          <a:xfrm>
            <a:off x="9244440" y="1965960"/>
            <a:ext cx="246852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source_doc vs retrieved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Grounding check warning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eeff"/>
                </a:solidFill>
                <a:latin typeface="Calibri"/>
              </a:rPr>
              <a:t>dedup cosine &gt; 0.85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Rectangle 21"/>
          <p:cNvSpPr/>
          <p:nvPr/>
        </p:nvSpPr>
        <p:spPr>
          <a:xfrm>
            <a:off x="274320" y="3657600"/>
            <a:ext cx="5486040" cy="292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3" name="Rectangle 22"/>
          <p:cNvSpPr/>
          <p:nvPr/>
        </p:nvSpPr>
        <p:spPr>
          <a:xfrm>
            <a:off x="274320" y="3657600"/>
            <a:ext cx="5486040" cy="41112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TextBox 23"/>
          <p:cNvSpPr/>
          <p:nvPr/>
        </p:nvSpPr>
        <p:spPr>
          <a:xfrm>
            <a:off x="457200" y="371232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Конфигурация Qdrant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24"/>
          <p:cNvSpPr/>
          <p:nvPr/>
        </p:nvSpPr>
        <p:spPr>
          <a:xfrm>
            <a:off x="411480" y="416952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Коллекция: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Box 25"/>
          <p:cNvSpPr/>
          <p:nvPr/>
        </p:nvSpPr>
        <p:spPr>
          <a:xfrm>
            <a:off x="2011680" y="4169520"/>
            <a:ext cx="3565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vnd_documents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Box 26"/>
          <p:cNvSpPr/>
          <p:nvPr/>
        </p:nvSpPr>
        <p:spPr>
          <a:xfrm>
            <a:off x="411480" y="456300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Модель: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27"/>
          <p:cNvSpPr/>
          <p:nvPr/>
        </p:nvSpPr>
        <p:spPr>
          <a:xfrm>
            <a:off x="2011680" y="4563000"/>
            <a:ext cx="3565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paraphrase-multilingual-MiniLM-L12-v2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28"/>
          <p:cNvSpPr/>
          <p:nvPr/>
        </p:nvSpPr>
        <p:spPr>
          <a:xfrm>
            <a:off x="411480" y="495612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Размерность: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29"/>
          <p:cNvSpPr/>
          <p:nvPr/>
        </p:nvSpPr>
        <p:spPr>
          <a:xfrm>
            <a:off x="2011680" y="4956120"/>
            <a:ext cx="3565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384d · метрика: cosine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30"/>
          <p:cNvSpPr/>
          <p:nvPr/>
        </p:nvSpPr>
        <p:spPr>
          <a:xfrm>
            <a:off x="411480" y="534924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Payload-поля: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Box 31"/>
          <p:cNvSpPr/>
          <p:nvPr/>
        </p:nvSpPr>
        <p:spPr>
          <a:xfrm>
            <a:off x="2011680" y="5349240"/>
            <a:ext cx="3565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doc_title, doc_type, department_scope, text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32"/>
          <p:cNvSpPr/>
          <p:nvPr/>
        </p:nvSpPr>
        <p:spPr>
          <a:xfrm>
            <a:off x="411480" y="574236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Фильтрация: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Box 33"/>
          <p:cNvSpPr/>
          <p:nvPr/>
        </p:nvSpPr>
        <p:spPr>
          <a:xfrm>
            <a:off x="2011680" y="5742360"/>
            <a:ext cx="3565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department_scope == dept_id (с fallback)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Box 34"/>
          <p:cNvSpPr/>
          <p:nvPr/>
        </p:nvSpPr>
        <p:spPr>
          <a:xfrm>
            <a:off x="411480" y="613548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Чанков: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Box 35"/>
          <p:cNvSpPr/>
          <p:nvPr/>
        </p:nvSpPr>
        <p:spPr>
          <a:xfrm>
            <a:off x="2011680" y="6135480"/>
            <a:ext cx="3565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412 из 160 документов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Rectangle 36"/>
          <p:cNvSpPr/>
          <p:nvPr/>
        </p:nvSpPr>
        <p:spPr>
          <a:xfrm>
            <a:off x="5989320" y="3657600"/>
            <a:ext cx="5924880" cy="292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8" name="Rectangle 37"/>
          <p:cNvSpPr/>
          <p:nvPr/>
        </p:nvSpPr>
        <p:spPr>
          <a:xfrm>
            <a:off x="5989320" y="3657600"/>
            <a:ext cx="5924880" cy="4111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9" name="TextBox 38"/>
          <p:cNvSpPr/>
          <p:nvPr/>
        </p:nvSpPr>
        <p:spPr>
          <a:xfrm>
            <a:off x="6172200" y="371232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Сгенерированная цель — поля ответа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Box 39"/>
          <p:cNvSpPr/>
          <p:nvPr/>
        </p:nvSpPr>
        <p:spPr>
          <a:xfrm>
            <a:off x="6126480" y="416952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00" spc="-1" strike="noStrike">
                <a:solidFill>
                  <a:srgbClr val="2e7d32"/>
                </a:solidFill>
                <a:latin typeface="Calibri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40"/>
          <p:cNvSpPr/>
          <p:nvPr/>
        </p:nvSpPr>
        <p:spPr>
          <a:xfrm>
            <a:off x="8458200" y="416952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Формулировка в SMART-формате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Box 41"/>
          <p:cNvSpPr/>
          <p:nvPr/>
        </p:nvSpPr>
        <p:spPr>
          <a:xfrm>
            <a:off x="6126480" y="451728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00" spc="-1" strike="noStrike">
                <a:solidFill>
                  <a:srgbClr val="2e7d32"/>
                </a:solidFill>
                <a:latin typeface="Calibri"/>
              </a:rPr>
              <a:t>metric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Box 42"/>
          <p:cNvSpPr/>
          <p:nvPr/>
        </p:nvSpPr>
        <p:spPr>
          <a:xfrm>
            <a:off x="8458200" y="451728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Измеримый показатель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Box 43"/>
          <p:cNvSpPr/>
          <p:nvPr/>
        </p:nvSpPr>
        <p:spPr>
          <a:xfrm>
            <a:off x="6126480" y="486468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00" spc="-1" strike="noStrike">
                <a:solidFill>
                  <a:srgbClr val="2e7d32"/>
                </a:solidFill>
                <a:latin typeface="Calibri"/>
              </a:rPr>
              <a:t>deadline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Box 44"/>
          <p:cNvSpPr/>
          <p:nvPr/>
        </p:nvSpPr>
        <p:spPr>
          <a:xfrm>
            <a:off x="8458200" y="486468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Конкретная дата / квартал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Box 45"/>
          <p:cNvSpPr/>
          <p:nvPr/>
        </p:nvSpPr>
        <p:spPr>
          <a:xfrm>
            <a:off x="6126480" y="521208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00" spc="-1" strike="noStrike">
                <a:solidFill>
                  <a:srgbClr val="2e7d32"/>
                </a:solidFill>
                <a:latin typeface="Calibri"/>
              </a:rPr>
              <a:t>source_doc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Box 46"/>
          <p:cNvSpPr/>
          <p:nvPr/>
        </p:nvSpPr>
        <p:spPr>
          <a:xfrm>
            <a:off x="8458200" y="521208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Название ВНД-документа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Box 47"/>
          <p:cNvSpPr/>
          <p:nvPr/>
        </p:nvSpPr>
        <p:spPr>
          <a:xfrm>
            <a:off x="6126480" y="555948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00" spc="-1" strike="noStrike">
                <a:solidFill>
                  <a:srgbClr val="2e7d32"/>
                </a:solidFill>
                <a:latin typeface="Calibri"/>
              </a:rPr>
              <a:t>source_quote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Box 48"/>
          <p:cNvSpPr/>
          <p:nvPr/>
        </p:nvSpPr>
        <p:spPr>
          <a:xfrm>
            <a:off x="8458200" y="555948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Цитата из документа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Box 49"/>
          <p:cNvSpPr/>
          <p:nvPr/>
        </p:nvSpPr>
        <p:spPr>
          <a:xfrm>
            <a:off x="6126480" y="590688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00" spc="-1" strike="noStrike">
                <a:solidFill>
                  <a:srgbClr val="2e7d32"/>
                </a:solidFill>
                <a:latin typeface="Calibri"/>
              </a:rPr>
              <a:t>smart_index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Box 50"/>
          <p:cNvSpPr/>
          <p:nvPr/>
        </p:nvSpPr>
        <p:spPr>
          <a:xfrm>
            <a:off x="8458200" y="590688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Авто-SMART-оценка (0.0–1.0)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51"/>
          <p:cNvSpPr/>
          <p:nvPr/>
        </p:nvSpPr>
        <p:spPr>
          <a:xfrm>
            <a:off x="6126480" y="625464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00" spc="-1" strike="noStrike">
                <a:solidFill>
                  <a:srgbClr val="2e7d32"/>
                </a:solidFill>
                <a:latin typeface="Calibri"/>
              </a:rPr>
              <a:t>strategic_alignment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Box 52"/>
          <p:cNvSpPr/>
          <p:nvPr/>
        </p:nvSpPr>
        <p:spPr>
          <a:xfrm>
            <a:off x="8458200" y="625464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strategic / functional / operational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Box 53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15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6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7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API — Документация и структура (10%)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FastAPI · OpenAPI /docs · Pydantic v2 · Field(description) · Async SQLAlchemy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0" name="Rectangle 6"/>
          <p:cNvSpPr/>
          <p:nvPr/>
        </p:nvSpPr>
        <p:spPr>
          <a:xfrm>
            <a:off x="274320" y="1417320"/>
            <a:ext cx="1163988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1" name="TextBox 7"/>
          <p:cNvSpPr/>
          <p:nvPr/>
        </p:nvSpPr>
        <p:spPr>
          <a:xfrm>
            <a:off x="457200" y="1444680"/>
            <a:ext cx="5486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POST — запись / AI-обработка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Box 8"/>
          <p:cNvSpPr/>
          <p:nvPr/>
        </p:nvSpPr>
        <p:spPr>
          <a:xfrm>
            <a:off x="1207080" y="14446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Эндпоинт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9"/>
          <p:cNvSpPr/>
          <p:nvPr/>
        </p:nvSpPr>
        <p:spPr>
          <a:xfrm>
            <a:off x="5623560" y="1444680"/>
            <a:ext cx="6400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Описание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Rectangle 10"/>
          <p:cNvSpPr/>
          <p:nvPr/>
        </p:nvSpPr>
        <p:spPr>
          <a:xfrm>
            <a:off x="274320" y="1810440"/>
            <a:ext cx="11639880" cy="42012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5" name="Rectangle 11"/>
          <p:cNvSpPr/>
          <p:nvPr/>
        </p:nvSpPr>
        <p:spPr>
          <a:xfrm>
            <a:off x="347400" y="1856160"/>
            <a:ext cx="658080" cy="3106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6" name="TextBox 12"/>
          <p:cNvSpPr/>
          <p:nvPr/>
        </p:nvSpPr>
        <p:spPr>
          <a:xfrm>
            <a:off x="347400" y="186552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e7d32"/>
                </a:solidFill>
                <a:latin typeface="Calibri"/>
              </a:rPr>
              <a:t>POST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Box 13"/>
          <p:cNvSpPr/>
          <p:nvPr/>
        </p:nvSpPr>
        <p:spPr>
          <a:xfrm>
            <a:off x="1115640" y="187452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2e7d32"/>
                </a:solidFill>
                <a:latin typeface="Calibri"/>
              </a:rPr>
              <a:t>/api/evaluate-goal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Box 14"/>
          <p:cNvSpPr/>
          <p:nvPr/>
        </p:nvSpPr>
        <p:spPr>
          <a:xfrm>
            <a:off x="5623560" y="187452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Оценить одну цель по SMART · 5 критериев · алерты F-16..F-21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Rectangle 15"/>
          <p:cNvSpPr/>
          <p:nvPr/>
        </p:nvSpPr>
        <p:spPr>
          <a:xfrm>
            <a:off x="274320" y="2267640"/>
            <a:ext cx="1163988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0" name="Rectangle 16"/>
          <p:cNvSpPr/>
          <p:nvPr/>
        </p:nvSpPr>
        <p:spPr>
          <a:xfrm>
            <a:off x="347400" y="2313360"/>
            <a:ext cx="658080" cy="3106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1" name="TextBox 17"/>
          <p:cNvSpPr/>
          <p:nvPr/>
        </p:nvSpPr>
        <p:spPr>
          <a:xfrm>
            <a:off x="347400" y="232272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e7d32"/>
                </a:solidFill>
                <a:latin typeface="Calibri"/>
              </a:rPr>
              <a:t>POST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Box 18"/>
          <p:cNvSpPr/>
          <p:nvPr/>
        </p:nvSpPr>
        <p:spPr>
          <a:xfrm>
            <a:off x="1115640" y="233172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2e7d32"/>
                </a:solidFill>
                <a:latin typeface="Calibri"/>
              </a:rPr>
              <a:t>/api/evaluate-batch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Box 19"/>
          <p:cNvSpPr/>
          <p:nvPr/>
        </p:nvSpPr>
        <p:spPr>
          <a:xfrm>
            <a:off x="5623560" y="233172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Пакетная оценка всех целей сотрудника · asyncio.gather · radar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ectangle 20"/>
          <p:cNvSpPr/>
          <p:nvPr/>
        </p:nvSpPr>
        <p:spPr>
          <a:xfrm>
            <a:off x="274320" y="2724840"/>
            <a:ext cx="11639880" cy="42012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Rectangle 21"/>
          <p:cNvSpPr/>
          <p:nvPr/>
        </p:nvSpPr>
        <p:spPr>
          <a:xfrm>
            <a:off x="347400" y="2770560"/>
            <a:ext cx="658080" cy="3106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6" name="TextBox 22"/>
          <p:cNvSpPr/>
          <p:nvPr/>
        </p:nvSpPr>
        <p:spPr>
          <a:xfrm>
            <a:off x="347400" y="277992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e7d32"/>
                </a:solidFill>
                <a:latin typeface="Calibri"/>
              </a:rPr>
              <a:t>POST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Box 23"/>
          <p:cNvSpPr/>
          <p:nvPr/>
        </p:nvSpPr>
        <p:spPr>
          <a:xfrm>
            <a:off x="1115640" y="278892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2e7d32"/>
                </a:solidFill>
                <a:latin typeface="Calibri"/>
              </a:rPr>
              <a:t>/api/generate-goals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Box 24"/>
          <p:cNvSpPr/>
          <p:nvPr/>
        </p:nvSpPr>
        <p:spPr>
          <a:xfrm>
            <a:off x="5623560" y="278892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AI-генерация 3–5 целей · RAG + Gemini · dedup · grounding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Rectangle 25"/>
          <p:cNvSpPr/>
          <p:nvPr/>
        </p:nvSpPr>
        <p:spPr>
          <a:xfrm>
            <a:off x="274320" y="3182040"/>
            <a:ext cx="1163988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0" name="Rectangle 26"/>
          <p:cNvSpPr/>
          <p:nvPr/>
        </p:nvSpPr>
        <p:spPr>
          <a:xfrm>
            <a:off x="347400" y="3227760"/>
            <a:ext cx="658080" cy="3106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1" name="TextBox 27"/>
          <p:cNvSpPr/>
          <p:nvPr/>
        </p:nvSpPr>
        <p:spPr>
          <a:xfrm>
            <a:off x="347400" y="323712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e7d32"/>
                </a:solidFill>
                <a:latin typeface="Calibri"/>
              </a:rPr>
              <a:t>POST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Box 28"/>
          <p:cNvSpPr/>
          <p:nvPr/>
        </p:nvSpPr>
        <p:spPr>
          <a:xfrm>
            <a:off x="1115640" y="324612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2e7d32"/>
                </a:solidFill>
                <a:latin typeface="Calibri"/>
              </a:rPr>
              <a:t>/api/accept-goals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Box 29"/>
          <p:cNvSpPr/>
          <p:nvPr/>
        </p:nvSpPr>
        <p:spPr>
          <a:xfrm>
            <a:off x="5623560" y="324612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Принять выбранные цели · сохранить в accepted_goals (F-13)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Rectangle 30"/>
          <p:cNvSpPr/>
          <p:nvPr/>
        </p:nvSpPr>
        <p:spPr>
          <a:xfrm>
            <a:off x="274320" y="3712320"/>
            <a:ext cx="11639880" cy="1800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5" name="Rectangle 31"/>
          <p:cNvSpPr/>
          <p:nvPr/>
        </p:nvSpPr>
        <p:spPr>
          <a:xfrm>
            <a:off x="274320" y="3803760"/>
            <a:ext cx="11639880" cy="34704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6" name="TextBox 32"/>
          <p:cNvSpPr/>
          <p:nvPr/>
        </p:nvSpPr>
        <p:spPr>
          <a:xfrm>
            <a:off x="457200" y="3831480"/>
            <a:ext cx="5486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GET — чтение / аналитика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Rectangle 33"/>
          <p:cNvSpPr/>
          <p:nvPr/>
        </p:nvSpPr>
        <p:spPr>
          <a:xfrm>
            <a:off x="274320" y="4187880"/>
            <a:ext cx="11639880" cy="4201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8" name="Rectangle 34"/>
          <p:cNvSpPr/>
          <p:nvPr/>
        </p:nvSpPr>
        <p:spPr>
          <a:xfrm>
            <a:off x="347400" y="4233600"/>
            <a:ext cx="658080" cy="31068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9" name="TextBox 35"/>
          <p:cNvSpPr/>
          <p:nvPr/>
        </p:nvSpPr>
        <p:spPr>
          <a:xfrm>
            <a:off x="347400" y="424296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e5499"/>
                </a:solidFill>
                <a:latin typeface="Calibri"/>
              </a:rPr>
              <a:t>GET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Box 36"/>
          <p:cNvSpPr/>
          <p:nvPr/>
        </p:nvSpPr>
        <p:spPr>
          <a:xfrm>
            <a:off x="1115640" y="425196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1e5499"/>
                </a:solidFill>
                <a:latin typeface="Calibri"/>
              </a:rPr>
              <a:t>/api/dashboard/department-quality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Box 37"/>
          <p:cNvSpPr/>
          <p:nvPr/>
        </p:nvSpPr>
        <p:spPr>
          <a:xfrm>
            <a:off x="5623560" y="425196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SMART-индекс по подразделениям · strategic_ratio · weakest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Rectangle 38"/>
          <p:cNvSpPr/>
          <p:nvPr/>
        </p:nvSpPr>
        <p:spPr>
          <a:xfrm>
            <a:off x="274320" y="4645080"/>
            <a:ext cx="1163988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3" name="Rectangle 39"/>
          <p:cNvSpPr/>
          <p:nvPr/>
        </p:nvSpPr>
        <p:spPr>
          <a:xfrm>
            <a:off x="347400" y="4690800"/>
            <a:ext cx="658080" cy="31068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4" name="TextBox 40"/>
          <p:cNvSpPr/>
          <p:nvPr/>
        </p:nvSpPr>
        <p:spPr>
          <a:xfrm>
            <a:off x="347400" y="470016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e5499"/>
                </a:solidFill>
                <a:latin typeface="Calibri"/>
              </a:rPr>
              <a:t>GET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41"/>
          <p:cNvSpPr/>
          <p:nvPr/>
        </p:nvSpPr>
        <p:spPr>
          <a:xfrm>
            <a:off x="1115640" y="470916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1e5499"/>
                </a:solidFill>
                <a:latin typeface="Calibri"/>
              </a:rPr>
              <a:t>/api/dashboard/quarterly-trend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Box 42"/>
          <p:cNvSpPr/>
          <p:nvPr/>
        </p:nvSpPr>
        <p:spPr>
          <a:xfrm>
            <a:off x="5623560" y="470916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Квартальная динамика · criterion_scores для RadarChart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Rectangle 43"/>
          <p:cNvSpPr/>
          <p:nvPr/>
        </p:nvSpPr>
        <p:spPr>
          <a:xfrm>
            <a:off x="274320" y="5102280"/>
            <a:ext cx="11639880" cy="4201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8" name="Rectangle 44"/>
          <p:cNvSpPr/>
          <p:nvPr/>
        </p:nvSpPr>
        <p:spPr>
          <a:xfrm>
            <a:off x="347400" y="5148000"/>
            <a:ext cx="658080" cy="31068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9" name="TextBox 45"/>
          <p:cNvSpPr/>
          <p:nvPr/>
        </p:nvSpPr>
        <p:spPr>
          <a:xfrm>
            <a:off x="347400" y="515736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e5499"/>
                </a:solidFill>
                <a:latin typeface="Calibri"/>
              </a:rPr>
              <a:t>GET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Box 46"/>
          <p:cNvSpPr/>
          <p:nvPr/>
        </p:nvSpPr>
        <p:spPr>
          <a:xfrm>
            <a:off x="1115640" y="516636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1e5499"/>
                </a:solidFill>
                <a:latin typeface="Calibri"/>
              </a:rPr>
              <a:t>/api/dashboard/maturity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Box 47"/>
          <p:cNvSpPr/>
          <p:nvPr/>
        </p:nvSpPr>
        <p:spPr>
          <a:xfrm>
            <a:off x="5623560" y="516636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Индекс зрелости подразделения F-22 · recommendations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Rectangle 48"/>
          <p:cNvSpPr/>
          <p:nvPr/>
        </p:nvSpPr>
        <p:spPr>
          <a:xfrm>
            <a:off x="274320" y="5559480"/>
            <a:ext cx="1163988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3" name="Rectangle 49"/>
          <p:cNvSpPr/>
          <p:nvPr/>
        </p:nvSpPr>
        <p:spPr>
          <a:xfrm>
            <a:off x="347400" y="5605200"/>
            <a:ext cx="658080" cy="31068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4" name="TextBox 50"/>
          <p:cNvSpPr/>
          <p:nvPr/>
        </p:nvSpPr>
        <p:spPr>
          <a:xfrm>
            <a:off x="347400" y="561456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e5499"/>
                </a:solidFill>
                <a:latin typeface="Calibri"/>
              </a:rPr>
              <a:t>GET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Box 51"/>
          <p:cNvSpPr/>
          <p:nvPr/>
        </p:nvSpPr>
        <p:spPr>
          <a:xfrm>
            <a:off x="1115640" y="562356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1e5499"/>
                </a:solidFill>
                <a:latin typeface="Calibri"/>
              </a:rPr>
              <a:t>/api/employees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Box 52"/>
          <p:cNvSpPr/>
          <p:nvPr/>
        </p:nvSpPr>
        <p:spPr>
          <a:xfrm>
            <a:off x="5623560" y="562356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Список сотрудников с кол-вом целей (кеш 5 мин)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Rectangle 53"/>
          <p:cNvSpPr/>
          <p:nvPr/>
        </p:nvSpPr>
        <p:spPr>
          <a:xfrm>
            <a:off x="274320" y="6016680"/>
            <a:ext cx="11639880" cy="4201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8" name="Rectangle 54"/>
          <p:cNvSpPr/>
          <p:nvPr/>
        </p:nvSpPr>
        <p:spPr>
          <a:xfrm>
            <a:off x="347400" y="6062400"/>
            <a:ext cx="658080" cy="31068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9" name="TextBox 55"/>
          <p:cNvSpPr/>
          <p:nvPr/>
        </p:nvSpPr>
        <p:spPr>
          <a:xfrm>
            <a:off x="347400" y="6071760"/>
            <a:ext cx="65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e5499"/>
                </a:solidFill>
                <a:latin typeface="Calibri"/>
              </a:rPr>
              <a:t>GET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Box 56"/>
          <p:cNvSpPr/>
          <p:nvPr/>
        </p:nvSpPr>
        <p:spPr>
          <a:xfrm>
            <a:off x="1115640" y="608076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050" spc="-1" strike="noStrike">
                <a:solidFill>
                  <a:srgbClr val="1e5499"/>
                </a:solidFill>
                <a:latin typeface="Calibri"/>
              </a:rPr>
              <a:t>/health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Box 57"/>
          <p:cNvSpPr/>
          <p:nvPr/>
        </p:nvSpPr>
        <p:spPr>
          <a:xfrm>
            <a:off x="5623560" y="6080760"/>
            <a:ext cx="63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Health-check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2" name="Picture 58" descr="qr_docs.png"/>
          <p:cNvPicPr/>
          <p:nvPr/>
        </p:nvPicPr>
        <p:blipFill>
          <a:blip r:embed="rId1"/>
          <a:stretch/>
        </p:blipFill>
        <p:spPr>
          <a:xfrm>
            <a:off x="9601200" y="1417320"/>
            <a:ext cx="2285640" cy="2285640"/>
          </a:xfrm>
          <a:prstGeom prst="rect">
            <a:avLst/>
          </a:prstGeom>
          <a:ln w="0">
            <a:noFill/>
          </a:ln>
        </p:spPr>
      </p:pic>
      <p:sp>
        <p:nvSpPr>
          <p:cNvPr id="593" name="TextBox 59"/>
          <p:cNvSpPr/>
          <p:nvPr/>
        </p:nvSpPr>
        <p:spPr>
          <a:xfrm>
            <a:off x="9601200" y="374904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5499"/>
                </a:solidFill>
                <a:latin typeface="Calibri"/>
              </a:rPr>
              <a:t>Swagger UI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Box 60"/>
          <p:cNvSpPr/>
          <p:nvPr/>
        </p:nvSpPr>
        <p:spPr>
          <a:xfrm>
            <a:off x="9326880" y="4023360"/>
            <a:ext cx="25599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800" spc="-1" strike="noStrike">
                <a:solidFill>
                  <a:srgbClr val="aaaaaa"/>
                </a:solidFill>
                <a:latin typeface="Calibri"/>
              </a:rPr>
              <a:t>http://89.207.255.254:8001/docs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Box 61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16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7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8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MVP — все обязательные функции реализованы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Rectangle 4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0" name="Rectangle 5"/>
          <p:cNvSpPr/>
          <p:nvPr/>
        </p:nvSpPr>
        <p:spPr>
          <a:xfrm>
            <a:off x="274320" y="1426320"/>
            <a:ext cx="11639880" cy="38376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1" name="TextBox 6"/>
          <p:cNvSpPr/>
          <p:nvPr/>
        </p:nvSpPr>
        <p:spPr>
          <a:xfrm>
            <a:off x="384120" y="1463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Box 7"/>
          <p:cNvSpPr/>
          <p:nvPr/>
        </p:nvSpPr>
        <p:spPr>
          <a:xfrm>
            <a:off x="822960" y="146304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Функция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8"/>
          <p:cNvSpPr/>
          <p:nvPr/>
        </p:nvSpPr>
        <p:spPr>
          <a:xfrm>
            <a:off x="4572000" y="146304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Endpoint / поле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Box 9"/>
          <p:cNvSpPr/>
          <p:nvPr/>
        </p:nvSpPr>
        <p:spPr>
          <a:xfrm>
            <a:off x="7498080" y="146304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Детали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Rectangle 10"/>
          <p:cNvSpPr/>
          <p:nvPr/>
        </p:nvSpPr>
        <p:spPr>
          <a:xfrm>
            <a:off x="274320" y="1856160"/>
            <a:ext cx="11639880" cy="56664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6" name="TextBox 11"/>
          <p:cNvSpPr/>
          <p:nvPr/>
        </p:nvSpPr>
        <p:spPr>
          <a:xfrm>
            <a:off x="384120" y="1965960"/>
            <a:ext cx="40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e7d32"/>
                </a:solidFill>
                <a:latin typeface="Calibri"/>
              </a:rPr>
              <a:t>✅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Box 12"/>
          <p:cNvSpPr/>
          <p:nvPr/>
        </p:nvSpPr>
        <p:spPr>
          <a:xfrm>
            <a:off x="822960" y="197496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SMART-оценка одной цели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Box 13"/>
          <p:cNvSpPr/>
          <p:nvPr/>
        </p:nvSpPr>
        <p:spPr>
          <a:xfrm>
            <a:off x="4572000" y="197496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1e5499"/>
                </a:solidFill>
                <a:latin typeface="Calibri"/>
              </a:rPr>
              <a:t>POST /api/evaluate-goal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Box 14"/>
          <p:cNvSpPr/>
          <p:nvPr/>
        </p:nvSpPr>
        <p:spPr>
          <a:xfrm>
            <a:off x="7498080" y="197496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5 скоров · smart_index · рекомендации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Rectangle 15"/>
          <p:cNvSpPr/>
          <p:nvPr/>
        </p:nvSpPr>
        <p:spPr>
          <a:xfrm>
            <a:off x="274320" y="2468880"/>
            <a:ext cx="11639880" cy="566640"/>
          </a:xfrm>
          <a:prstGeom prst="rect">
            <a:avLst/>
          </a:prstGeom>
          <a:solidFill>
            <a:srgbClr val="dcf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1" name="TextBox 16"/>
          <p:cNvSpPr/>
          <p:nvPr/>
        </p:nvSpPr>
        <p:spPr>
          <a:xfrm>
            <a:off x="384120" y="2578680"/>
            <a:ext cx="40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e7d32"/>
                </a:solidFill>
                <a:latin typeface="Calibri"/>
              </a:rPr>
              <a:t>✅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Box 17"/>
          <p:cNvSpPr/>
          <p:nvPr/>
        </p:nvSpPr>
        <p:spPr>
          <a:xfrm>
            <a:off x="822960" y="258768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Переформулировка слабой цели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Box 18"/>
          <p:cNvSpPr/>
          <p:nvPr/>
        </p:nvSpPr>
        <p:spPr>
          <a:xfrm>
            <a:off x="4572000" y="258768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1e5499"/>
                </a:solidFill>
                <a:latin typeface="Calibri"/>
              </a:rPr>
              <a:t>improved_goal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Box 19"/>
          <p:cNvSpPr/>
          <p:nvPr/>
        </p:nvSpPr>
        <p:spPr>
          <a:xfrm>
            <a:off x="7498080" y="25876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Автоматически если smart_index &lt; 0.7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Rectangle 20"/>
          <p:cNvSpPr/>
          <p:nvPr/>
        </p:nvSpPr>
        <p:spPr>
          <a:xfrm>
            <a:off x="274320" y="3081600"/>
            <a:ext cx="11639880" cy="56664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6" name="TextBox 21"/>
          <p:cNvSpPr/>
          <p:nvPr/>
        </p:nvSpPr>
        <p:spPr>
          <a:xfrm>
            <a:off x="384120" y="3191400"/>
            <a:ext cx="40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e7d32"/>
                </a:solidFill>
                <a:latin typeface="Calibri"/>
              </a:rPr>
              <a:t>✅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Box 22"/>
          <p:cNvSpPr/>
          <p:nvPr/>
        </p:nvSpPr>
        <p:spPr>
          <a:xfrm>
            <a:off x="822960" y="320040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Генерация 3–5 целей по должности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Box 23"/>
          <p:cNvSpPr/>
          <p:nvPr/>
        </p:nvSpPr>
        <p:spPr>
          <a:xfrm>
            <a:off x="4572000" y="320040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1e5499"/>
                </a:solidFill>
                <a:latin typeface="Calibri"/>
              </a:rPr>
              <a:t>POST /api/generate-goals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Box 24"/>
          <p:cNvSpPr/>
          <p:nvPr/>
        </p:nvSpPr>
        <p:spPr>
          <a:xfrm>
            <a:off x="7498080" y="320040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RAG (160 ВНД) + Gemini Flash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Rectangle 25"/>
          <p:cNvSpPr/>
          <p:nvPr/>
        </p:nvSpPr>
        <p:spPr>
          <a:xfrm>
            <a:off x="274320" y="3694320"/>
            <a:ext cx="11639880" cy="566640"/>
          </a:xfrm>
          <a:prstGeom prst="rect">
            <a:avLst/>
          </a:prstGeom>
          <a:solidFill>
            <a:srgbClr val="dcf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1" name="TextBox 26"/>
          <p:cNvSpPr/>
          <p:nvPr/>
        </p:nvSpPr>
        <p:spPr>
          <a:xfrm>
            <a:off x="384120" y="3803760"/>
            <a:ext cx="40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e7d32"/>
                </a:solidFill>
                <a:latin typeface="Calibri"/>
              </a:rPr>
              <a:t>✅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Box 27"/>
          <p:cNvSpPr/>
          <p:nvPr/>
        </p:nvSpPr>
        <p:spPr>
          <a:xfrm>
            <a:off x="822960" y="381312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Привязка к источнику ВНД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Box 28"/>
          <p:cNvSpPr/>
          <p:nvPr/>
        </p:nvSpPr>
        <p:spPr>
          <a:xfrm>
            <a:off x="4572000" y="381312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1e5499"/>
                </a:solidFill>
                <a:latin typeface="Calibri"/>
              </a:rPr>
              <a:t>source_doc + source_quote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Box 29"/>
          <p:cNvSpPr/>
          <p:nvPr/>
        </p:nvSpPr>
        <p:spPr>
          <a:xfrm>
            <a:off x="7498080" y="381312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Документ + цитата в каждой цели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Rectangle 30"/>
          <p:cNvSpPr/>
          <p:nvPr/>
        </p:nvSpPr>
        <p:spPr>
          <a:xfrm>
            <a:off x="274320" y="4306680"/>
            <a:ext cx="11639880" cy="56664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6" name="TextBox 31"/>
          <p:cNvSpPr/>
          <p:nvPr/>
        </p:nvSpPr>
        <p:spPr>
          <a:xfrm>
            <a:off x="384120" y="4416480"/>
            <a:ext cx="40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e7d32"/>
                </a:solidFill>
                <a:latin typeface="Calibri"/>
              </a:rPr>
              <a:t>✅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Box 32"/>
          <p:cNvSpPr/>
          <p:nvPr/>
        </p:nvSpPr>
        <p:spPr>
          <a:xfrm>
            <a:off x="822960" y="442584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Пакетная оценка за квартал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Box 33"/>
          <p:cNvSpPr/>
          <p:nvPr/>
        </p:nvSpPr>
        <p:spPr>
          <a:xfrm>
            <a:off x="4572000" y="442584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1e5499"/>
                </a:solidFill>
                <a:latin typeface="Calibri"/>
              </a:rPr>
              <a:t>POST /api/evaluate-batch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Box 34"/>
          <p:cNvSpPr/>
          <p:nvPr/>
        </p:nvSpPr>
        <p:spPr>
          <a:xfrm>
            <a:off x="7498080" y="442584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asyncio.gather · avg_index · weakest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Rectangle 35"/>
          <p:cNvSpPr/>
          <p:nvPr/>
        </p:nvSpPr>
        <p:spPr>
          <a:xfrm>
            <a:off x="274320" y="4919400"/>
            <a:ext cx="11639880" cy="566640"/>
          </a:xfrm>
          <a:prstGeom prst="rect">
            <a:avLst/>
          </a:prstGeom>
          <a:solidFill>
            <a:srgbClr val="dcf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1" name="TextBox 36"/>
          <p:cNvSpPr/>
          <p:nvPr/>
        </p:nvSpPr>
        <p:spPr>
          <a:xfrm>
            <a:off x="384120" y="5029200"/>
            <a:ext cx="40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e7d32"/>
                </a:solidFill>
                <a:latin typeface="Calibri"/>
              </a:rPr>
              <a:t>✅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Box 37"/>
          <p:cNvSpPr/>
          <p:nvPr/>
        </p:nvSpPr>
        <p:spPr>
          <a:xfrm>
            <a:off x="822960" y="503820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Дашборд по подразделениям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Box 38"/>
          <p:cNvSpPr/>
          <p:nvPr/>
        </p:nvSpPr>
        <p:spPr>
          <a:xfrm>
            <a:off x="4572000" y="503820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1e5499"/>
                </a:solidFill>
                <a:latin typeface="Calibri"/>
              </a:rPr>
              <a:t>GET /api/dashboard/*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Box 39"/>
          <p:cNvSpPr/>
          <p:nvPr/>
        </p:nvSpPr>
        <p:spPr>
          <a:xfrm>
            <a:off x="7498080" y="503820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SMART-индекс · тренд · radar · проблемы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Rectangle 40"/>
          <p:cNvSpPr/>
          <p:nvPr/>
        </p:nvSpPr>
        <p:spPr>
          <a:xfrm>
            <a:off x="274320" y="5532120"/>
            <a:ext cx="1163988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6" name="TextBox 41"/>
          <p:cNvSpPr/>
          <p:nvPr/>
        </p:nvSpPr>
        <p:spPr>
          <a:xfrm>
            <a:off x="384120" y="5641920"/>
            <a:ext cx="40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8a838"/>
                </a:solidFill>
                <a:latin typeface="Calibri"/>
              </a:rPr>
              <a:t>⭕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Box 42"/>
          <p:cNvSpPr/>
          <p:nvPr/>
        </p:nvSpPr>
        <p:spPr>
          <a:xfrm>
            <a:off x="822960" y="565092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Каскадирование от руководителя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Box 43"/>
          <p:cNvSpPr/>
          <p:nvPr/>
        </p:nvSpPr>
        <p:spPr>
          <a:xfrm>
            <a:off x="4572000" y="565092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1e5499"/>
                </a:solidFill>
                <a:latin typeface="Calibri"/>
              </a:rPr>
              <a:t>manager_goals в промпте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Box 44"/>
          <p:cNvSpPr/>
          <p:nvPr/>
        </p:nvSpPr>
        <p:spPr>
          <a:xfrm>
            <a:off x="7498080" y="565092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Реализовано через manager_id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Rectangle 45"/>
          <p:cNvSpPr/>
          <p:nvPr/>
        </p:nvSpPr>
        <p:spPr>
          <a:xfrm>
            <a:off x="274320" y="6144840"/>
            <a:ext cx="11639880" cy="56664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1" name="TextBox 46"/>
          <p:cNvSpPr/>
          <p:nvPr/>
        </p:nvSpPr>
        <p:spPr>
          <a:xfrm>
            <a:off x="384120" y="6254640"/>
            <a:ext cx="40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</a:rPr>
              <a:t>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Box 47"/>
          <p:cNvSpPr/>
          <p:nvPr/>
        </p:nvSpPr>
        <p:spPr>
          <a:xfrm>
            <a:off x="822960" y="626364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a3264"/>
                </a:solidFill>
                <a:latin typeface="Calibri"/>
              </a:rPr>
              <a:t>Интеграция 1С / SAP / Oracle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Box 48"/>
          <p:cNvSpPr/>
          <p:nvPr/>
        </p:nvSpPr>
        <p:spPr>
          <a:xfrm>
            <a:off x="4572000" y="6263640"/>
            <a:ext cx="2742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1e5499"/>
                </a:solidFill>
                <a:latin typeface="Calibri"/>
              </a:rPr>
              <a:t>—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Box 49"/>
          <p:cNvSpPr/>
          <p:nvPr/>
        </p:nvSpPr>
        <p:spPr>
          <a:xfrm>
            <a:off x="7498080" y="626364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Вне MVP (опционально по ТЗ)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Box 50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17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7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8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Данные — что у нас есть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Remote DB организаторов + Local DB AI-результатов + Qdrant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1" name="Rectangle 6"/>
          <p:cNvSpPr/>
          <p:nvPr/>
        </p:nvSpPr>
        <p:spPr>
          <a:xfrm>
            <a:off x="274320" y="1426320"/>
            <a:ext cx="1810080" cy="109692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2" name="TextBox 7"/>
          <p:cNvSpPr/>
          <p:nvPr/>
        </p:nvSpPr>
        <p:spPr>
          <a:xfrm>
            <a:off x="365760" y="1517760"/>
            <a:ext cx="1627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450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Box 8"/>
          <p:cNvSpPr/>
          <p:nvPr/>
        </p:nvSpPr>
        <p:spPr>
          <a:xfrm>
            <a:off x="365760" y="2048400"/>
            <a:ext cx="1627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сотрудников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Rectangle 9"/>
          <p:cNvSpPr/>
          <p:nvPr/>
        </p:nvSpPr>
        <p:spPr>
          <a:xfrm>
            <a:off x="2212920" y="1426320"/>
            <a:ext cx="1810080" cy="1096920"/>
          </a:xfrm>
          <a:prstGeom prst="rect">
            <a:avLst/>
          </a:prstGeom>
          <a:solidFill>
            <a:srgbClr val="1e54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5" name="TextBox 10"/>
          <p:cNvSpPr/>
          <p:nvPr/>
        </p:nvSpPr>
        <p:spPr>
          <a:xfrm>
            <a:off x="2304360" y="1517760"/>
            <a:ext cx="1627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9 000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Box 11"/>
          <p:cNvSpPr/>
          <p:nvPr/>
        </p:nvSpPr>
        <p:spPr>
          <a:xfrm>
            <a:off x="2304360" y="2048400"/>
            <a:ext cx="1627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целей в БД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Rectangle 12"/>
          <p:cNvSpPr/>
          <p:nvPr/>
        </p:nvSpPr>
        <p:spPr>
          <a:xfrm>
            <a:off x="4151520" y="1426320"/>
            <a:ext cx="1810080" cy="10969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8" name="TextBox 13"/>
          <p:cNvSpPr/>
          <p:nvPr/>
        </p:nvSpPr>
        <p:spPr>
          <a:xfrm>
            <a:off x="4242960" y="1517760"/>
            <a:ext cx="1627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160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Box 14"/>
          <p:cNvSpPr/>
          <p:nvPr/>
        </p:nvSpPr>
        <p:spPr>
          <a:xfrm>
            <a:off x="4242960" y="2048400"/>
            <a:ext cx="1627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ВНД-документов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Rectangle 15"/>
          <p:cNvSpPr/>
          <p:nvPr/>
        </p:nvSpPr>
        <p:spPr>
          <a:xfrm>
            <a:off x="6089760" y="1426320"/>
            <a:ext cx="1810080" cy="109692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1" name="TextBox 16"/>
          <p:cNvSpPr/>
          <p:nvPr/>
        </p:nvSpPr>
        <p:spPr>
          <a:xfrm>
            <a:off x="6181200" y="1517760"/>
            <a:ext cx="1627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412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Box 17"/>
          <p:cNvSpPr/>
          <p:nvPr/>
        </p:nvSpPr>
        <p:spPr>
          <a:xfrm>
            <a:off x="6181200" y="2048400"/>
            <a:ext cx="1627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векторных чанков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Rectangle 18"/>
          <p:cNvSpPr/>
          <p:nvPr/>
        </p:nvSpPr>
        <p:spPr>
          <a:xfrm>
            <a:off x="8028360" y="1426320"/>
            <a:ext cx="1810080" cy="1096920"/>
          </a:xfrm>
          <a:prstGeom prst="rect">
            <a:avLst/>
          </a:prstGeom>
          <a:solidFill>
            <a:srgbClr val="e65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4" name="TextBox 19"/>
          <p:cNvSpPr/>
          <p:nvPr/>
        </p:nvSpPr>
        <p:spPr>
          <a:xfrm>
            <a:off x="8119800" y="1517760"/>
            <a:ext cx="1627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Box 20"/>
          <p:cNvSpPr/>
          <p:nvPr/>
        </p:nvSpPr>
        <p:spPr>
          <a:xfrm>
            <a:off x="8119800" y="2048400"/>
            <a:ext cx="1627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подразделений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Rectangle 21"/>
          <p:cNvSpPr/>
          <p:nvPr/>
        </p:nvSpPr>
        <p:spPr>
          <a:xfrm>
            <a:off x="9966960" y="1426320"/>
            <a:ext cx="1810080" cy="1096920"/>
          </a:xfrm>
          <a:prstGeom prst="rect">
            <a:avLst/>
          </a:prstGeom>
          <a:solidFill>
            <a:srgbClr val="0060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7" name="TextBox 22"/>
          <p:cNvSpPr/>
          <p:nvPr/>
        </p:nvSpPr>
        <p:spPr>
          <a:xfrm>
            <a:off x="10058400" y="1517760"/>
            <a:ext cx="1627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13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Box 23"/>
          <p:cNvSpPr/>
          <p:nvPr/>
        </p:nvSpPr>
        <p:spPr>
          <a:xfrm>
            <a:off x="10058400" y="2048400"/>
            <a:ext cx="1627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KPI-метрик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Rectangle 24"/>
          <p:cNvSpPr/>
          <p:nvPr/>
        </p:nvSpPr>
        <p:spPr>
          <a:xfrm>
            <a:off x="274320" y="2743200"/>
            <a:ext cx="5394600" cy="384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0" name="Rectangle 25"/>
          <p:cNvSpPr/>
          <p:nvPr/>
        </p:nvSpPr>
        <p:spPr>
          <a:xfrm>
            <a:off x="274320" y="2743200"/>
            <a:ext cx="5394600" cy="41112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1" name="TextBox 26"/>
          <p:cNvSpPr/>
          <p:nvPr/>
        </p:nvSpPr>
        <p:spPr>
          <a:xfrm>
            <a:off x="457200" y="280728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🟣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Remote PostgreSQL (readonly)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Rectangle 27"/>
          <p:cNvSpPr/>
          <p:nvPr/>
        </p:nvSpPr>
        <p:spPr>
          <a:xfrm>
            <a:off x="411480" y="3246120"/>
            <a:ext cx="5028840" cy="566640"/>
          </a:xfrm>
          <a:prstGeom prst="rect">
            <a:avLst/>
          </a:prstGeom>
          <a:solidFill>
            <a:srgbClr val="f3e5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3" name="TextBox 28"/>
          <p:cNvSpPr/>
          <p:nvPr/>
        </p:nvSpPr>
        <p:spPr>
          <a:xfrm>
            <a:off x="502920" y="330084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employees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Box 29"/>
          <p:cNvSpPr/>
          <p:nvPr/>
        </p:nvSpPr>
        <p:spPr>
          <a:xfrm>
            <a:off x="2103120" y="3337560"/>
            <a:ext cx="3200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id, full_name, position_id, department_id, manager_id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Rectangle 30"/>
          <p:cNvSpPr/>
          <p:nvPr/>
        </p:nvSpPr>
        <p:spPr>
          <a:xfrm>
            <a:off x="411480" y="3886200"/>
            <a:ext cx="502884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6" name="TextBox 31"/>
          <p:cNvSpPr/>
          <p:nvPr/>
        </p:nvSpPr>
        <p:spPr>
          <a:xfrm>
            <a:off x="502920" y="394092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goals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Box 32"/>
          <p:cNvSpPr/>
          <p:nvPr/>
        </p:nvSpPr>
        <p:spPr>
          <a:xfrm>
            <a:off x="2103120" y="3977640"/>
            <a:ext cx="3200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goal_id, employee_id, goal_text, weight, quarter, year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Rectangle 33"/>
          <p:cNvSpPr/>
          <p:nvPr/>
        </p:nvSpPr>
        <p:spPr>
          <a:xfrm>
            <a:off x="411480" y="4526280"/>
            <a:ext cx="5028840" cy="566640"/>
          </a:xfrm>
          <a:prstGeom prst="rect">
            <a:avLst/>
          </a:prstGeom>
          <a:solidFill>
            <a:srgbClr val="f3e5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9" name="TextBox 34"/>
          <p:cNvSpPr/>
          <p:nvPr/>
        </p:nvSpPr>
        <p:spPr>
          <a:xfrm>
            <a:off x="502920" y="458100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departments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Box 35"/>
          <p:cNvSpPr/>
          <p:nvPr/>
        </p:nvSpPr>
        <p:spPr>
          <a:xfrm>
            <a:off x="2103120" y="4617720"/>
            <a:ext cx="3200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id, name, is_active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Rectangle 36"/>
          <p:cNvSpPr/>
          <p:nvPr/>
        </p:nvSpPr>
        <p:spPr>
          <a:xfrm>
            <a:off x="411480" y="5166360"/>
            <a:ext cx="502884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2" name="TextBox 37"/>
          <p:cNvSpPr/>
          <p:nvPr/>
        </p:nvSpPr>
        <p:spPr>
          <a:xfrm>
            <a:off x="502920" y="522108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documents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Box 38"/>
          <p:cNvSpPr/>
          <p:nvPr/>
        </p:nvSpPr>
        <p:spPr>
          <a:xfrm>
            <a:off x="2103120" y="5257800"/>
            <a:ext cx="3200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id, title, content (полный текст ВНД)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Rectangle 39"/>
          <p:cNvSpPr/>
          <p:nvPr/>
        </p:nvSpPr>
        <p:spPr>
          <a:xfrm>
            <a:off x="411480" y="5806440"/>
            <a:ext cx="5028840" cy="566640"/>
          </a:xfrm>
          <a:prstGeom prst="rect">
            <a:avLst/>
          </a:prstGeom>
          <a:solidFill>
            <a:srgbClr val="f3e5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5" name="TextBox 40"/>
          <p:cNvSpPr/>
          <p:nvPr/>
        </p:nvSpPr>
        <p:spPr>
          <a:xfrm>
            <a:off x="502920" y="5861160"/>
            <a:ext cx="155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</a:rPr>
              <a:t>kpi_timeseries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Box 41"/>
          <p:cNvSpPr/>
          <p:nvPr/>
        </p:nvSpPr>
        <p:spPr>
          <a:xfrm>
            <a:off x="2103120" y="5897880"/>
            <a:ext cx="32000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metric_key, department_id, value_num, period_date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Rectangle 42"/>
          <p:cNvSpPr/>
          <p:nvPr/>
        </p:nvSpPr>
        <p:spPr>
          <a:xfrm>
            <a:off x="5943600" y="2743200"/>
            <a:ext cx="5988960" cy="384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8" name="Rectangle 43"/>
          <p:cNvSpPr/>
          <p:nvPr/>
        </p:nvSpPr>
        <p:spPr>
          <a:xfrm>
            <a:off x="5943600" y="2743200"/>
            <a:ext cx="5988960" cy="4111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9" name="TextBox 44"/>
          <p:cNvSpPr/>
          <p:nvPr/>
        </p:nvSpPr>
        <p:spPr>
          <a:xfrm>
            <a:off x="6126480" y="2807280"/>
            <a:ext cx="5577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🟢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Local PostgreSQL (Alembic) + Qdrant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Rectangle 45"/>
          <p:cNvSpPr/>
          <p:nvPr/>
        </p:nvSpPr>
        <p:spPr>
          <a:xfrm>
            <a:off x="6080760" y="3246120"/>
            <a:ext cx="5668920" cy="56664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1" name="TextBox 46"/>
          <p:cNvSpPr/>
          <p:nvPr/>
        </p:nvSpPr>
        <p:spPr>
          <a:xfrm>
            <a:off x="6172200" y="330084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ai_evaluations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Box 47"/>
          <p:cNvSpPr/>
          <p:nvPr/>
        </p:nvSpPr>
        <p:spPr>
          <a:xfrm>
            <a:off x="8503920" y="3337560"/>
            <a:ext cx="30171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scores_json, overall_index, goal_type, alignment_level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Rectangle 48"/>
          <p:cNvSpPr/>
          <p:nvPr/>
        </p:nvSpPr>
        <p:spPr>
          <a:xfrm>
            <a:off x="6080760" y="3886200"/>
            <a:ext cx="56689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4" name="TextBox 49"/>
          <p:cNvSpPr/>
          <p:nvPr/>
        </p:nvSpPr>
        <p:spPr>
          <a:xfrm>
            <a:off x="6172200" y="394092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ai_generated_goals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Box 50"/>
          <p:cNvSpPr/>
          <p:nvPr/>
        </p:nvSpPr>
        <p:spPr>
          <a:xfrm>
            <a:off x="8503920" y="3977640"/>
            <a:ext cx="30171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goals_json, context_json, warnings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Rectangle 51"/>
          <p:cNvSpPr/>
          <p:nvPr/>
        </p:nvSpPr>
        <p:spPr>
          <a:xfrm>
            <a:off x="6080760" y="4526280"/>
            <a:ext cx="5668920" cy="56664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7" name="TextBox 52"/>
          <p:cNvSpPr/>
          <p:nvPr/>
        </p:nvSpPr>
        <p:spPr>
          <a:xfrm>
            <a:off x="6172200" y="458100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accepted_goals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Box 53"/>
          <p:cNvSpPr/>
          <p:nvPr/>
        </p:nvSpPr>
        <p:spPr>
          <a:xfrm>
            <a:off x="8503920" y="4617720"/>
            <a:ext cx="30171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goals_json, accepted_count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Rectangle 54"/>
          <p:cNvSpPr/>
          <p:nvPr/>
        </p:nvSpPr>
        <p:spPr>
          <a:xfrm>
            <a:off x="5943600" y="5394960"/>
            <a:ext cx="5988960" cy="1188360"/>
          </a:xfrm>
          <a:prstGeom prst="rect">
            <a:avLst/>
          </a:prstGeom>
          <a:solidFill>
            <a:srgbClr val="fff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0" name="Rectangle 55"/>
          <p:cNvSpPr/>
          <p:nvPr/>
        </p:nvSpPr>
        <p:spPr>
          <a:xfrm>
            <a:off x="5943600" y="5394960"/>
            <a:ext cx="5988960" cy="34704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1" name="TextBox 56"/>
          <p:cNvSpPr/>
          <p:nvPr/>
        </p:nvSpPr>
        <p:spPr>
          <a:xfrm>
            <a:off x="6126480" y="5440680"/>
            <a:ext cx="1828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3264"/>
                </a:solidFill>
                <a:latin typeface="Calibri"/>
              </a:rPr>
              <a:t>🟡  </a:t>
            </a:r>
            <a:r>
              <a:rPr b="1" lang="en-US" sz="1100" spc="-1" strike="noStrike">
                <a:solidFill>
                  <a:srgbClr val="1a3264"/>
                </a:solidFill>
                <a:latin typeface="Calibri"/>
              </a:rPr>
              <a:t>Qdrant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Box 57"/>
          <p:cNvSpPr/>
          <p:nvPr/>
        </p:nvSpPr>
        <p:spPr>
          <a:xfrm>
            <a:off x="6035040" y="5824800"/>
            <a:ext cx="5760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Qdrant:  collection=vnd_documents  ·  model=paraphrase-multilingual-MiniLM-L12-v2  ·  384d  ·  cosine  ·  412 chunks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Box 58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18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5" name="Rectangle 2"/>
          <p:cNvSpPr/>
          <p:nvPr/>
        </p:nvSpPr>
        <p:spPr>
          <a:xfrm>
            <a:off x="0" y="6218280"/>
            <a:ext cx="12188520" cy="18252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6" name="Rectangle 3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7" name="TextBox 4"/>
          <p:cNvSpPr/>
          <p:nvPr/>
        </p:nvSpPr>
        <p:spPr>
          <a:xfrm>
            <a:off x="457200" y="182880"/>
            <a:ext cx="11274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Запуск за 3 команды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Box 5"/>
          <p:cNvSpPr/>
          <p:nvPr/>
        </p:nvSpPr>
        <p:spPr>
          <a:xfrm>
            <a:off x="457200" y="749880"/>
            <a:ext cx="11274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e8a838"/>
                </a:solidFill>
                <a:latin typeface="Calibri"/>
              </a:rPr>
              <a:t>http://89.207.255.254:3000  ·  http://89.207.255.254:8001/docs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Rectangle 6"/>
          <p:cNvSpPr/>
          <p:nvPr/>
        </p:nvSpPr>
        <p:spPr>
          <a:xfrm>
            <a:off x="274320" y="1325880"/>
            <a:ext cx="11639880" cy="105120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0" name="Rectangle 7"/>
          <p:cNvSpPr/>
          <p:nvPr/>
        </p:nvSpPr>
        <p:spPr>
          <a:xfrm>
            <a:off x="274320" y="1325880"/>
            <a:ext cx="475200" cy="105120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1" name="TextBox 8"/>
          <p:cNvSpPr/>
          <p:nvPr/>
        </p:nvSpPr>
        <p:spPr>
          <a:xfrm>
            <a:off x="274320" y="1645920"/>
            <a:ext cx="47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3264"/>
                </a:solidFill>
                <a:latin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Box 9"/>
          <p:cNvSpPr/>
          <p:nvPr/>
        </p:nvSpPr>
        <p:spPr>
          <a:xfrm>
            <a:off x="868680" y="1417320"/>
            <a:ext cx="10789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ccffcc"/>
                </a:solidFill>
                <a:latin typeface="Calibri"/>
              </a:rPr>
              <a:t>docker compose up --build -d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Box 10"/>
          <p:cNvSpPr/>
          <p:nvPr/>
        </p:nvSpPr>
        <p:spPr>
          <a:xfrm>
            <a:off x="868680" y="1874520"/>
            <a:ext cx="1078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bdd"/>
                </a:solidFill>
                <a:latin typeface="Calibri"/>
              </a:rPr>
              <a:t>Поднять все 4 контейнера: local-db · qdrant · hr-api · hr-frontend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Rectangle 11"/>
          <p:cNvSpPr/>
          <p:nvPr/>
        </p:nvSpPr>
        <p:spPr>
          <a:xfrm>
            <a:off x="274320" y="2514600"/>
            <a:ext cx="11639880" cy="105120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5" name="Rectangle 12"/>
          <p:cNvSpPr/>
          <p:nvPr/>
        </p:nvSpPr>
        <p:spPr>
          <a:xfrm>
            <a:off x="274320" y="2514600"/>
            <a:ext cx="475200" cy="105120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6" name="TextBox 13"/>
          <p:cNvSpPr/>
          <p:nvPr/>
        </p:nvSpPr>
        <p:spPr>
          <a:xfrm>
            <a:off x="274320" y="2834640"/>
            <a:ext cx="47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3264"/>
                </a:solidFill>
                <a:latin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Box 14"/>
          <p:cNvSpPr/>
          <p:nvPr/>
        </p:nvSpPr>
        <p:spPr>
          <a:xfrm>
            <a:off x="868680" y="2606040"/>
            <a:ext cx="10789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ccffcc"/>
                </a:solidFill>
                <a:latin typeface="Calibri"/>
              </a:rPr>
              <a:t>docker compose exec hr-api alembic upgrade head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Box 15"/>
          <p:cNvSpPr/>
          <p:nvPr/>
        </p:nvSpPr>
        <p:spPr>
          <a:xfrm>
            <a:off x="868680" y="3063240"/>
            <a:ext cx="1078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bdd"/>
                </a:solidFill>
                <a:latin typeface="Calibri"/>
              </a:rPr>
              <a:t>Создать таблицы AI-результатов в local-db (одноразово)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Rectangle 16"/>
          <p:cNvSpPr/>
          <p:nvPr/>
        </p:nvSpPr>
        <p:spPr>
          <a:xfrm>
            <a:off x="274320" y="3703320"/>
            <a:ext cx="11639880" cy="105120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0" name="Rectangle 17"/>
          <p:cNvSpPr/>
          <p:nvPr/>
        </p:nvSpPr>
        <p:spPr>
          <a:xfrm>
            <a:off x="274320" y="3703320"/>
            <a:ext cx="475200" cy="105120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1" name="TextBox 18"/>
          <p:cNvSpPr/>
          <p:nvPr/>
        </p:nvSpPr>
        <p:spPr>
          <a:xfrm>
            <a:off x="274320" y="4023360"/>
            <a:ext cx="47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3264"/>
                </a:solidFill>
                <a:latin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Box 19"/>
          <p:cNvSpPr/>
          <p:nvPr/>
        </p:nvSpPr>
        <p:spPr>
          <a:xfrm>
            <a:off x="868680" y="3794760"/>
            <a:ext cx="10789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ccffcc"/>
                </a:solidFill>
                <a:latin typeface="Calibri"/>
              </a:rPr>
              <a:t>docker compose exec hr-api python -m scripts.ingest_docs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Box 20"/>
          <p:cNvSpPr/>
          <p:nvPr/>
        </p:nvSpPr>
        <p:spPr>
          <a:xfrm>
            <a:off x="868680" y="4251960"/>
            <a:ext cx="1078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bdd"/>
                </a:solidFill>
                <a:latin typeface="Calibri"/>
              </a:rPr>
              <a:t>Загрузить 160 ВНД в Qdrant — embeddings + chunking (одноразово)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Box 21"/>
          <p:cNvSpPr/>
          <p:nvPr/>
        </p:nvSpPr>
        <p:spPr>
          <a:xfrm>
            <a:off x="457200" y="489204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Демо-сценарии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Box 22"/>
          <p:cNvSpPr/>
          <p:nvPr/>
        </p:nvSpPr>
        <p:spPr>
          <a:xfrm>
            <a:off x="365760" y="5321880"/>
            <a:ext cx="2011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🔴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Слабая цель: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Box 23"/>
          <p:cNvSpPr/>
          <p:nvPr/>
        </p:nvSpPr>
        <p:spPr>
          <a:xfrm>
            <a:off x="2377440" y="5321880"/>
            <a:ext cx="38401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ddff"/>
                </a:solidFill>
                <a:latin typeface="Calibri"/>
              </a:rPr>
              <a:t>«Улучшить работу» → smart_index &lt; 0.5 + переформулировка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Box 24"/>
          <p:cNvSpPr/>
          <p:nvPr/>
        </p:nvSpPr>
        <p:spPr>
          <a:xfrm>
            <a:off x="6309360" y="5321880"/>
            <a:ext cx="2011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🟢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Сильная цель: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Box 25"/>
          <p:cNvSpPr/>
          <p:nvPr/>
        </p:nvSpPr>
        <p:spPr>
          <a:xfrm>
            <a:off x="8321040" y="5321880"/>
            <a:ext cx="38401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ddff"/>
                </a:solidFill>
                <a:latin typeface="Calibri"/>
              </a:rPr>
              <a:t>«Сократить задержку ETL на 20% к 30.09.2025» → &gt; 0.85, strategic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Box 26"/>
          <p:cNvSpPr/>
          <p:nvPr/>
        </p:nvSpPr>
        <p:spPr>
          <a:xfrm>
            <a:off x="365760" y="5833800"/>
            <a:ext cx="2011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✨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Генерация: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Box 27"/>
          <p:cNvSpPr/>
          <p:nvPr/>
        </p:nvSpPr>
        <p:spPr>
          <a:xfrm>
            <a:off x="2377440" y="5833800"/>
            <a:ext cx="38401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ddff"/>
                </a:solidFill>
                <a:latin typeface="Calibri"/>
              </a:rPr>
              <a:t>employee 269, Q3 2025, focus=цифровизация → 3–5 целей + source_doc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Box 28"/>
          <p:cNvSpPr/>
          <p:nvPr/>
        </p:nvSpPr>
        <p:spPr>
          <a:xfrm>
            <a:off x="6309360" y="5833800"/>
            <a:ext cx="2011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📦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Пакетная: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Box 29"/>
          <p:cNvSpPr/>
          <p:nvPr/>
        </p:nvSpPr>
        <p:spPr>
          <a:xfrm>
            <a:off x="8321040" y="5833800"/>
            <a:ext cx="38401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cddff"/>
                </a:solidFill>
                <a:latin typeface="Calibri"/>
              </a:rPr>
              <a:t>evaluate-batch для Воронцовой (20 целей) → avg_index + radar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Box 30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19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5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6" name="TextBox 3"/>
          <p:cNvSpPr/>
          <p:nvPr/>
        </p:nvSpPr>
        <p:spPr>
          <a:xfrm>
            <a:off x="36576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Roadmap — рекомендации по развитию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Box 4"/>
          <p:cNvSpPr/>
          <p:nvPr/>
        </p:nvSpPr>
        <p:spPr>
          <a:xfrm>
            <a:off x="365760" y="6948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e8a838"/>
                </a:solidFill>
                <a:latin typeface="Calibri"/>
              </a:rPr>
              <a:t>От MVP к production-решению для 10 000+ сотрудников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Rectangle 5"/>
          <p:cNvSpPr/>
          <p:nvPr/>
        </p:nvSpPr>
        <p:spPr>
          <a:xfrm>
            <a:off x="0" y="1234440"/>
            <a:ext cx="12188520" cy="5436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9" name="Rectangle 6"/>
          <p:cNvSpPr/>
          <p:nvPr/>
        </p:nvSpPr>
        <p:spPr>
          <a:xfrm>
            <a:off x="274320" y="1417320"/>
            <a:ext cx="5687280" cy="2331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0" name="Rectangle 7"/>
          <p:cNvSpPr/>
          <p:nvPr/>
        </p:nvSpPr>
        <p:spPr>
          <a:xfrm>
            <a:off x="274320" y="1417320"/>
            <a:ext cx="91080" cy="233136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1" name="TextBox 8"/>
          <p:cNvSpPr/>
          <p:nvPr/>
        </p:nvSpPr>
        <p:spPr>
          <a:xfrm>
            <a:off x="457200" y="1554480"/>
            <a:ext cx="456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🔐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Box 9"/>
          <p:cNvSpPr/>
          <p:nvPr/>
        </p:nvSpPr>
        <p:spPr>
          <a:xfrm>
            <a:off x="960120" y="1581840"/>
            <a:ext cx="475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264"/>
                </a:solidFill>
                <a:latin typeface="Calibri"/>
              </a:rPr>
              <a:t>Keycloak SSO + RBAC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Box 10"/>
          <p:cNvSpPr/>
          <p:nvPr/>
        </p:nvSpPr>
        <p:spPr>
          <a:xfrm>
            <a:off x="457200" y="2011680"/>
            <a:ext cx="5303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SSO через Active Directory / Keycloak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JWT-токены, роли: сотрудник / руководитель / HR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Убрать выбор сотрудника — автоматически по логину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Rectangle 11"/>
          <p:cNvSpPr/>
          <p:nvPr/>
        </p:nvSpPr>
        <p:spPr>
          <a:xfrm>
            <a:off x="6236280" y="1417320"/>
            <a:ext cx="5687280" cy="2331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5" name="Rectangle 12"/>
          <p:cNvSpPr/>
          <p:nvPr/>
        </p:nvSpPr>
        <p:spPr>
          <a:xfrm>
            <a:off x="6236280" y="1417320"/>
            <a:ext cx="91080" cy="233136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6" name="TextBox 13"/>
          <p:cNvSpPr/>
          <p:nvPr/>
        </p:nvSpPr>
        <p:spPr>
          <a:xfrm>
            <a:off x="6419160" y="1554480"/>
            <a:ext cx="456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📄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Box 14"/>
          <p:cNvSpPr/>
          <p:nvPr/>
        </p:nvSpPr>
        <p:spPr>
          <a:xfrm>
            <a:off x="6922080" y="1581840"/>
            <a:ext cx="475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a1b9a"/>
                </a:solidFill>
                <a:latin typeface="Calibri"/>
              </a:rPr>
              <a:t>Парсинг реальных ВНД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Box 15"/>
          <p:cNvSpPr/>
          <p:nvPr/>
        </p:nvSpPr>
        <p:spPr>
          <a:xfrm>
            <a:off x="6419160" y="2011680"/>
            <a:ext cx="5303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Word (.docx) и PDF с таблицами, списками, OCR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Adaptive chunking по заголовкам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Версионирование: автообновление Qdrant при изменении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Rectangle 16"/>
          <p:cNvSpPr/>
          <p:nvPr/>
        </p:nvSpPr>
        <p:spPr>
          <a:xfrm>
            <a:off x="274320" y="3977640"/>
            <a:ext cx="5687280" cy="2331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0" name="Rectangle 17"/>
          <p:cNvSpPr/>
          <p:nvPr/>
        </p:nvSpPr>
        <p:spPr>
          <a:xfrm>
            <a:off x="274320" y="3977640"/>
            <a:ext cx="91080" cy="233136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1" name="TextBox 18"/>
          <p:cNvSpPr/>
          <p:nvPr/>
        </p:nvSpPr>
        <p:spPr>
          <a:xfrm>
            <a:off x="457200" y="4114800"/>
            <a:ext cx="456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🖥️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Box 19"/>
          <p:cNvSpPr/>
          <p:nvPr/>
        </p:nvSpPr>
        <p:spPr>
          <a:xfrm>
            <a:off x="960120" y="4142160"/>
            <a:ext cx="475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44336"/>
                </a:solidFill>
                <a:latin typeface="Calibri"/>
              </a:rPr>
              <a:t>GPU-кластер / локальная LLM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Box 20"/>
          <p:cNvSpPr/>
          <p:nvPr/>
        </p:nvSpPr>
        <p:spPr>
          <a:xfrm>
            <a:off x="457200" y="4572000"/>
            <a:ext cx="5303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ВНД = конфиденциальные данные, нельзя в облако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vLLM + Llama 3 / Mistral на NVIDIA A100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Полная автономность, без rate limits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Rectangle 21"/>
          <p:cNvSpPr/>
          <p:nvPr/>
        </p:nvSpPr>
        <p:spPr>
          <a:xfrm>
            <a:off x="6236280" y="3977640"/>
            <a:ext cx="5687280" cy="2331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5" name="Rectangle 22"/>
          <p:cNvSpPr/>
          <p:nvPr/>
        </p:nvSpPr>
        <p:spPr>
          <a:xfrm>
            <a:off x="6236280" y="3977640"/>
            <a:ext cx="91080" cy="23313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6" name="TextBox 23"/>
          <p:cNvSpPr/>
          <p:nvPr/>
        </p:nvSpPr>
        <p:spPr>
          <a:xfrm>
            <a:off x="6419160" y="4114800"/>
            <a:ext cx="456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⚡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Box 24"/>
          <p:cNvSpPr/>
          <p:nvPr/>
        </p:nvSpPr>
        <p:spPr>
          <a:xfrm>
            <a:off x="6922080" y="4142160"/>
            <a:ext cx="475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</a:rPr>
              <a:t>Масштабирование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TextBox 25"/>
          <p:cNvSpPr/>
          <p:nvPr/>
        </p:nvSpPr>
        <p:spPr>
          <a:xfrm>
            <a:off x="6419160" y="4572000"/>
            <a:ext cx="5303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Kubernetes HPA + 3 реплики API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Redis: rate limiting + кеш + Celery очередь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Gunicorn + N workers вместо 1 uvicorn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Box 26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20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2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1" name="Rectangle 2"/>
          <p:cNvSpPr/>
          <p:nvPr/>
        </p:nvSpPr>
        <p:spPr>
          <a:xfrm>
            <a:off x="360" y="5486400"/>
            <a:ext cx="12188520" cy="10944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2" name="Rectangle 3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3" name="TextBox 4"/>
          <p:cNvSpPr/>
          <p:nvPr/>
        </p:nvSpPr>
        <p:spPr>
          <a:xfrm>
            <a:off x="457200" y="548640"/>
            <a:ext cx="112741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Спасибо за внимание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Rectangle 5"/>
          <p:cNvSpPr/>
          <p:nvPr/>
        </p:nvSpPr>
        <p:spPr>
          <a:xfrm>
            <a:off x="320040" y="1508760"/>
            <a:ext cx="3565800" cy="169128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5" name="Rectangle 6"/>
          <p:cNvSpPr/>
          <p:nvPr/>
        </p:nvSpPr>
        <p:spPr>
          <a:xfrm>
            <a:off x="320040" y="1508760"/>
            <a:ext cx="3565800" cy="7272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6" name="TextBox 7"/>
          <p:cNvSpPr/>
          <p:nvPr/>
        </p:nvSpPr>
        <p:spPr>
          <a:xfrm>
            <a:off x="457200" y="1645920"/>
            <a:ext cx="329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🎯  </a:t>
            </a: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25% + 25%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TextBox 8"/>
          <p:cNvSpPr/>
          <p:nvPr/>
        </p:nvSpPr>
        <p:spPr>
          <a:xfrm>
            <a:off x="457200" y="2020680"/>
            <a:ext cx="3291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SMART-оценка + AI-генерация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Box 9"/>
          <p:cNvSpPr/>
          <p:nvPr/>
        </p:nvSpPr>
        <p:spPr>
          <a:xfrm>
            <a:off x="457200" y="238644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ccff"/>
                </a:solidFill>
                <a:latin typeface="Calibri"/>
              </a:rPr>
              <a:t>Gemini Flash · 5 критериев · goal_type · strategic_alignment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Rectangle 10"/>
          <p:cNvSpPr/>
          <p:nvPr/>
        </p:nvSpPr>
        <p:spPr>
          <a:xfrm>
            <a:off x="4160520" y="1508760"/>
            <a:ext cx="3565800" cy="169128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0" name="Rectangle 11"/>
          <p:cNvSpPr/>
          <p:nvPr/>
        </p:nvSpPr>
        <p:spPr>
          <a:xfrm>
            <a:off x="4160520" y="1508760"/>
            <a:ext cx="3565800" cy="7272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1" name="TextBox 12"/>
          <p:cNvSpPr/>
          <p:nvPr/>
        </p:nvSpPr>
        <p:spPr>
          <a:xfrm>
            <a:off x="4297680" y="1645920"/>
            <a:ext cx="329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🔍  </a:t>
            </a: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15%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Box 13"/>
          <p:cNvSpPr/>
          <p:nvPr/>
        </p:nvSpPr>
        <p:spPr>
          <a:xfrm>
            <a:off x="4297680" y="2020680"/>
            <a:ext cx="3291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RAG-пайплайн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Box 14"/>
          <p:cNvSpPr/>
          <p:nvPr/>
        </p:nvSpPr>
        <p:spPr>
          <a:xfrm>
            <a:off x="4297680" y="238644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ccff"/>
                </a:solidFill>
                <a:latin typeface="Calibri"/>
              </a:rPr>
              <a:t>Qdrant · 160 ВНД · 412 чанков · cosine · source grounding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Rectangle 15"/>
          <p:cNvSpPr/>
          <p:nvPr/>
        </p:nvSpPr>
        <p:spPr>
          <a:xfrm>
            <a:off x="8001000" y="1508760"/>
            <a:ext cx="3565800" cy="169128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5" name="Rectangle 16"/>
          <p:cNvSpPr/>
          <p:nvPr/>
        </p:nvSpPr>
        <p:spPr>
          <a:xfrm>
            <a:off x="8001000" y="1508760"/>
            <a:ext cx="3565800" cy="7272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6" name="TextBox 17"/>
          <p:cNvSpPr/>
          <p:nvPr/>
        </p:nvSpPr>
        <p:spPr>
          <a:xfrm>
            <a:off x="8138160" y="1645920"/>
            <a:ext cx="329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📊  </a:t>
            </a: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10%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Box 18"/>
          <p:cNvSpPr/>
          <p:nvPr/>
        </p:nvSpPr>
        <p:spPr>
          <a:xfrm>
            <a:off x="8138160" y="2020680"/>
            <a:ext cx="3291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Аналитика и дашборд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TextBox 19"/>
          <p:cNvSpPr/>
          <p:nvPr/>
        </p:nvSpPr>
        <p:spPr>
          <a:xfrm>
            <a:off x="8138160" y="238644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ccff"/>
                </a:solidFill>
                <a:latin typeface="Calibri"/>
              </a:rPr>
              <a:t>Dept quality · quarterly trend · maturity F-22 · radar chart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Rectangle 20"/>
          <p:cNvSpPr/>
          <p:nvPr/>
        </p:nvSpPr>
        <p:spPr>
          <a:xfrm>
            <a:off x="320040" y="3429000"/>
            <a:ext cx="3565800" cy="169128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0" name="Rectangle 21"/>
          <p:cNvSpPr/>
          <p:nvPr/>
        </p:nvSpPr>
        <p:spPr>
          <a:xfrm>
            <a:off x="320040" y="3429000"/>
            <a:ext cx="3565800" cy="7272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1" name="TextBox 22"/>
          <p:cNvSpPr/>
          <p:nvPr/>
        </p:nvSpPr>
        <p:spPr>
          <a:xfrm>
            <a:off x="457200" y="3566160"/>
            <a:ext cx="329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⚙️  </a:t>
            </a: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10%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TextBox 23"/>
          <p:cNvSpPr/>
          <p:nvPr/>
        </p:nvSpPr>
        <p:spPr>
          <a:xfrm>
            <a:off x="457200" y="3940920"/>
            <a:ext cx="3291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Архитектура и API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Box 24"/>
          <p:cNvSpPr/>
          <p:nvPr/>
        </p:nvSpPr>
        <p:spPr>
          <a:xfrm>
            <a:off x="457200" y="4306680"/>
            <a:ext cx="32914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ccff"/>
                </a:solidFill>
                <a:latin typeface="Calibri"/>
              </a:rPr>
              <a:t>FastAPI · OpenAPI /docs · Docker Compose · Alembic · Pydantic v2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Rectangle 25"/>
          <p:cNvSpPr/>
          <p:nvPr/>
        </p:nvSpPr>
        <p:spPr>
          <a:xfrm>
            <a:off x="4160520" y="3429000"/>
            <a:ext cx="3565800" cy="169128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5" name="Rectangle 26"/>
          <p:cNvSpPr/>
          <p:nvPr/>
        </p:nvSpPr>
        <p:spPr>
          <a:xfrm>
            <a:off x="4160520" y="3429000"/>
            <a:ext cx="3565800" cy="72720"/>
          </a:xfrm>
          <a:prstGeom prst="rect">
            <a:avLst/>
          </a:prstGeom>
          <a:solidFill>
            <a:srgbClr val="e8a8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6" name="TextBox 27"/>
          <p:cNvSpPr/>
          <p:nvPr/>
        </p:nvSpPr>
        <p:spPr>
          <a:xfrm>
            <a:off x="4297680" y="3566160"/>
            <a:ext cx="329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💻  </a:t>
            </a:r>
            <a:r>
              <a:rPr b="1" lang="en-US" sz="1300" spc="-1" strike="noStrike">
                <a:solidFill>
                  <a:srgbClr val="e8a838"/>
                </a:solidFill>
                <a:latin typeface="Calibri"/>
              </a:rPr>
              <a:t>15%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Box 28"/>
          <p:cNvSpPr/>
          <p:nvPr/>
        </p:nvSpPr>
        <p:spPr>
          <a:xfrm>
            <a:off x="4297680" y="3940920"/>
            <a:ext cx="3291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UX интерфейса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Box 29"/>
          <p:cNvSpPr/>
          <p:nvPr/>
        </p:nvSpPr>
        <p:spPr>
          <a:xfrm>
            <a:off x="4297680" y="4306680"/>
            <a:ext cx="329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ccff"/>
                </a:solidFill>
                <a:latin typeface="Calibri"/>
              </a:rPr>
              <a:t>React 18 · MUI · 6 страниц · progress bars · alert banners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Box 30"/>
          <p:cNvSpPr/>
          <p:nvPr/>
        </p:nvSpPr>
        <p:spPr>
          <a:xfrm>
            <a:off x="457200" y="6309360"/>
            <a:ext cx="11274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99bbee"/>
                </a:solidFill>
                <a:latin typeface="Calibri"/>
              </a:rPr>
              <a:t>Frontend: http://89.207.255.254:3000   ·   API: http://89.207.255.254:8001/docs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Box 31"/>
          <p:cNvSpPr/>
          <p:nvPr/>
        </p:nvSpPr>
        <p:spPr>
          <a:xfrm>
            <a:off x="11064240" y="6492240"/>
            <a:ext cx="1005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</a:rPr>
              <a:t>21 / 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2026-03-28T12:33:32Z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