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95B0E0-9D99-48D9-9FFD-465F8E769C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2FC232D-395C-498F-9D69-36FC1D8BB74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07FA9C6-A74A-41B8-8081-FC688DF1E6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C07C176-0A9C-4BAA-B298-992ACC842B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B8BFEA2-78D2-4E3A-84B1-46AC07FD2E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7E0319B-8226-4C20-836F-50CAC323BA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A167EEA-5A4D-4CAB-8A84-03D17EE3CF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E9F7944-BA7A-4B41-BB4B-DCF181F046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61EE0D4-2146-4BD6-A93F-A499E0C227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FE8DBFD-36C4-4719-B3D7-9C374902A0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01A3E023-2DDC-4D9E-8375-9BE670EF6F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B06A59-3D4B-4C8E-8E7F-53423A6406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6E565-138F-47E1-A146-B604063BE7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903C3C-0E87-4ED0-9B97-9CD279390D1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A50B18-63F5-43BD-A0A8-208A8B19017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F8BE01-B199-4B4B-A6D0-6AACC68788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DC24E7-0D12-40B5-86E9-5B638593766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6681C8-88F9-44AE-9727-5F2CEAB745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98217D-D2A4-4182-BF5D-9FCEE0133C3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ABCCBF-0A32-4816-8166-923FD9C60C2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B616A4-6C60-4EAC-A4F4-43786A57E38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3A1131-A18C-4D45-9357-090A592B3F3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Бизнес-ценность решения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Измеримый эффект для HR и руководителей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41148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~80%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получают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SMART-оценку за секунды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Вместо недель ручной рецензии — мгновенный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3200400" y="1463040"/>
            <a:ext cx="2742840" cy="2559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3756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3–5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33756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готовых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генерируется за 10 сек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333756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Привязаны к ВНД, должности и KPI подразделения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6126480" y="1463040"/>
            <a:ext cx="2742840" cy="25599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626364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100%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626364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сотрудников охвачено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единым стандартом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26364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Автоматическая проверка по 5 SMART-критериям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52560" y="1463040"/>
            <a:ext cx="2742840" cy="25599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918972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≥</a:t>
            </a: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918972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проходят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порог качества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918972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Система предлагает переформулировку слабых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2"/>
          <p:cNvSpPr/>
          <p:nvPr/>
        </p:nvSpPr>
        <p:spPr>
          <a:xfrm>
            <a:off x="274320" y="4297680"/>
            <a:ext cx="11639880" cy="2194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274320" y="4297680"/>
            <a:ext cx="91080" cy="2194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502920" y="44074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Для кого и какая ценность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0292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👤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Сотрудник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50292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Получает мгновенный AI-фидбэк, готовые предложения целей и чёткие рекомендации по улучшению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434340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👔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Руководитель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434340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Видит SMART-индексы команды, слабые критерии, квартальную динамику — без ручной проверки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18388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🏢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HR-менеджер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18388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Дашборд по 8 подразделениям: стратегическая связка, топ-проблемы, зрелость целеполагания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Дашборд качества целеполагания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Для руководителей и HR — единая картина по всей организации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274320" y="1417320"/>
            <a:ext cx="1163988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7"/>
          <p:cNvSpPr/>
          <p:nvPr/>
        </p:nvSpPr>
        <p:spPr>
          <a:xfrm>
            <a:off x="274320" y="1417320"/>
            <a:ext cx="1163988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457200" y="1481400"/>
            <a:ext cx="731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Дашборд качества целей   |   2025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9"/>
          <p:cNvSpPr/>
          <p:nvPr/>
        </p:nvSpPr>
        <p:spPr>
          <a:xfrm>
            <a:off x="41148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411480" y="1965960"/>
            <a:ext cx="1919880" cy="727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1"/>
          <p:cNvSpPr/>
          <p:nvPr/>
        </p:nvSpPr>
        <p:spPr>
          <a:xfrm>
            <a:off x="50292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e7d32"/>
                </a:solidFill>
                <a:latin typeface="Calibri"/>
              </a:rPr>
              <a:t>0.74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50292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Средний SMART-индекс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13"/>
          <p:cNvSpPr/>
          <p:nvPr/>
        </p:nvSpPr>
        <p:spPr>
          <a:xfrm>
            <a:off x="251460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14"/>
          <p:cNvSpPr/>
          <p:nvPr/>
        </p:nvSpPr>
        <p:spPr>
          <a:xfrm>
            <a:off x="2514600" y="1965960"/>
            <a:ext cx="1919880" cy="727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260604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5499"/>
                </a:solidFill>
                <a:latin typeface="Calibri"/>
              </a:rPr>
              <a:t>8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260604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Подразделений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17"/>
          <p:cNvSpPr/>
          <p:nvPr/>
        </p:nvSpPr>
        <p:spPr>
          <a:xfrm>
            <a:off x="461772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18"/>
          <p:cNvSpPr/>
          <p:nvPr/>
        </p:nvSpPr>
        <p:spPr>
          <a:xfrm>
            <a:off x="4617720" y="1965960"/>
            <a:ext cx="1919880" cy="727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470916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264"/>
                </a:solidFill>
                <a:latin typeface="Calibri"/>
              </a:rPr>
              <a:t>9 000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0"/>
          <p:cNvSpPr/>
          <p:nvPr/>
        </p:nvSpPr>
        <p:spPr>
          <a:xfrm>
            <a:off x="470916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Всего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411480" y="29718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SMART-индекс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411480" y="33375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Инфраструктура и DevOps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3"/>
          <p:cNvSpPr/>
          <p:nvPr/>
        </p:nvSpPr>
        <p:spPr>
          <a:xfrm>
            <a:off x="2788920" y="3392280"/>
            <a:ext cx="22215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5056560" y="33832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0.81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11480" y="37400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Данные и аналитика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26"/>
          <p:cNvSpPr/>
          <p:nvPr/>
        </p:nvSpPr>
        <p:spPr>
          <a:xfrm>
            <a:off x="2788920" y="3794760"/>
            <a:ext cx="21117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7"/>
          <p:cNvSpPr/>
          <p:nvPr/>
        </p:nvSpPr>
        <p:spPr>
          <a:xfrm>
            <a:off x="4946760" y="37857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28"/>
          <p:cNvSpPr/>
          <p:nvPr/>
        </p:nvSpPr>
        <p:spPr>
          <a:xfrm>
            <a:off x="411480" y="41421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Прикладные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9"/>
          <p:cNvSpPr/>
          <p:nvPr/>
        </p:nvSpPr>
        <p:spPr>
          <a:xfrm>
            <a:off x="2788920" y="4197240"/>
            <a:ext cx="20296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0"/>
          <p:cNvSpPr/>
          <p:nvPr/>
        </p:nvSpPr>
        <p:spPr>
          <a:xfrm>
            <a:off x="4864680" y="41878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1"/>
          <p:cNvSpPr/>
          <p:nvPr/>
        </p:nvSpPr>
        <p:spPr>
          <a:xfrm>
            <a:off x="411480" y="45446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Учётные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32"/>
          <p:cNvSpPr/>
          <p:nvPr/>
        </p:nvSpPr>
        <p:spPr>
          <a:xfrm>
            <a:off x="2788920" y="4599360"/>
            <a:ext cx="19198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>
            <a:off x="4754880" y="45903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34"/>
          <p:cNvSpPr/>
          <p:nvPr/>
        </p:nvSpPr>
        <p:spPr>
          <a:xfrm>
            <a:off x="411480" y="49467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Цифр. трансформация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35"/>
          <p:cNvSpPr/>
          <p:nvPr/>
        </p:nvSpPr>
        <p:spPr>
          <a:xfrm>
            <a:off x="2788920" y="5001840"/>
            <a:ext cx="186516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4700160" y="49924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37"/>
          <p:cNvSpPr/>
          <p:nvPr/>
        </p:nvSpPr>
        <p:spPr>
          <a:xfrm>
            <a:off x="411480" y="53492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Корп. менеджмент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38"/>
          <p:cNvSpPr/>
          <p:nvPr/>
        </p:nvSpPr>
        <p:spPr>
          <a:xfrm>
            <a:off x="2788920" y="5403960"/>
            <a:ext cx="167292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39"/>
          <p:cNvSpPr/>
          <p:nvPr/>
        </p:nvSpPr>
        <p:spPr>
          <a:xfrm>
            <a:off x="4507920" y="53949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40"/>
          <p:cNvSpPr/>
          <p:nvPr/>
        </p:nvSpPr>
        <p:spPr>
          <a:xfrm>
            <a:off x="411480" y="575172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Инфобезопасность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2788920" y="5806440"/>
            <a:ext cx="16182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42"/>
          <p:cNvSpPr/>
          <p:nvPr/>
        </p:nvSpPr>
        <p:spPr>
          <a:xfrm>
            <a:off x="4453200" y="579744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43"/>
          <p:cNvSpPr/>
          <p:nvPr/>
        </p:nvSpPr>
        <p:spPr>
          <a:xfrm>
            <a:off x="411480" y="61538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Сервис-деск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44"/>
          <p:cNvSpPr/>
          <p:nvPr/>
        </p:nvSpPr>
        <p:spPr>
          <a:xfrm>
            <a:off x="2788920" y="6208920"/>
            <a:ext cx="15084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45"/>
          <p:cNvSpPr/>
          <p:nvPr/>
        </p:nvSpPr>
        <p:spPr>
          <a:xfrm>
            <a:off x="4343400" y="61995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46"/>
          <p:cNvSpPr/>
          <p:nvPr/>
        </p:nvSpPr>
        <p:spPr>
          <a:xfrm>
            <a:off x="6309360" y="1965960"/>
            <a:ext cx="5486040" cy="457164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47"/>
          <p:cNvSpPr/>
          <p:nvPr/>
        </p:nvSpPr>
        <p:spPr>
          <a:xfrm>
            <a:off x="6309360" y="1965960"/>
            <a:ext cx="548604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48"/>
          <p:cNvSpPr/>
          <p:nvPr/>
        </p:nvSpPr>
        <p:spPr>
          <a:xfrm>
            <a:off x="6446520" y="201168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Топ-проблемы организации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6446520" y="2423160"/>
            <a:ext cx="502560" cy="438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50"/>
          <p:cNvSpPr/>
          <p:nvPr/>
        </p:nvSpPr>
        <p:spPr>
          <a:xfrm>
            <a:off x="6446520" y="245988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51"/>
          <p:cNvSpPr/>
          <p:nvPr/>
        </p:nvSpPr>
        <p:spPr>
          <a:xfrm>
            <a:off x="7022520" y="251460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сформулированы как активности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6446520" y="301752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53"/>
          <p:cNvSpPr/>
          <p:nvPr/>
        </p:nvSpPr>
        <p:spPr>
          <a:xfrm>
            <a:off x="6446520" y="305424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72%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54"/>
          <p:cNvSpPr/>
          <p:nvPr/>
        </p:nvSpPr>
        <p:spPr>
          <a:xfrm>
            <a:off x="7022520" y="310896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без стратегической связки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6446520" y="361188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56"/>
          <p:cNvSpPr/>
          <p:nvPr/>
        </p:nvSpPr>
        <p:spPr>
          <a:xfrm>
            <a:off x="6446520" y="364860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57"/>
          <p:cNvSpPr/>
          <p:nvPr/>
        </p:nvSpPr>
        <p:spPr>
          <a:xfrm>
            <a:off x="7022520" y="370332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самый слабый SMART-критерий — Измеримость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58"/>
          <p:cNvSpPr/>
          <p:nvPr/>
        </p:nvSpPr>
        <p:spPr>
          <a:xfrm>
            <a:off x="6446520" y="425196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Клик на подразделение 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59"/>
          <p:cNvSpPr/>
          <p:nvPr/>
        </p:nvSpPr>
        <p:spPr>
          <a:xfrm>
            <a:off x="6446520" y="4572000"/>
            <a:ext cx="52117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Квартальный LineChart SMART-тренда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RadarChart профиля по 5 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Значок «слабый критерий» + стратег. связка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Техническая архитектура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3-уровневая система · Docker Compose · 2 контура данных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Rectangle 6"/>
          <p:cNvSpPr/>
          <p:nvPr/>
        </p:nvSpPr>
        <p:spPr>
          <a:xfrm>
            <a:off x="274320" y="1417320"/>
            <a:ext cx="11639880" cy="16272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57200" y="150876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СЛОЙ 3 — ПРЕДСТАВЛЕНИЕ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457200" y="1874520"/>
            <a:ext cx="36572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React 18 + Material UI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9"/>
          <p:cNvSpPr/>
          <p:nvPr/>
        </p:nvSpPr>
        <p:spPr>
          <a:xfrm>
            <a:off x="4389120" y="1691640"/>
            <a:ext cx="7314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EvaluateGoal  ·  MyGoals (batch)  ·  GenerateGoals  ·  Dashboard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SmartScoreCard  ·  GoalCard  ·  AlertBanner  ·  Recharts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10"/>
          <p:cNvSpPr/>
          <p:nvPr/>
        </p:nvSpPr>
        <p:spPr>
          <a:xfrm>
            <a:off x="5824800" y="3063240"/>
            <a:ext cx="54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↕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ctangle 11"/>
          <p:cNvSpPr/>
          <p:nvPr/>
        </p:nvSpPr>
        <p:spPr>
          <a:xfrm>
            <a:off x="274320" y="3154680"/>
            <a:ext cx="11639880" cy="162720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12"/>
          <p:cNvSpPr/>
          <p:nvPr/>
        </p:nvSpPr>
        <p:spPr>
          <a:xfrm>
            <a:off x="457200" y="324612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СЛОЙ 2 — AI / БИЗНЕС-ЛОГИКА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13"/>
          <p:cNvSpPr/>
          <p:nvPr/>
        </p:nvSpPr>
        <p:spPr>
          <a:xfrm>
            <a:off x="457200" y="3611880"/>
            <a:ext cx="36572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FastAPI · Python 3.11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4"/>
          <p:cNvSpPr/>
          <p:nvPr/>
        </p:nvSpPr>
        <p:spPr>
          <a:xfrm>
            <a:off x="4389120" y="3429000"/>
            <a:ext cx="7314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smart_evaluator.py  ·  goal_generator.py  ·  rag_pipeline.py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alert_manager.py (F-16..F-21)  ·  dedup_checker.py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15"/>
          <p:cNvSpPr/>
          <p:nvPr/>
        </p:nvSpPr>
        <p:spPr>
          <a:xfrm>
            <a:off x="5824800" y="4800600"/>
            <a:ext cx="54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↕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Rectangle 16"/>
          <p:cNvSpPr/>
          <p:nvPr/>
        </p:nvSpPr>
        <p:spPr>
          <a:xfrm>
            <a:off x="274320" y="4892040"/>
            <a:ext cx="11639880" cy="16272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17"/>
          <p:cNvSpPr/>
          <p:nvPr/>
        </p:nvSpPr>
        <p:spPr>
          <a:xfrm>
            <a:off x="457200" y="4983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СЛОЙ 1 — ДАННЫЕ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18"/>
          <p:cNvSpPr/>
          <p:nvPr/>
        </p:nvSpPr>
        <p:spPr>
          <a:xfrm>
            <a:off x="457200" y="5349240"/>
            <a:ext cx="36572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PostgreSQL 17 × 2  +  Qdrant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9"/>
          <p:cNvSpPr/>
          <p:nvPr/>
        </p:nvSpPr>
        <p:spPr>
          <a:xfrm>
            <a:off x="4389120" y="516636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Remote DB (readonly): 450 сотр., 9000 целей, 160 ВНД, KPI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Local DB (Alembic): ai_evaluations, ai_generated_goals, 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Qdrant: 412 чанков, paraphrase-MiniLM-L12-v2, 384d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Rectangle 20"/>
          <p:cNvSpPr/>
          <p:nvPr/>
        </p:nvSpPr>
        <p:spPr>
          <a:xfrm>
            <a:off x="274320" y="6446520"/>
            <a:ext cx="11639880" cy="27396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21"/>
          <p:cNvSpPr/>
          <p:nvPr/>
        </p:nvSpPr>
        <p:spPr>
          <a:xfrm>
            <a:off x="457200" y="645552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🐳  </a:t>
            </a: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local-db : 5433    qdrant : 6333    hr-api : 8001    hr-frontend : 3000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Оценка целей по SMART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smart_evaluator.py  ·  Gemini Flash JSON mode  ·  asyncio.gather для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Rectangle 6"/>
          <p:cNvSpPr/>
          <p:nvPr/>
        </p:nvSpPr>
        <p:spPr>
          <a:xfrm>
            <a:off x="274320" y="1417320"/>
            <a:ext cx="539460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7"/>
          <p:cNvSpPr/>
          <p:nvPr/>
        </p:nvSpPr>
        <p:spPr>
          <a:xfrm>
            <a:off x="457200" y="15087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Пайплайн оценки одной цели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ectangle 8"/>
          <p:cNvSpPr/>
          <p:nvPr/>
        </p:nvSpPr>
        <p:spPr>
          <a:xfrm>
            <a:off x="411480" y="19933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TextBox 9"/>
          <p:cNvSpPr/>
          <p:nvPr/>
        </p:nvSpPr>
        <p:spPr>
          <a:xfrm>
            <a:off x="411480" y="19933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10"/>
          <p:cNvSpPr/>
          <p:nvPr/>
        </p:nvSpPr>
        <p:spPr>
          <a:xfrm>
            <a:off x="896040" y="19933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Контекст из Remote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11"/>
          <p:cNvSpPr/>
          <p:nvPr/>
        </p:nvSpPr>
        <p:spPr>
          <a:xfrm>
            <a:off x="896040" y="234072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Должность · подразделение · цели менеджера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KPI (10 последних) · история аналогичных ролей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12"/>
          <p:cNvSpPr/>
          <p:nvPr/>
        </p:nvSpPr>
        <p:spPr>
          <a:xfrm>
            <a:off x="411480" y="288036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TextBox 13"/>
          <p:cNvSpPr/>
          <p:nvPr/>
        </p:nvSpPr>
        <p:spPr>
          <a:xfrm>
            <a:off x="411480" y="288036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896040" y="288036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Промпт → Gemini Flash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5"/>
          <p:cNvSpPr/>
          <p:nvPr/>
        </p:nvSpPr>
        <p:spPr>
          <a:xfrm>
            <a:off x="896040" y="322776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 mode, temperature=0.3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SYSTEM_PROMPT + user_prompt в одном вызове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ectangle 16"/>
          <p:cNvSpPr/>
          <p:nvPr/>
        </p:nvSpPr>
        <p:spPr>
          <a:xfrm>
            <a:off x="411480" y="376740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TextBox 17"/>
          <p:cNvSpPr/>
          <p:nvPr/>
        </p:nvSpPr>
        <p:spPr>
          <a:xfrm>
            <a:off x="411480" y="376740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8"/>
          <p:cNvSpPr/>
          <p:nvPr/>
        </p:nvSpPr>
        <p:spPr>
          <a:xfrm>
            <a:off x="896040" y="376740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Парсинг + валидация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9"/>
          <p:cNvSpPr/>
          <p:nvPr/>
        </p:nvSpPr>
        <p:spPr>
          <a:xfrm>
            <a:off x="896040" y="411480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json.loads() → defaults для пропущенных ключей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smartIndex пересчитывается программно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20"/>
          <p:cNvSpPr/>
          <p:nvPr/>
        </p:nvSpPr>
        <p:spPr>
          <a:xfrm>
            <a:off x="411480" y="465444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1"/>
          <p:cNvSpPr/>
          <p:nvPr/>
        </p:nvSpPr>
        <p:spPr>
          <a:xfrm>
            <a:off x="411480" y="465444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2"/>
          <p:cNvSpPr/>
          <p:nvPr/>
        </p:nvSpPr>
        <p:spPr>
          <a:xfrm>
            <a:off x="896040" y="465444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Алерты F-16..F-21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3"/>
          <p:cNvSpPr/>
          <p:nvPr/>
        </p:nvSpPr>
        <p:spPr>
          <a:xfrm>
            <a:off x="896040" y="500184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check_goal_alerts(): вес, кол-во, тип, связка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check_batch_alerts() для пакетной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Rectangle 24"/>
          <p:cNvSpPr/>
          <p:nvPr/>
        </p:nvSpPr>
        <p:spPr>
          <a:xfrm>
            <a:off x="411480" y="55411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25"/>
          <p:cNvSpPr/>
          <p:nvPr/>
        </p:nvSpPr>
        <p:spPr>
          <a:xfrm>
            <a:off x="411480" y="55411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6"/>
          <p:cNvSpPr/>
          <p:nvPr/>
        </p:nvSpPr>
        <p:spPr>
          <a:xfrm>
            <a:off x="896040" y="55411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Сохранение в Local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7"/>
          <p:cNvSpPr/>
          <p:nvPr/>
        </p:nvSpPr>
        <p:spPr>
          <a:xfrm>
            <a:off x="896040" y="588888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ai_evaluations: scores_json, alignment_level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return goal_id = f'eval-{evaluation.id}'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Rectangle 28"/>
          <p:cNvSpPr/>
          <p:nvPr/>
        </p:nvSpPr>
        <p:spPr>
          <a:xfrm>
            <a:off x="5943600" y="1417320"/>
            <a:ext cx="5988960" cy="51660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29"/>
          <p:cNvSpPr/>
          <p:nvPr/>
        </p:nvSpPr>
        <p:spPr>
          <a:xfrm>
            <a:off x="6126480" y="150876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Ответ Gemini (JSON mode)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30"/>
          <p:cNvSpPr/>
          <p:nvPr/>
        </p:nvSpPr>
        <p:spPr>
          <a:xfrm>
            <a:off x="6035040" y="1920240"/>
            <a:ext cx="576036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"smart_scores":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"specific":   0.82,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"measurable": 0.90,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"achievable": 0.75,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"relevant":   0.88,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"time_bound":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"smart_index": 0.84,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"goal_type": "output",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"strategic_alignment":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"level": "strategic",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"source": "KPI: сокращение задержки ETL"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"recommendations": [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"A: Уточните необходимые ресурсы"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],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"improved_goal": null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31"/>
          <p:cNvSpPr/>
          <p:nvPr/>
        </p:nvSpPr>
        <p:spPr>
          <a:xfrm>
            <a:off x="320040" y="6492240"/>
            <a:ext cx="114296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📦  </a:t>
            </a: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evaluate-batch: asyncio.gather(*[evaluate_goal(...) for goal in goals])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RAG-пайплайн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rag_pipeline.py  ·  Qdrant  ·  sentence-transformers  ·  source grounding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Rectangle 6"/>
          <p:cNvSpPr/>
          <p:nvPr/>
        </p:nvSpPr>
        <p:spPr>
          <a:xfrm>
            <a:off x="274320" y="1426320"/>
            <a:ext cx="2742840" cy="20113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7"/>
          <p:cNvSpPr/>
          <p:nvPr/>
        </p:nvSpPr>
        <p:spPr>
          <a:xfrm>
            <a:off x="41148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📥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8"/>
          <p:cNvSpPr/>
          <p:nvPr/>
        </p:nvSpPr>
        <p:spPr>
          <a:xfrm>
            <a:off x="41148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scripts/ingest_docs.py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160 ВНД → чанки по 512 токенов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→ </a:t>
            </a: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embed → Qdrant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9"/>
          <p:cNvSpPr/>
          <p:nvPr/>
        </p:nvSpPr>
        <p:spPr>
          <a:xfrm>
            <a:off x="303588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ectangle 10"/>
          <p:cNvSpPr/>
          <p:nvPr/>
        </p:nvSpPr>
        <p:spPr>
          <a:xfrm>
            <a:off x="3218760" y="1426320"/>
            <a:ext cx="2742840" cy="20113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11"/>
          <p:cNvSpPr/>
          <p:nvPr/>
        </p:nvSpPr>
        <p:spPr>
          <a:xfrm>
            <a:off x="335592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2"/>
          <p:cNvSpPr/>
          <p:nvPr/>
        </p:nvSpPr>
        <p:spPr>
          <a:xfrm>
            <a:off x="335592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search_vnd(query, dept_id)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qdrant.search() top-5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fallback без dept-фильтра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3"/>
          <p:cNvSpPr/>
          <p:nvPr/>
        </p:nvSpPr>
        <p:spPr>
          <a:xfrm>
            <a:off x="598032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tangle 14"/>
          <p:cNvSpPr/>
          <p:nvPr/>
        </p:nvSpPr>
        <p:spPr>
          <a:xfrm>
            <a:off x="6163200" y="1426320"/>
            <a:ext cx="2742840" cy="20113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5"/>
          <p:cNvSpPr/>
          <p:nvPr/>
        </p:nvSpPr>
        <p:spPr>
          <a:xfrm>
            <a:off x="630036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6"/>
          <p:cNvSpPr/>
          <p:nvPr/>
        </p:nvSpPr>
        <p:spPr>
          <a:xfrm>
            <a:off x="630036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cosine distance →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avg_rag_score в ответе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RagChunk с text_preview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17"/>
          <p:cNvSpPr/>
          <p:nvPr/>
        </p:nvSpPr>
        <p:spPr>
          <a:xfrm>
            <a:off x="892440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Rectangle 18"/>
          <p:cNvSpPr/>
          <p:nvPr/>
        </p:nvSpPr>
        <p:spPr>
          <a:xfrm>
            <a:off x="9107280" y="1426320"/>
            <a:ext cx="2742840" cy="20113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19"/>
          <p:cNvSpPr/>
          <p:nvPr/>
        </p:nvSpPr>
        <p:spPr>
          <a:xfrm>
            <a:off x="924444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✔️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Ground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0"/>
          <p:cNvSpPr/>
          <p:nvPr/>
        </p:nvSpPr>
        <p:spPr>
          <a:xfrm>
            <a:off x="924444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source_doc vs retrieved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Grounding check warning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dedup cosine &gt;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1"/>
          <p:cNvSpPr/>
          <p:nvPr/>
        </p:nvSpPr>
        <p:spPr>
          <a:xfrm>
            <a:off x="274320" y="3657600"/>
            <a:ext cx="548604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Rectangle 22"/>
          <p:cNvSpPr/>
          <p:nvPr/>
        </p:nvSpPr>
        <p:spPr>
          <a:xfrm>
            <a:off x="274320" y="3657600"/>
            <a:ext cx="548604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" name="TextBox 23"/>
          <p:cNvSpPr/>
          <p:nvPr/>
        </p:nvSpPr>
        <p:spPr>
          <a:xfrm>
            <a:off x="457200" y="37123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Конфигурация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4"/>
          <p:cNvSpPr/>
          <p:nvPr/>
        </p:nvSpPr>
        <p:spPr>
          <a:xfrm>
            <a:off x="411480" y="41695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Коллекция: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25"/>
          <p:cNvSpPr/>
          <p:nvPr/>
        </p:nvSpPr>
        <p:spPr>
          <a:xfrm>
            <a:off x="2011680" y="41695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vnd_documents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26"/>
          <p:cNvSpPr/>
          <p:nvPr/>
        </p:nvSpPr>
        <p:spPr>
          <a:xfrm>
            <a:off x="411480" y="4563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27"/>
          <p:cNvSpPr/>
          <p:nvPr/>
        </p:nvSpPr>
        <p:spPr>
          <a:xfrm>
            <a:off x="2011680" y="45630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paraphrase-multilingual-MiniLM-L12-v2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28"/>
          <p:cNvSpPr/>
          <p:nvPr/>
        </p:nvSpPr>
        <p:spPr>
          <a:xfrm>
            <a:off x="411480" y="49561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Размерность: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29"/>
          <p:cNvSpPr/>
          <p:nvPr/>
        </p:nvSpPr>
        <p:spPr>
          <a:xfrm>
            <a:off x="2011680" y="49561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384d · метрика: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0"/>
          <p:cNvSpPr/>
          <p:nvPr/>
        </p:nvSpPr>
        <p:spPr>
          <a:xfrm>
            <a:off x="411480" y="53492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Payload-поля: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31"/>
          <p:cNvSpPr/>
          <p:nvPr/>
        </p:nvSpPr>
        <p:spPr>
          <a:xfrm>
            <a:off x="2011680" y="53492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doc_title, doc_type, department_scope, text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32"/>
          <p:cNvSpPr/>
          <p:nvPr/>
        </p:nvSpPr>
        <p:spPr>
          <a:xfrm>
            <a:off x="411480" y="57423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Фильтрация: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33"/>
          <p:cNvSpPr/>
          <p:nvPr/>
        </p:nvSpPr>
        <p:spPr>
          <a:xfrm>
            <a:off x="2011680" y="574236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department_scope == dept_id (с fallback)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34"/>
          <p:cNvSpPr/>
          <p:nvPr/>
        </p:nvSpPr>
        <p:spPr>
          <a:xfrm>
            <a:off x="411480" y="61354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Чанков: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35"/>
          <p:cNvSpPr/>
          <p:nvPr/>
        </p:nvSpPr>
        <p:spPr>
          <a:xfrm>
            <a:off x="2011680" y="613548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412 из 160 документов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ectangle 36"/>
          <p:cNvSpPr/>
          <p:nvPr/>
        </p:nvSpPr>
        <p:spPr>
          <a:xfrm>
            <a:off x="5989320" y="3657600"/>
            <a:ext cx="592488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37"/>
          <p:cNvSpPr/>
          <p:nvPr/>
        </p:nvSpPr>
        <p:spPr>
          <a:xfrm>
            <a:off x="5989320" y="3657600"/>
            <a:ext cx="592488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38"/>
          <p:cNvSpPr/>
          <p:nvPr/>
        </p:nvSpPr>
        <p:spPr>
          <a:xfrm>
            <a:off x="6172200" y="371232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Сгенерированная цель — поля ответа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39"/>
          <p:cNvSpPr/>
          <p:nvPr/>
        </p:nvSpPr>
        <p:spPr>
          <a:xfrm>
            <a:off x="6126480" y="416952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text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40"/>
          <p:cNvSpPr/>
          <p:nvPr/>
        </p:nvSpPr>
        <p:spPr>
          <a:xfrm>
            <a:off x="8458200" y="416952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Формулировка в SMART-формате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41"/>
          <p:cNvSpPr/>
          <p:nvPr/>
        </p:nvSpPr>
        <p:spPr>
          <a:xfrm>
            <a:off x="6126480" y="45172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42"/>
          <p:cNvSpPr/>
          <p:nvPr/>
        </p:nvSpPr>
        <p:spPr>
          <a:xfrm>
            <a:off x="8458200" y="45172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Измеримый показатель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43"/>
          <p:cNvSpPr/>
          <p:nvPr/>
        </p:nvSpPr>
        <p:spPr>
          <a:xfrm>
            <a:off x="6126480" y="48646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deadline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44"/>
          <p:cNvSpPr/>
          <p:nvPr/>
        </p:nvSpPr>
        <p:spPr>
          <a:xfrm>
            <a:off x="8458200" y="4864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Конкретная дата / квартал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45"/>
          <p:cNvSpPr/>
          <p:nvPr/>
        </p:nvSpPr>
        <p:spPr>
          <a:xfrm>
            <a:off x="6126480" y="52120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source_doc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46"/>
          <p:cNvSpPr/>
          <p:nvPr/>
        </p:nvSpPr>
        <p:spPr>
          <a:xfrm>
            <a:off x="8458200" y="52120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Название ВНД-документа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47"/>
          <p:cNvSpPr/>
          <p:nvPr/>
        </p:nvSpPr>
        <p:spPr>
          <a:xfrm>
            <a:off x="6126480" y="55594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source_quote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48"/>
          <p:cNvSpPr/>
          <p:nvPr/>
        </p:nvSpPr>
        <p:spPr>
          <a:xfrm>
            <a:off x="8458200" y="55594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Цитата из 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49"/>
          <p:cNvSpPr/>
          <p:nvPr/>
        </p:nvSpPr>
        <p:spPr>
          <a:xfrm>
            <a:off x="6126480" y="59068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smart_index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50"/>
          <p:cNvSpPr/>
          <p:nvPr/>
        </p:nvSpPr>
        <p:spPr>
          <a:xfrm>
            <a:off x="8458200" y="59068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Авто-SMART-оценка (0.0–1.0)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51"/>
          <p:cNvSpPr/>
          <p:nvPr/>
        </p:nvSpPr>
        <p:spPr>
          <a:xfrm>
            <a:off x="6126480" y="625464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52"/>
          <p:cNvSpPr/>
          <p:nvPr/>
        </p:nvSpPr>
        <p:spPr>
          <a:xfrm>
            <a:off x="8458200" y="62546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strategic / functional / operational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53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Rectangle 6"/>
          <p:cNvSpPr/>
          <p:nvPr/>
        </p:nvSpPr>
        <p:spPr>
          <a:xfrm>
            <a:off x="274320" y="1417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5" name="TextBox 7"/>
          <p:cNvSpPr/>
          <p:nvPr/>
        </p:nvSpPr>
        <p:spPr>
          <a:xfrm>
            <a:off x="365760" y="1463040"/>
            <a:ext cx="749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Метод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8"/>
          <p:cNvSpPr/>
          <p:nvPr/>
        </p:nvSpPr>
        <p:spPr>
          <a:xfrm>
            <a:off x="1207080" y="14630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Эндпоинт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9"/>
          <p:cNvSpPr/>
          <p:nvPr/>
        </p:nvSpPr>
        <p:spPr>
          <a:xfrm>
            <a:off x="5623560" y="146304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ectangle 10"/>
          <p:cNvSpPr/>
          <p:nvPr/>
        </p:nvSpPr>
        <p:spPr>
          <a:xfrm>
            <a:off x="274320" y="1847160"/>
            <a:ext cx="11639880" cy="47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9" name="Rectangle 11"/>
          <p:cNvSpPr/>
          <p:nvPr/>
        </p:nvSpPr>
        <p:spPr>
          <a:xfrm>
            <a:off x="347400" y="1911240"/>
            <a:ext cx="731160" cy="328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TextBox 12"/>
          <p:cNvSpPr/>
          <p:nvPr/>
        </p:nvSpPr>
        <p:spPr>
          <a:xfrm>
            <a:off x="347400" y="192024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13"/>
          <p:cNvSpPr/>
          <p:nvPr/>
        </p:nvSpPr>
        <p:spPr>
          <a:xfrm>
            <a:off x="1207080" y="19386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14"/>
          <p:cNvSpPr/>
          <p:nvPr/>
        </p:nvSpPr>
        <p:spPr>
          <a:xfrm>
            <a:off x="5623560" y="193860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ectangle 15"/>
          <p:cNvSpPr/>
          <p:nvPr/>
        </p:nvSpPr>
        <p:spPr>
          <a:xfrm>
            <a:off x="274320" y="2359080"/>
            <a:ext cx="11639880" cy="47520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16"/>
          <p:cNvSpPr/>
          <p:nvPr/>
        </p:nvSpPr>
        <p:spPr>
          <a:xfrm>
            <a:off x="347400" y="2423160"/>
            <a:ext cx="731160" cy="328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17"/>
          <p:cNvSpPr/>
          <p:nvPr/>
        </p:nvSpPr>
        <p:spPr>
          <a:xfrm>
            <a:off x="347400" y="243216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18"/>
          <p:cNvSpPr/>
          <p:nvPr/>
        </p:nvSpPr>
        <p:spPr>
          <a:xfrm>
            <a:off x="1207080" y="24505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9"/>
          <p:cNvSpPr/>
          <p:nvPr/>
        </p:nvSpPr>
        <p:spPr>
          <a:xfrm>
            <a:off x="5623560" y="245052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radar-data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ectangle 20"/>
          <p:cNvSpPr/>
          <p:nvPr/>
        </p:nvSpPr>
        <p:spPr>
          <a:xfrm>
            <a:off x="274320" y="2871360"/>
            <a:ext cx="11639880" cy="47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Rectangle 21"/>
          <p:cNvSpPr/>
          <p:nvPr/>
        </p:nvSpPr>
        <p:spPr>
          <a:xfrm>
            <a:off x="347400" y="2935080"/>
            <a:ext cx="731160" cy="328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0" name="TextBox 22"/>
          <p:cNvSpPr/>
          <p:nvPr/>
        </p:nvSpPr>
        <p:spPr>
          <a:xfrm>
            <a:off x="347400" y="294444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23"/>
          <p:cNvSpPr/>
          <p:nvPr/>
        </p:nvSpPr>
        <p:spPr>
          <a:xfrm>
            <a:off x="1207080" y="29628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24"/>
          <p:cNvSpPr/>
          <p:nvPr/>
        </p:nvSpPr>
        <p:spPr>
          <a:xfrm>
            <a:off x="5623560" y="296280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source_grounding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ectangle 25"/>
          <p:cNvSpPr/>
          <p:nvPr/>
        </p:nvSpPr>
        <p:spPr>
          <a:xfrm>
            <a:off x="274320" y="3383280"/>
            <a:ext cx="11639880" cy="47520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Rectangle 26"/>
          <p:cNvSpPr/>
          <p:nvPr/>
        </p:nvSpPr>
        <p:spPr>
          <a:xfrm>
            <a:off x="347400" y="3447360"/>
            <a:ext cx="731160" cy="328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TextBox 27"/>
          <p:cNvSpPr/>
          <p:nvPr/>
        </p:nvSpPr>
        <p:spPr>
          <a:xfrm>
            <a:off x="347400" y="345636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28"/>
          <p:cNvSpPr/>
          <p:nvPr/>
        </p:nvSpPr>
        <p:spPr>
          <a:xfrm>
            <a:off x="1207080" y="34747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/api/accept-goals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29"/>
          <p:cNvSpPr/>
          <p:nvPr/>
        </p:nvSpPr>
        <p:spPr>
          <a:xfrm>
            <a:off x="5623560" y="347472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ectangle 30"/>
          <p:cNvSpPr/>
          <p:nvPr/>
        </p:nvSpPr>
        <p:spPr>
          <a:xfrm>
            <a:off x="274320" y="3895200"/>
            <a:ext cx="11639880" cy="47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Rectangle 31"/>
          <p:cNvSpPr/>
          <p:nvPr/>
        </p:nvSpPr>
        <p:spPr>
          <a:xfrm>
            <a:off x="347400" y="3959280"/>
            <a:ext cx="731160" cy="328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32"/>
          <p:cNvSpPr/>
          <p:nvPr/>
        </p:nvSpPr>
        <p:spPr>
          <a:xfrm>
            <a:off x="347400" y="396864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33"/>
          <p:cNvSpPr/>
          <p:nvPr/>
        </p:nvSpPr>
        <p:spPr>
          <a:xfrm>
            <a:off x="1207080" y="3986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34"/>
          <p:cNvSpPr/>
          <p:nvPr/>
        </p:nvSpPr>
        <p:spPr>
          <a:xfrm>
            <a:off x="5623560" y="398664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weakest_criterion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Rectangle 35"/>
          <p:cNvSpPr/>
          <p:nvPr/>
        </p:nvSpPr>
        <p:spPr>
          <a:xfrm>
            <a:off x="274320" y="4407480"/>
            <a:ext cx="11639880" cy="47520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4" name="Rectangle 36"/>
          <p:cNvSpPr/>
          <p:nvPr/>
        </p:nvSpPr>
        <p:spPr>
          <a:xfrm>
            <a:off x="347400" y="4471560"/>
            <a:ext cx="731160" cy="328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5" name="TextBox 37"/>
          <p:cNvSpPr/>
          <p:nvPr/>
        </p:nvSpPr>
        <p:spPr>
          <a:xfrm>
            <a:off x="347400" y="448056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Box 38"/>
          <p:cNvSpPr/>
          <p:nvPr/>
        </p:nvSpPr>
        <p:spPr>
          <a:xfrm>
            <a:off x="1207080" y="4498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39"/>
          <p:cNvSpPr/>
          <p:nvPr/>
        </p:nvSpPr>
        <p:spPr>
          <a:xfrm>
            <a:off x="5623560" y="449892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ectangle 40"/>
          <p:cNvSpPr/>
          <p:nvPr/>
        </p:nvSpPr>
        <p:spPr>
          <a:xfrm>
            <a:off x="274320" y="4919400"/>
            <a:ext cx="11639880" cy="47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Rectangle 41"/>
          <p:cNvSpPr/>
          <p:nvPr/>
        </p:nvSpPr>
        <p:spPr>
          <a:xfrm>
            <a:off x="347400" y="4983480"/>
            <a:ext cx="731160" cy="328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42"/>
          <p:cNvSpPr/>
          <p:nvPr/>
        </p:nvSpPr>
        <p:spPr>
          <a:xfrm>
            <a:off x="347400" y="499248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43"/>
          <p:cNvSpPr/>
          <p:nvPr/>
        </p:nvSpPr>
        <p:spPr>
          <a:xfrm>
            <a:off x="1207080" y="5010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4"/>
          <p:cNvSpPr/>
          <p:nvPr/>
        </p:nvSpPr>
        <p:spPr>
          <a:xfrm>
            <a:off x="5623560" y="501084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breakdown · recommendations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ectangle 45"/>
          <p:cNvSpPr/>
          <p:nvPr/>
        </p:nvSpPr>
        <p:spPr>
          <a:xfrm>
            <a:off x="274320" y="5431680"/>
            <a:ext cx="11639880" cy="47520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Rectangle 46"/>
          <p:cNvSpPr/>
          <p:nvPr/>
        </p:nvSpPr>
        <p:spPr>
          <a:xfrm>
            <a:off x="347400" y="5495400"/>
            <a:ext cx="731160" cy="328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TextBox 47"/>
          <p:cNvSpPr/>
          <p:nvPr/>
        </p:nvSpPr>
        <p:spPr>
          <a:xfrm>
            <a:off x="347400" y="550476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48"/>
          <p:cNvSpPr/>
          <p:nvPr/>
        </p:nvSpPr>
        <p:spPr>
          <a:xfrm>
            <a:off x="1207080" y="552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49"/>
          <p:cNvSpPr/>
          <p:nvPr/>
        </p:nvSpPr>
        <p:spPr>
          <a:xfrm>
            <a:off x="5623560" y="552312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ectangle 50"/>
          <p:cNvSpPr/>
          <p:nvPr/>
        </p:nvSpPr>
        <p:spPr>
          <a:xfrm>
            <a:off x="274320" y="5943600"/>
            <a:ext cx="11639880" cy="47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51"/>
          <p:cNvSpPr/>
          <p:nvPr/>
        </p:nvSpPr>
        <p:spPr>
          <a:xfrm>
            <a:off x="347400" y="6007680"/>
            <a:ext cx="731160" cy="328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52"/>
          <p:cNvSpPr/>
          <p:nvPr/>
        </p:nvSpPr>
        <p:spPr>
          <a:xfrm>
            <a:off x="347400" y="6016680"/>
            <a:ext cx="7311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aaaaaa"/>
                </a:solidFill>
                <a:latin typeface="Calibri"/>
              </a:rPr>
              <a:t>GET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53"/>
          <p:cNvSpPr/>
          <p:nvPr/>
        </p:nvSpPr>
        <p:spPr>
          <a:xfrm>
            <a:off x="1207080" y="60350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54"/>
          <p:cNvSpPr/>
          <p:nvPr/>
        </p:nvSpPr>
        <p:spPr>
          <a:xfrm>
            <a:off x="5623560" y="6035040"/>
            <a:ext cx="6309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55"/>
          <p:cNvSpPr/>
          <p:nvPr/>
        </p:nvSpPr>
        <p:spPr>
          <a:xfrm>
            <a:off x="320040" y="65106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📖  </a:t>
            </a: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Swagger UI: http://localhost:8001/docs   ·   ReDoc: http://localhost:8001/redoc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5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11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Данные — что у нас есть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Remote DB организаторов + Local DB AI-результатов + Qdrant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Rectangle 6"/>
          <p:cNvSpPr/>
          <p:nvPr/>
        </p:nvSpPr>
        <p:spPr>
          <a:xfrm>
            <a:off x="274320" y="1426320"/>
            <a:ext cx="1810080" cy="10969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TextBox 7"/>
          <p:cNvSpPr/>
          <p:nvPr/>
        </p:nvSpPr>
        <p:spPr>
          <a:xfrm>
            <a:off x="3657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450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8"/>
          <p:cNvSpPr/>
          <p:nvPr/>
        </p:nvSpPr>
        <p:spPr>
          <a:xfrm>
            <a:off x="3657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сотрудников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Rectangle 9"/>
          <p:cNvSpPr/>
          <p:nvPr/>
        </p:nvSpPr>
        <p:spPr>
          <a:xfrm>
            <a:off x="2212920" y="1426320"/>
            <a:ext cx="1810080" cy="10969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TextBox 10"/>
          <p:cNvSpPr/>
          <p:nvPr/>
        </p:nvSpPr>
        <p:spPr>
          <a:xfrm>
            <a:off x="23043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9 000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1"/>
          <p:cNvSpPr/>
          <p:nvPr/>
        </p:nvSpPr>
        <p:spPr>
          <a:xfrm>
            <a:off x="23043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целей в БД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ectangle 12"/>
          <p:cNvSpPr/>
          <p:nvPr/>
        </p:nvSpPr>
        <p:spPr>
          <a:xfrm>
            <a:off x="4151520" y="1426320"/>
            <a:ext cx="1810080" cy="10969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TextBox 13"/>
          <p:cNvSpPr/>
          <p:nvPr/>
        </p:nvSpPr>
        <p:spPr>
          <a:xfrm>
            <a:off x="42429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160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4"/>
          <p:cNvSpPr/>
          <p:nvPr/>
        </p:nvSpPr>
        <p:spPr>
          <a:xfrm>
            <a:off x="42429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ВНД-документов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ectangle 15"/>
          <p:cNvSpPr/>
          <p:nvPr/>
        </p:nvSpPr>
        <p:spPr>
          <a:xfrm>
            <a:off x="6089760" y="1426320"/>
            <a:ext cx="1810080" cy="10969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16"/>
          <p:cNvSpPr/>
          <p:nvPr/>
        </p:nvSpPr>
        <p:spPr>
          <a:xfrm>
            <a:off x="61812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412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7"/>
          <p:cNvSpPr/>
          <p:nvPr/>
        </p:nvSpPr>
        <p:spPr>
          <a:xfrm>
            <a:off x="61812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векторных чанков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ectangle 18"/>
          <p:cNvSpPr/>
          <p:nvPr/>
        </p:nvSpPr>
        <p:spPr>
          <a:xfrm>
            <a:off x="8028360" y="1426320"/>
            <a:ext cx="1810080" cy="10969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19"/>
          <p:cNvSpPr/>
          <p:nvPr/>
        </p:nvSpPr>
        <p:spPr>
          <a:xfrm>
            <a:off x="81198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20"/>
          <p:cNvSpPr/>
          <p:nvPr/>
        </p:nvSpPr>
        <p:spPr>
          <a:xfrm>
            <a:off x="81198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подразделений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21"/>
          <p:cNvSpPr/>
          <p:nvPr/>
        </p:nvSpPr>
        <p:spPr>
          <a:xfrm>
            <a:off x="9966960" y="1426320"/>
            <a:ext cx="1810080" cy="109692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22"/>
          <p:cNvSpPr/>
          <p:nvPr/>
        </p:nvSpPr>
        <p:spPr>
          <a:xfrm>
            <a:off x="100584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23"/>
          <p:cNvSpPr/>
          <p:nvPr/>
        </p:nvSpPr>
        <p:spPr>
          <a:xfrm>
            <a:off x="100584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KPI-метрик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Rectangle 24"/>
          <p:cNvSpPr/>
          <p:nvPr/>
        </p:nvSpPr>
        <p:spPr>
          <a:xfrm>
            <a:off x="274320" y="2743200"/>
            <a:ext cx="539460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9" name="Rectangle 25"/>
          <p:cNvSpPr/>
          <p:nvPr/>
        </p:nvSpPr>
        <p:spPr>
          <a:xfrm>
            <a:off x="274320" y="2743200"/>
            <a:ext cx="539460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TextBox 26"/>
          <p:cNvSpPr/>
          <p:nvPr/>
        </p:nvSpPr>
        <p:spPr>
          <a:xfrm>
            <a:off x="457200" y="280728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🟣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Remote PostgreSQL (readonly)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ectangle 27"/>
          <p:cNvSpPr/>
          <p:nvPr/>
        </p:nvSpPr>
        <p:spPr>
          <a:xfrm>
            <a:off x="411480" y="324612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2" name="TextBox 28"/>
          <p:cNvSpPr/>
          <p:nvPr/>
        </p:nvSpPr>
        <p:spPr>
          <a:xfrm>
            <a:off x="502920" y="33008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Box 29"/>
          <p:cNvSpPr/>
          <p:nvPr/>
        </p:nvSpPr>
        <p:spPr>
          <a:xfrm>
            <a:off x="2103120" y="333756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full_name, position_id, department_id, manager_id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Rectangle 30"/>
          <p:cNvSpPr/>
          <p:nvPr/>
        </p:nvSpPr>
        <p:spPr>
          <a:xfrm>
            <a:off x="411480" y="388620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31"/>
          <p:cNvSpPr/>
          <p:nvPr/>
        </p:nvSpPr>
        <p:spPr>
          <a:xfrm>
            <a:off x="502920" y="39409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32"/>
          <p:cNvSpPr/>
          <p:nvPr/>
        </p:nvSpPr>
        <p:spPr>
          <a:xfrm>
            <a:off x="2103120" y="397764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goal_id, employee_id, goal_text, weight, quarter, year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ectangle 33"/>
          <p:cNvSpPr/>
          <p:nvPr/>
        </p:nvSpPr>
        <p:spPr>
          <a:xfrm>
            <a:off x="411480" y="452628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TextBox 34"/>
          <p:cNvSpPr/>
          <p:nvPr/>
        </p:nvSpPr>
        <p:spPr>
          <a:xfrm>
            <a:off x="502920" y="4581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departments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35"/>
          <p:cNvSpPr/>
          <p:nvPr/>
        </p:nvSpPr>
        <p:spPr>
          <a:xfrm>
            <a:off x="2103120" y="461772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name, is_active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Rectangle 36"/>
          <p:cNvSpPr/>
          <p:nvPr/>
        </p:nvSpPr>
        <p:spPr>
          <a:xfrm>
            <a:off x="411480" y="516636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37"/>
          <p:cNvSpPr/>
          <p:nvPr/>
        </p:nvSpPr>
        <p:spPr>
          <a:xfrm>
            <a:off x="502920" y="52210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38"/>
          <p:cNvSpPr/>
          <p:nvPr/>
        </p:nvSpPr>
        <p:spPr>
          <a:xfrm>
            <a:off x="2103120" y="525780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title, content (полный текст ВНД)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39"/>
          <p:cNvSpPr/>
          <p:nvPr/>
        </p:nvSpPr>
        <p:spPr>
          <a:xfrm>
            <a:off x="411480" y="580644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40"/>
          <p:cNvSpPr/>
          <p:nvPr/>
        </p:nvSpPr>
        <p:spPr>
          <a:xfrm>
            <a:off x="502920" y="58611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kpi_timeseries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41"/>
          <p:cNvSpPr/>
          <p:nvPr/>
        </p:nvSpPr>
        <p:spPr>
          <a:xfrm>
            <a:off x="2103120" y="589788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metric_key, department_id, value_num, period_date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ectangle 42"/>
          <p:cNvSpPr/>
          <p:nvPr/>
        </p:nvSpPr>
        <p:spPr>
          <a:xfrm>
            <a:off x="5943600" y="2743200"/>
            <a:ext cx="598896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7" name="Rectangle 43"/>
          <p:cNvSpPr/>
          <p:nvPr/>
        </p:nvSpPr>
        <p:spPr>
          <a:xfrm>
            <a:off x="5943600" y="2743200"/>
            <a:ext cx="598896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TextBox 44"/>
          <p:cNvSpPr/>
          <p:nvPr/>
        </p:nvSpPr>
        <p:spPr>
          <a:xfrm>
            <a:off x="6126480" y="280728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Local PostgreSQL (Alembic) +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Rectangle 45"/>
          <p:cNvSpPr/>
          <p:nvPr/>
        </p:nvSpPr>
        <p:spPr>
          <a:xfrm>
            <a:off x="6080760" y="324612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0" name="TextBox 46"/>
          <p:cNvSpPr/>
          <p:nvPr/>
        </p:nvSpPr>
        <p:spPr>
          <a:xfrm>
            <a:off x="6172200" y="33008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ai_evaluations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47"/>
          <p:cNvSpPr/>
          <p:nvPr/>
        </p:nvSpPr>
        <p:spPr>
          <a:xfrm>
            <a:off x="8503920" y="333756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scores_json, overall_index, goal_type, alignment_level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ectangle 48"/>
          <p:cNvSpPr/>
          <p:nvPr/>
        </p:nvSpPr>
        <p:spPr>
          <a:xfrm>
            <a:off x="6080760" y="3886200"/>
            <a:ext cx="566892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TextBox 49"/>
          <p:cNvSpPr/>
          <p:nvPr/>
        </p:nvSpPr>
        <p:spPr>
          <a:xfrm>
            <a:off x="6172200" y="394092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ai_generated_goals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50"/>
          <p:cNvSpPr/>
          <p:nvPr/>
        </p:nvSpPr>
        <p:spPr>
          <a:xfrm>
            <a:off x="8503920" y="397764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context_json, warnings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ectangle 51"/>
          <p:cNvSpPr/>
          <p:nvPr/>
        </p:nvSpPr>
        <p:spPr>
          <a:xfrm>
            <a:off x="6080760" y="452628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6" name="TextBox 52"/>
          <p:cNvSpPr/>
          <p:nvPr/>
        </p:nvSpPr>
        <p:spPr>
          <a:xfrm>
            <a:off x="6172200" y="458100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3"/>
          <p:cNvSpPr/>
          <p:nvPr/>
        </p:nvSpPr>
        <p:spPr>
          <a:xfrm>
            <a:off x="8503920" y="461772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accepted_count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ectangle 54"/>
          <p:cNvSpPr/>
          <p:nvPr/>
        </p:nvSpPr>
        <p:spPr>
          <a:xfrm>
            <a:off x="5943600" y="5394960"/>
            <a:ext cx="5988960" cy="1188360"/>
          </a:xfrm>
          <a:prstGeom prst="rect">
            <a:avLst/>
          </a:prstGeom>
          <a:solidFill>
            <a:srgbClr val="fff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Rectangle 55"/>
          <p:cNvSpPr/>
          <p:nvPr/>
        </p:nvSpPr>
        <p:spPr>
          <a:xfrm>
            <a:off x="5943600" y="5394960"/>
            <a:ext cx="5988960" cy="347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TextBox 56"/>
          <p:cNvSpPr/>
          <p:nvPr/>
        </p:nvSpPr>
        <p:spPr>
          <a:xfrm>
            <a:off x="6126480" y="5440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🟡  </a:t>
            </a: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Qdrant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57"/>
          <p:cNvSpPr/>
          <p:nvPr/>
        </p:nvSpPr>
        <p:spPr>
          <a:xfrm>
            <a:off x="6035040" y="5824800"/>
            <a:ext cx="5760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Qdrant:  collection=vnd_documents  ·  model=paraphrase-multilingual-MiniLM-L12-v2  ·  384d  ·  cosine  ·  412 chunks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5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12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2"/>
          <p:cNvSpPr/>
          <p:nvPr/>
        </p:nvSpPr>
        <p:spPr>
          <a:xfrm>
            <a:off x="0" y="6400800"/>
            <a:ext cx="12188520" cy="1825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4"/>
          <p:cNvSpPr/>
          <p:nvPr/>
        </p:nvSpPr>
        <p:spPr>
          <a:xfrm>
            <a:off x="457200" y="182880"/>
            <a:ext cx="1127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Запуск за 3 команды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5"/>
          <p:cNvSpPr/>
          <p:nvPr/>
        </p:nvSpPr>
        <p:spPr>
          <a:xfrm>
            <a:off x="457200" y="749880"/>
            <a:ext cx="112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e8a838"/>
                </a:solidFill>
                <a:latin typeface="Calibri"/>
              </a:rPr>
              <a:t>http://localhost:3000  ·  http://localhost:8001/docs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Rectangle 6"/>
          <p:cNvSpPr/>
          <p:nvPr/>
        </p:nvSpPr>
        <p:spPr>
          <a:xfrm>
            <a:off x="274320" y="132588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9" name="Rectangle 7"/>
          <p:cNvSpPr/>
          <p:nvPr/>
        </p:nvSpPr>
        <p:spPr>
          <a:xfrm>
            <a:off x="274320" y="132588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0" name="TextBox 8"/>
          <p:cNvSpPr/>
          <p:nvPr/>
        </p:nvSpPr>
        <p:spPr>
          <a:xfrm>
            <a:off x="274320" y="164592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9"/>
          <p:cNvSpPr/>
          <p:nvPr/>
        </p:nvSpPr>
        <p:spPr>
          <a:xfrm>
            <a:off x="868680" y="141732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up --build -d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10"/>
          <p:cNvSpPr/>
          <p:nvPr/>
        </p:nvSpPr>
        <p:spPr>
          <a:xfrm>
            <a:off x="868680" y="187452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Поднять все 4 контейнера: local-db · qdrant · hr-api · hr-frontend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ectangle 11"/>
          <p:cNvSpPr/>
          <p:nvPr/>
        </p:nvSpPr>
        <p:spPr>
          <a:xfrm>
            <a:off x="274320" y="251460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12"/>
          <p:cNvSpPr/>
          <p:nvPr/>
        </p:nvSpPr>
        <p:spPr>
          <a:xfrm>
            <a:off x="274320" y="251460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TextBox 13"/>
          <p:cNvSpPr/>
          <p:nvPr/>
        </p:nvSpPr>
        <p:spPr>
          <a:xfrm>
            <a:off x="274320" y="283464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14"/>
          <p:cNvSpPr/>
          <p:nvPr/>
        </p:nvSpPr>
        <p:spPr>
          <a:xfrm>
            <a:off x="868680" y="260604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alembic upgrade head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5"/>
          <p:cNvSpPr/>
          <p:nvPr/>
        </p:nvSpPr>
        <p:spPr>
          <a:xfrm>
            <a:off x="868680" y="306324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Создать таблицы AI-результатов в local-db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ectangle 16"/>
          <p:cNvSpPr/>
          <p:nvPr/>
        </p:nvSpPr>
        <p:spPr>
          <a:xfrm>
            <a:off x="274320" y="370332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Rectangle 17"/>
          <p:cNvSpPr/>
          <p:nvPr/>
        </p:nvSpPr>
        <p:spPr>
          <a:xfrm>
            <a:off x="274320" y="370332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0" name="TextBox 18"/>
          <p:cNvSpPr/>
          <p:nvPr/>
        </p:nvSpPr>
        <p:spPr>
          <a:xfrm>
            <a:off x="274320" y="402336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19"/>
          <p:cNvSpPr/>
          <p:nvPr/>
        </p:nvSpPr>
        <p:spPr>
          <a:xfrm>
            <a:off x="868680" y="379476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python -m scripts.ingest_docs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20"/>
          <p:cNvSpPr/>
          <p:nvPr/>
        </p:nvSpPr>
        <p:spPr>
          <a:xfrm>
            <a:off x="868680" y="425196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Загрузить 160 ВНД в Qdrant — embeddings + chunking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21"/>
          <p:cNvSpPr/>
          <p:nvPr/>
        </p:nvSpPr>
        <p:spPr>
          <a:xfrm>
            <a:off x="457200" y="48920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Демо-сценарии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2"/>
          <p:cNvSpPr/>
          <p:nvPr/>
        </p:nvSpPr>
        <p:spPr>
          <a:xfrm>
            <a:off x="3657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🔴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Слабая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23"/>
          <p:cNvSpPr/>
          <p:nvPr/>
        </p:nvSpPr>
        <p:spPr>
          <a:xfrm>
            <a:off x="2377440" y="532188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«Улучшить работу» → smart_index &lt; 0.5 + переформулировка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24"/>
          <p:cNvSpPr/>
          <p:nvPr/>
        </p:nvSpPr>
        <p:spPr>
          <a:xfrm>
            <a:off x="63093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Сильная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25"/>
          <p:cNvSpPr/>
          <p:nvPr/>
        </p:nvSpPr>
        <p:spPr>
          <a:xfrm>
            <a:off x="8321040" y="532188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«Сократить задержку ETL на 20% к 30.04.2026» → &gt; 0.85, strategic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26"/>
          <p:cNvSpPr/>
          <p:nvPr/>
        </p:nvSpPr>
        <p:spPr>
          <a:xfrm>
            <a:off x="3657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✨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Генерация: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27"/>
          <p:cNvSpPr/>
          <p:nvPr/>
        </p:nvSpPr>
        <p:spPr>
          <a:xfrm>
            <a:off x="2377440" y="583380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employee 269, Q3 2025, focus=цифровизация → 3–5 целей + source_doc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28"/>
          <p:cNvSpPr/>
          <p:nvPr/>
        </p:nvSpPr>
        <p:spPr>
          <a:xfrm>
            <a:off x="63093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📦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Пакетная: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29"/>
          <p:cNvSpPr/>
          <p:nvPr/>
        </p:nvSpPr>
        <p:spPr>
          <a:xfrm>
            <a:off x="8321040" y="583380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evaluate-batch для Воронцовой (20 целей) → avg_index +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3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13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Rectangle 2"/>
          <p:cNvSpPr/>
          <p:nvPr/>
        </p:nvSpPr>
        <p:spPr>
          <a:xfrm>
            <a:off x="-72720" y="595260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9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4 страницы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30"/>
          <p:cNvSpPr/>
          <p:nvPr/>
        </p:nvSpPr>
        <p:spPr>
          <a:xfrm>
            <a:off x="457200" y="630936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9bbee"/>
                </a:solidFill>
                <a:latin typeface="Calibri"/>
              </a:rPr>
              <a:t>Frontend: http://localhost:3000   ·   API: http://localhost:8001/docs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14 /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2026-03-18T03:08:01Z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