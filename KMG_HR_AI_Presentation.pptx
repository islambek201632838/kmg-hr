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4852DA-4B94-4400-97C7-E01C0FE458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7C523B6-918A-4427-A45E-0D42B18804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BAD0195-8B06-4538-98F9-99A1F17544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D65D677-A9DD-4115-B60B-5D6D958736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EDABC46-108C-4118-BC82-AC7C14CBA3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7BA8D83-AAE0-4555-9B10-76B23BA090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68528A8-F604-4DE2-A6C4-3B92C6EDEF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8373185-6D93-4EFA-A12C-9C77790A7B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65F14B4-FA1C-4716-B8F4-B1F5D6EE4D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1372E1E-162E-452E-B474-029587511C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C2FCF724-DDE2-4E9A-8B69-DB48791A9D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AF0F59-E324-4DD4-AFF1-C266866B7BD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A3D8A4-C88F-41B7-8BF9-0AC75353D7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0C2005-75B3-422E-A23D-46311E31F4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9D1D83-C555-45A6-B764-7BDB14FACEB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E25E29-E4F1-49AE-98A2-662E3E40C2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2670DE-843E-4801-82FE-CA9465319F9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A14331-4945-4426-8378-B59A6EFC7A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4B2B7F-723F-4B1C-A4A5-E8C211B362D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358E6A-8A82-499F-AD65-419999FE39B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61EEDD-24F8-41A6-9F3F-4423F9DCAF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4A8268-818D-4F0A-BBE6-2DCC1A06DF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211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gemini-embedding-001 (3072d)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138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Оптимизации оценки и хранения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Кеш · дедупликация · порог качества · управление целями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274320" y="14630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ectangle 7"/>
          <p:cNvSpPr/>
          <p:nvPr/>
        </p:nvSpPr>
        <p:spPr>
          <a:xfrm>
            <a:off x="274320" y="1463040"/>
            <a:ext cx="109440" cy="914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8"/>
          <p:cNvSpPr/>
          <p:nvPr/>
        </p:nvSpPr>
        <p:spPr>
          <a:xfrm>
            <a:off x="457200" y="155448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✅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9"/>
          <p:cNvSpPr/>
          <p:nvPr/>
        </p:nvSpPr>
        <p:spPr>
          <a:xfrm>
            <a:off x="1005840" y="15361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Кеш AI-оценок в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1005840" y="18471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evaluate-batch проверяет local DB: если цель уже оценена — берёт из кеша, не тратит Gemini.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Только новые цели отправляются в AI. Повторный запуск за ~100ms вместо ~10s.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274320" y="233172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2"/>
          <p:cNvSpPr/>
          <p:nvPr/>
        </p:nvSpPr>
        <p:spPr>
          <a:xfrm>
            <a:off x="274320" y="2331720"/>
            <a:ext cx="109440" cy="914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3"/>
          <p:cNvSpPr/>
          <p:nvPr/>
        </p:nvSpPr>
        <p:spPr>
          <a:xfrm>
            <a:off x="457200" y="242316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🔄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4"/>
          <p:cNvSpPr/>
          <p:nvPr/>
        </p:nvSpPr>
        <p:spPr>
          <a:xfrm>
            <a:off x="1005840" y="240480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Дедупликация оценок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15"/>
          <p:cNvSpPr/>
          <p:nvPr/>
        </p:nvSpPr>
        <p:spPr>
          <a:xfrm>
            <a:off x="1005840" y="271584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 повторной оценке старая запись удаляется (DELETE WHERE goal_id/goal_text).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БД всегда одна оценка на цель — дашборд не искажается дублями.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Rectangle 16"/>
          <p:cNvSpPr/>
          <p:nvPr/>
        </p:nvSpPr>
        <p:spPr>
          <a:xfrm>
            <a:off x="274320" y="320040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Rectangle 17"/>
          <p:cNvSpPr/>
          <p:nvPr/>
        </p:nvSpPr>
        <p:spPr>
          <a:xfrm>
            <a:off x="274320" y="3200400"/>
            <a:ext cx="109440" cy="914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TextBox 18"/>
          <p:cNvSpPr/>
          <p:nvPr/>
        </p:nvSpPr>
        <p:spPr>
          <a:xfrm>
            <a:off x="457200" y="329184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19"/>
          <p:cNvSpPr/>
          <p:nvPr/>
        </p:nvSpPr>
        <p:spPr>
          <a:xfrm>
            <a:off x="1005840" y="327348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Порог сохранения: smart_index ≥ 0.7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20"/>
          <p:cNvSpPr/>
          <p:nvPr/>
        </p:nvSpPr>
        <p:spPr>
          <a:xfrm>
            <a:off x="1005840" y="358452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evaluate-goal — превью, не сохраняет в БД. Кнопка «Сохранить» активна только при ≥ 0.7.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Слабые цели не попадают в дашборд — только проходные.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ectangle 21"/>
          <p:cNvSpPr/>
          <p:nvPr/>
        </p:nvSpPr>
        <p:spPr>
          <a:xfrm>
            <a:off x="274320" y="406908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22"/>
          <p:cNvSpPr/>
          <p:nvPr/>
        </p:nvSpPr>
        <p:spPr>
          <a:xfrm>
            <a:off x="274320" y="4069080"/>
            <a:ext cx="109440" cy="91404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23"/>
          <p:cNvSpPr/>
          <p:nvPr/>
        </p:nvSpPr>
        <p:spPr>
          <a:xfrm>
            <a:off x="457200" y="416052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24"/>
          <p:cNvSpPr/>
          <p:nvPr/>
        </p:nvSpPr>
        <p:spPr>
          <a:xfrm>
            <a:off x="1005840" y="414216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44336"/>
                </a:solidFill>
                <a:latin typeface="Calibri"/>
              </a:rPr>
              <a:t>Удаление manual-целей с низким скором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25"/>
          <p:cNvSpPr/>
          <p:nvPr/>
        </p:nvSpPr>
        <p:spPr>
          <a:xfrm>
            <a:off x="1005840" y="44532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пакетной оценке manual-цели с индексом &lt; 0.7 показывают кнопку «Удалить».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DELETE /api/evaluation/{id} — карточка исчезает, БД очищается.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 26"/>
          <p:cNvSpPr/>
          <p:nvPr/>
        </p:nvSpPr>
        <p:spPr>
          <a:xfrm>
            <a:off x="274320" y="493776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7"/>
          <p:cNvSpPr/>
          <p:nvPr/>
        </p:nvSpPr>
        <p:spPr>
          <a:xfrm>
            <a:off x="274320" y="4937760"/>
            <a:ext cx="109440" cy="9140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28"/>
          <p:cNvSpPr/>
          <p:nvPr/>
        </p:nvSpPr>
        <p:spPr>
          <a:xfrm>
            <a:off x="457200" y="502920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29"/>
          <p:cNvSpPr/>
          <p:nvPr/>
        </p:nvSpPr>
        <p:spPr>
          <a:xfrm>
            <a:off x="1005840" y="501084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Параллельность + retry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30"/>
          <p:cNvSpPr/>
          <p:nvPr/>
        </p:nvSpPr>
        <p:spPr>
          <a:xfrm>
            <a:off x="1005840" y="532188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asyncio.gather для batch (5 целей за ~8 сек). Gemini 429 retry: 2→5→10→20→40 сек.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Кеш сотрудников 5 мин (360ms → 62ms). Pool 10+10, pre_ping, recycle=3600.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ectangle 31"/>
          <p:cNvSpPr/>
          <p:nvPr/>
        </p:nvSpPr>
        <p:spPr>
          <a:xfrm>
            <a:off x="274320" y="580644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32"/>
          <p:cNvSpPr/>
          <p:nvPr/>
        </p:nvSpPr>
        <p:spPr>
          <a:xfrm>
            <a:off x="274320" y="5806440"/>
            <a:ext cx="109440" cy="91404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33"/>
          <p:cNvSpPr/>
          <p:nvPr/>
        </p:nvSpPr>
        <p:spPr>
          <a:xfrm>
            <a:off x="457200" y="58978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34"/>
          <p:cNvSpPr/>
          <p:nvPr/>
        </p:nvSpPr>
        <p:spPr>
          <a:xfrm>
            <a:off x="1005840" y="58795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ACID-транзакции (race condition protection)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35"/>
          <p:cNvSpPr/>
          <p:nvPr/>
        </p:nvSpPr>
        <p:spPr>
          <a:xfrm>
            <a:off x="1005840" y="61905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SELECT FOR UPDATE → DELETE → INSERT → один COMMIT. Второй параллельный запрос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ждёт на FOR UPDATE пока первый не закоммитит. Дубли и потеря данных невозможны.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45720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Picture 58" descr="qr_docs.png"/>
          <p:cNvPicPr/>
          <p:nvPr/>
        </p:nvPicPr>
        <p:blipFill>
          <a:blip r:embed="rId1"/>
          <a:stretch/>
        </p:blipFill>
        <p:spPr>
          <a:xfrm>
            <a:off x="10058400" y="457200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234" name="TextBox 59"/>
          <p:cNvSpPr/>
          <p:nvPr/>
        </p:nvSpPr>
        <p:spPr>
          <a:xfrm>
            <a:off x="10058400" y="6263640"/>
            <a:ext cx="1645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Swagger /docs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Roadmap — рекомендации по развитию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MVP к production-решению для 10 000+ сотрудников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45720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9"/>
          <p:cNvSpPr/>
          <p:nvPr/>
        </p:nvSpPr>
        <p:spPr>
          <a:xfrm>
            <a:off x="96012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Keycloak SSO + RBAC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0"/>
          <p:cNvSpPr/>
          <p:nvPr/>
        </p:nvSpPr>
        <p:spPr>
          <a:xfrm>
            <a:off x="45720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SSO через Active Directory / Keycloak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JWT-токены, роли: сотрудник / руководитель / HR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Убрать выбор сотрудника — автоматически по логину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11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ectangle 12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641916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📄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4"/>
          <p:cNvSpPr/>
          <p:nvPr/>
        </p:nvSpPr>
        <p:spPr>
          <a:xfrm>
            <a:off x="692208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Парсинг реальных ВНД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5"/>
          <p:cNvSpPr/>
          <p:nvPr/>
        </p:nvSpPr>
        <p:spPr>
          <a:xfrm>
            <a:off x="641916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Word (.docx) и PDF с таблицами, списками, OCR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Adaptive chunking по заголовкам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Версионирование: автообновление Qdrant при изменении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16"/>
          <p:cNvSpPr/>
          <p:nvPr/>
        </p:nvSpPr>
        <p:spPr>
          <a:xfrm>
            <a:off x="27432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17"/>
          <p:cNvSpPr/>
          <p:nvPr/>
        </p:nvSpPr>
        <p:spPr>
          <a:xfrm>
            <a:off x="274320" y="3977640"/>
            <a:ext cx="91080" cy="233136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18"/>
          <p:cNvSpPr/>
          <p:nvPr/>
        </p:nvSpPr>
        <p:spPr>
          <a:xfrm>
            <a:off x="457200" y="4114800"/>
            <a:ext cx="456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🖥️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19"/>
          <p:cNvSpPr/>
          <p:nvPr/>
        </p:nvSpPr>
        <p:spPr>
          <a:xfrm>
            <a:off x="96012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44336"/>
                </a:solidFill>
                <a:latin typeface="Calibri"/>
              </a:rPr>
              <a:t>GPU-кластер / локальная LLM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20"/>
          <p:cNvSpPr/>
          <p:nvPr/>
        </p:nvSpPr>
        <p:spPr>
          <a:xfrm>
            <a:off x="45720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ВНД = конфиденциальные данные, нельзя в облако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vLLM + Llama 3 / Mistral на NVIDIA A100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Полная автономность, без rate limits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21"/>
          <p:cNvSpPr/>
          <p:nvPr/>
        </p:nvSpPr>
        <p:spPr>
          <a:xfrm>
            <a:off x="623628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Rectangle 22"/>
          <p:cNvSpPr/>
          <p:nvPr/>
        </p:nvSpPr>
        <p:spPr>
          <a:xfrm>
            <a:off x="6236280" y="397764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23"/>
          <p:cNvSpPr/>
          <p:nvPr/>
        </p:nvSpPr>
        <p:spPr>
          <a:xfrm>
            <a:off x="6419160" y="4114800"/>
            <a:ext cx="456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24"/>
          <p:cNvSpPr/>
          <p:nvPr/>
        </p:nvSpPr>
        <p:spPr>
          <a:xfrm>
            <a:off x="692208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Масштабирование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25"/>
          <p:cNvSpPr/>
          <p:nvPr/>
        </p:nvSpPr>
        <p:spPr>
          <a:xfrm>
            <a:off x="641916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Kubernetes HPA + 3 реплики API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Redis: rate limiting + кеш + Celery очередь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Gunicorn + N workers вместо 1 uvicorn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2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457200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1371600"/>
            <a:ext cx="1127412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457200" y="2743200"/>
            <a:ext cx="1127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e8a838"/>
                </a:solidFill>
                <a:latin typeface="Calibri"/>
              </a:rPr>
              <a:t>KMG HR AI — оценка и генерация целей сотрудников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7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2026-03-30T12:57:44Z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