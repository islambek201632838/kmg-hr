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4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B66340-B793-40B6-8A90-D81D7BCD31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9855222-2B77-4FB1-AA42-8805AADCF6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A34C48C-FD2B-4B65-A796-7D1E42B9F24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A5AFF20-EB89-43E7-9E50-56A805BFC1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246DB06-F418-405F-8805-EEA9802491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7347CA8-A467-4847-93BE-32C1E5DA35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F868911-2EBD-4375-B881-6C86BF9903A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15F257A-FFED-4E74-9FA1-B463887D50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15B9A108-B9A3-4A70-81E4-80A1596106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E9A3CC5A-4F04-4874-A5E5-4E6CF865470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840D27A-DD8D-45AB-8CF9-ADA8888E42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5585DA-93C4-419E-BDE7-7E6F35CBFE5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7578726-A611-4ACD-B9CE-FE864DE74E3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B2C6EE-E5BC-4638-8BE7-0FA22D8716A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D51588-13D7-46A3-8C13-4A2AE3AD74E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k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o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d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a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r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i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y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l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C6D405C-86DD-4538-991B-9A0FB752F15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32CC9E2-BB2F-49DE-8BAD-C5E1F29738A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0378E6-8FCD-4B48-B498-C788B21EEE6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243FC2-CBE7-49BE-94AE-8279C8DECE4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006F7F6-1A5E-4628-BF87-46F1537C2CF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B55BD5-C160-4E1C-B2A4-0BA345413FA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8F765C-19C7-4D6C-A098-D0A877D6C04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5212080"/>
            <a:ext cx="12188520" cy="20088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457200" y="914400"/>
            <a:ext cx="112741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KMG HR AI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457200" y="2377440"/>
            <a:ext cx="112741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e8a838"/>
                </a:solidFill>
                <a:latin typeface="Calibri"/>
              </a:rPr>
              <a:t>AI-модуль оценки и генерации целей сотрудников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457200" y="315468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ccddff"/>
                </a:solidFill>
                <a:latin typeface="Calibri"/>
              </a:rPr>
              <a:t>RAG + LLM  ·  FastAPI  ·  React  ·  Qdrant  ·  Gemini Flash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457200" y="4572000"/>
            <a:ext cx="11274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9aacc"/>
                </a:solidFill>
                <a:latin typeface="Calibri"/>
              </a:rPr>
              <a:t>Хакатон КМГ 2026  ·  Трек: Управление персоналом (HR)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Бизнес-проблема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Почему постановка целей в HR-системах теряет ценность?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274320" y="1417320"/>
            <a:ext cx="5687280" cy="2331360"/>
          </a:xfrm>
          <a:prstGeom prst="rect">
            <a:avLst/>
          </a:prstGeom>
          <a:solidFill>
            <a:srgbClr val="fff3e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274320" y="1417320"/>
            <a:ext cx="91080" cy="233136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47556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⚠️  </a:t>
            </a:r>
            <a:r>
              <a:rPr b="1" lang="en-US" sz="1400" spc="-1" strike="noStrike">
                <a:solidFill>
                  <a:srgbClr val="e65c00"/>
                </a:solidFill>
                <a:latin typeface="Calibri"/>
              </a:rPr>
              <a:t>Размытые формулировки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Box 9"/>
          <p:cNvSpPr/>
          <p:nvPr/>
        </p:nvSpPr>
        <p:spPr>
          <a:xfrm>
            <a:off x="47556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До 60% целей в системе звучат как «улучшить», «развивать», «обеспечить» — без метрик и сроков. Оценить выполнение невозможно.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Rectangle 10"/>
          <p:cNvSpPr/>
          <p:nvPr/>
        </p:nvSpPr>
        <p:spPr>
          <a:xfrm>
            <a:off x="6236280" y="1417320"/>
            <a:ext cx="5687280" cy="2331360"/>
          </a:xfrm>
          <a:prstGeom prst="rect">
            <a:avLst/>
          </a:prstGeom>
          <a:solidFill>
            <a:srgbClr val="e8ea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6236280" y="1417320"/>
            <a:ext cx="91080" cy="2331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6437520" y="15818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📉  </a:t>
            </a: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Нет стратегической связки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6437520" y="20941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Цели сотрудника не коррелируют с KPI подразделения и стратегическими приоритетами компании. Каскадирование не работает.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274320" y="3931920"/>
            <a:ext cx="5687280" cy="233136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Rectangle 15"/>
          <p:cNvSpPr/>
          <p:nvPr/>
        </p:nvSpPr>
        <p:spPr>
          <a:xfrm>
            <a:off x="274320" y="3931920"/>
            <a:ext cx="9108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47556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⏱️  </a:t>
            </a:r>
            <a:r>
              <a:rPr b="1" lang="en-US" sz="1400" spc="-1" strike="noStrike">
                <a:solidFill>
                  <a:srgbClr val="2e7d32"/>
                </a:solidFill>
                <a:latin typeface="Calibri"/>
              </a:rPr>
              <a:t>Ручная рецензия = недели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Box 17"/>
          <p:cNvSpPr/>
          <p:nvPr/>
        </p:nvSpPr>
        <p:spPr>
          <a:xfrm>
            <a:off x="47556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HR-эксперт тратит 15–30 минут на проверку одного набора целей. При 450 сотрудниках — это сотни часов в квартал.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18"/>
          <p:cNvSpPr/>
          <p:nvPr/>
        </p:nvSpPr>
        <p:spPr>
          <a:xfrm>
            <a:off x="6236280" y="3931920"/>
            <a:ext cx="5687280" cy="233136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Rectangle 19"/>
          <p:cNvSpPr/>
          <p:nvPr/>
        </p:nvSpPr>
        <p:spPr>
          <a:xfrm>
            <a:off x="6236280" y="3931920"/>
            <a:ext cx="91080" cy="23313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6437520" y="4096440"/>
            <a:ext cx="5303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📄  </a:t>
            </a:r>
            <a:r>
              <a:rPr b="1" lang="en-US" sz="1400" spc="-1" strike="noStrike">
                <a:solidFill>
                  <a:srgbClr val="6a1b9a"/>
                </a:solidFill>
                <a:latin typeface="Calibri"/>
              </a:rPr>
              <a:t>ВНД остаются мёртвым грузом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6437520" y="4608720"/>
            <a:ext cx="5303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160 корпоративных документов (регламенты, стратегия, политики) не используются при постановке целей. Связь с нормативами — нулевая.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Box 2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2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Бизнес-ценность решения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Измеримый эффект для HR и руководителей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274320" y="1463040"/>
            <a:ext cx="2742840" cy="25599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41148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~80%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41148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получают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SMART-оценку за секунды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9"/>
          <p:cNvSpPr/>
          <p:nvPr/>
        </p:nvSpPr>
        <p:spPr>
          <a:xfrm>
            <a:off x="41148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Вместо недель ручной рецензии — мгновенный feedback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ectangle 10"/>
          <p:cNvSpPr/>
          <p:nvPr/>
        </p:nvSpPr>
        <p:spPr>
          <a:xfrm>
            <a:off x="3200400" y="1463040"/>
            <a:ext cx="2742840" cy="25599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11"/>
          <p:cNvSpPr/>
          <p:nvPr/>
        </p:nvSpPr>
        <p:spPr>
          <a:xfrm>
            <a:off x="333756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3–5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333756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готовых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генерируется за 10 сек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13"/>
          <p:cNvSpPr/>
          <p:nvPr/>
        </p:nvSpPr>
        <p:spPr>
          <a:xfrm>
            <a:off x="333756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Привязаны к ВНД, должности и KPI подразделения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ectangle 14"/>
          <p:cNvSpPr/>
          <p:nvPr/>
        </p:nvSpPr>
        <p:spPr>
          <a:xfrm>
            <a:off x="6126480" y="1463040"/>
            <a:ext cx="2742840" cy="25599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5"/>
          <p:cNvSpPr/>
          <p:nvPr/>
        </p:nvSpPr>
        <p:spPr>
          <a:xfrm>
            <a:off x="626364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100%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Box 16"/>
          <p:cNvSpPr/>
          <p:nvPr/>
        </p:nvSpPr>
        <p:spPr>
          <a:xfrm>
            <a:off x="626364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сотрудников охвачено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единым стандартом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Box 17"/>
          <p:cNvSpPr/>
          <p:nvPr/>
        </p:nvSpPr>
        <p:spPr>
          <a:xfrm>
            <a:off x="626364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Автоматическая проверка по 5 SMART-критериям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Rectangle 18"/>
          <p:cNvSpPr/>
          <p:nvPr/>
        </p:nvSpPr>
        <p:spPr>
          <a:xfrm>
            <a:off x="9052560" y="1463040"/>
            <a:ext cx="2742840" cy="255996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TextBox 19"/>
          <p:cNvSpPr/>
          <p:nvPr/>
        </p:nvSpPr>
        <p:spPr>
          <a:xfrm>
            <a:off x="9189720" y="1600200"/>
            <a:ext cx="246852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≥</a:t>
            </a:r>
            <a:r>
              <a:rPr b="1" lang="en-US" sz="4400" spc="-1" strike="noStrike">
                <a:solidFill>
                  <a:srgbClr val="ffffff"/>
                </a:solidFill>
                <a:latin typeface="Calibri"/>
              </a:rPr>
              <a:t>70%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0"/>
          <p:cNvSpPr/>
          <p:nvPr/>
        </p:nvSpPr>
        <p:spPr>
          <a:xfrm>
            <a:off x="9189720" y="2514600"/>
            <a:ext cx="246852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целей проходят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порог качества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Box 21"/>
          <p:cNvSpPr/>
          <p:nvPr/>
        </p:nvSpPr>
        <p:spPr>
          <a:xfrm>
            <a:off x="9189720" y="3383280"/>
            <a:ext cx="246852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ffffff"/>
                </a:solidFill>
                <a:latin typeface="Calibri"/>
              </a:rPr>
              <a:t>Система предлагает переформулировку слабых целей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2"/>
          <p:cNvSpPr/>
          <p:nvPr/>
        </p:nvSpPr>
        <p:spPr>
          <a:xfrm>
            <a:off x="274320" y="4297680"/>
            <a:ext cx="11639880" cy="2194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23"/>
          <p:cNvSpPr/>
          <p:nvPr/>
        </p:nvSpPr>
        <p:spPr>
          <a:xfrm>
            <a:off x="274320" y="4297680"/>
            <a:ext cx="91080" cy="2194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24"/>
          <p:cNvSpPr/>
          <p:nvPr/>
        </p:nvSpPr>
        <p:spPr>
          <a:xfrm>
            <a:off x="502920" y="4407480"/>
            <a:ext cx="10972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a3264"/>
                </a:solidFill>
                <a:latin typeface="Calibri"/>
              </a:rPr>
              <a:t>Для кого и какая ценность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25"/>
          <p:cNvSpPr/>
          <p:nvPr/>
        </p:nvSpPr>
        <p:spPr>
          <a:xfrm>
            <a:off x="50292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👤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Сотрудник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26"/>
          <p:cNvSpPr/>
          <p:nvPr/>
        </p:nvSpPr>
        <p:spPr>
          <a:xfrm>
            <a:off x="50292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Получает мгновенный AI-фидбэк, готовые предложения целей и чёткие рекомендации по улучшению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27"/>
          <p:cNvSpPr/>
          <p:nvPr/>
        </p:nvSpPr>
        <p:spPr>
          <a:xfrm>
            <a:off x="434340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👔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Руководитель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Box 28"/>
          <p:cNvSpPr/>
          <p:nvPr/>
        </p:nvSpPr>
        <p:spPr>
          <a:xfrm>
            <a:off x="434340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Видит SMART-индексы команды, слабые критерии, квартальную динамику — без ручной проверки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9"/>
          <p:cNvSpPr/>
          <p:nvPr/>
        </p:nvSpPr>
        <p:spPr>
          <a:xfrm>
            <a:off x="8183880" y="4846320"/>
            <a:ext cx="3474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🏢  </a:t>
            </a:r>
            <a:r>
              <a:rPr b="1" lang="en-US" sz="1200" spc="-1" strike="noStrike">
                <a:solidFill>
                  <a:srgbClr val="1e5499"/>
                </a:solidFill>
                <a:latin typeface="Calibri"/>
              </a:rPr>
              <a:t>HR-менеджер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30"/>
          <p:cNvSpPr/>
          <p:nvPr/>
        </p:nvSpPr>
        <p:spPr>
          <a:xfrm>
            <a:off x="8183880" y="5230440"/>
            <a:ext cx="35658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Дашборд по 8 подразделениям: стратегическая связка, топ-проблемы, зрелость целеполагания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3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Пользовательский сценарий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От постановки цели до принятия — 3 шага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6"/>
          <p:cNvSpPr/>
          <p:nvPr/>
        </p:nvSpPr>
        <p:spPr>
          <a:xfrm>
            <a:off x="27432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Rectangle 7"/>
          <p:cNvSpPr/>
          <p:nvPr/>
        </p:nvSpPr>
        <p:spPr>
          <a:xfrm>
            <a:off x="274320" y="1417320"/>
            <a:ext cx="3702960" cy="5025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TextBox 8"/>
          <p:cNvSpPr/>
          <p:nvPr/>
        </p:nvSpPr>
        <p:spPr>
          <a:xfrm>
            <a:off x="41148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9"/>
          <p:cNvSpPr/>
          <p:nvPr/>
        </p:nvSpPr>
        <p:spPr>
          <a:xfrm>
            <a:off x="41148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Сотрудник вводит цель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10"/>
          <p:cNvSpPr/>
          <p:nvPr/>
        </p:nvSpPr>
        <p:spPr>
          <a:xfrm>
            <a:off x="411480" y="2331720"/>
            <a:ext cx="3428640" cy="363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45720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себя из списка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12"/>
          <p:cNvSpPr/>
          <p:nvPr/>
        </p:nvSpPr>
        <p:spPr>
          <a:xfrm>
            <a:off x="45720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Указывает квартал и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13"/>
          <p:cNvSpPr/>
          <p:nvPr/>
        </p:nvSpPr>
        <p:spPr>
          <a:xfrm>
            <a:off x="45720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Пишет формулировку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14"/>
          <p:cNvSpPr/>
          <p:nvPr/>
        </p:nvSpPr>
        <p:spPr>
          <a:xfrm>
            <a:off x="27432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15"/>
          <p:cNvSpPr/>
          <p:nvPr/>
        </p:nvSpPr>
        <p:spPr>
          <a:xfrm>
            <a:off x="41148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a3264"/>
                </a:solidFill>
                <a:latin typeface="Calibri"/>
              </a:rPr>
              <a:t>система оценивает за 3–5 сек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16"/>
          <p:cNvSpPr/>
          <p:nvPr/>
        </p:nvSpPr>
        <p:spPr>
          <a:xfrm>
            <a:off x="399600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17"/>
          <p:cNvSpPr/>
          <p:nvPr/>
        </p:nvSpPr>
        <p:spPr>
          <a:xfrm>
            <a:off x="425196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Rectangle 18"/>
          <p:cNvSpPr/>
          <p:nvPr/>
        </p:nvSpPr>
        <p:spPr>
          <a:xfrm>
            <a:off x="4251960" y="1417320"/>
            <a:ext cx="3702960" cy="5025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19"/>
          <p:cNvSpPr/>
          <p:nvPr/>
        </p:nvSpPr>
        <p:spPr>
          <a:xfrm>
            <a:off x="438912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Box 20"/>
          <p:cNvSpPr/>
          <p:nvPr/>
        </p:nvSpPr>
        <p:spPr>
          <a:xfrm>
            <a:off x="438912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AI оценивает и помогает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Rectangle 21"/>
          <p:cNvSpPr/>
          <p:nvPr/>
        </p:nvSpPr>
        <p:spPr>
          <a:xfrm>
            <a:off x="4389120" y="2331720"/>
            <a:ext cx="3428640" cy="3636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22"/>
          <p:cNvSpPr/>
          <p:nvPr/>
        </p:nvSpPr>
        <p:spPr>
          <a:xfrm>
            <a:off x="443484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5 SMART-скоров с прогресс-барами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23"/>
          <p:cNvSpPr/>
          <p:nvPr/>
        </p:nvSpPr>
        <p:spPr>
          <a:xfrm>
            <a:off x="443484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Рекомендации по слабым критериям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24"/>
          <p:cNvSpPr/>
          <p:nvPr/>
        </p:nvSpPr>
        <p:spPr>
          <a:xfrm>
            <a:off x="443484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Готовая переформулировка (если &lt; 0.7)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25"/>
          <p:cNvSpPr/>
          <p:nvPr/>
        </p:nvSpPr>
        <p:spPr>
          <a:xfrm>
            <a:off x="425196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TextBox 26"/>
          <p:cNvSpPr/>
          <p:nvPr/>
        </p:nvSpPr>
        <p:spPr>
          <a:xfrm>
            <a:off x="438912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1e5499"/>
                </a:solidFill>
                <a:latin typeface="Calibri"/>
              </a:rPr>
              <a:t>или нажимает «Сгенерировать цели»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Box 27"/>
          <p:cNvSpPr/>
          <p:nvPr/>
        </p:nvSpPr>
        <p:spPr>
          <a:xfrm>
            <a:off x="7973640" y="3794760"/>
            <a:ext cx="24660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ectangle 28"/>
          <p:cNvSpPr/>
          <p:nvPr/>
        </p:nvSpPr>
        <p:spPr>
          <a:xfrm>
            <a:off x="8229600" y="1417320"/>
            <a:ext cx="37029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" name="Rectangle 29"/>
          <p:cNvSpPr/>
          <p:nvPr/>
        </p:nvSpPr>
        <p:spPr>
          <a:xfrm>
            <a:off x="8229600" y="1417320"/>
            <a:ext cx="3702960" cy="5025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" name="TextBox 30"/>
          <p:cNvSpPr/>
          <p:nvPr/>
        </p:nvSpPr>
        <p:spPr>
          <a:xfrm>
            <a:off x="8366760" y="149040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e8a838"/>
                </a:solidFill>
                <a:latin typeface="Calibri"/>
              </a:rPr>
              <a:t>ШАГ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31"/>
          <p:cNvSpPr/>
          <p:nvPr/>
        </p:nvSpPr>
        <p:spPr>
          <a:xfrm>
            <a:off x="8366760" y="1828800"/>
            <a:ext cx="3382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a1a2e"/>
                </a:solidFill>
                <a:latin typeface="Calibri"/>
              </a:rPr>
              <a:t>Принятие целей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2"/>
          <p:cNvSpPr/>
          <p:nvPr/>
        </p:nvSpPr>
        <p:spPr>
          <a:xfrm>
            <a:off x="8366760" y="2331720"/>
            <a:ext cx="3428640" cy="36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8280" bIns="-8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TextBox 33"/>
          <p:cNvSpPr/>
          <p:nvPr/>
        </p:nvSpPr>
        <p:spPr>
          <a:xfrm>
            <a:off x="8412480" y="2468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AI предлагает 3–5 готовых целей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34"/>
          <p:cNvSpPr/>
          <p:nvPr/>
        </p:nvSpPr>
        <p:spPr>
          <a:xfrm>
            <a:off x="8412480" y="3035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Каждая привязана к документу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35"/>
          <p:cNvSpPr/>
          <p:nvPr/>
        </p:nvSpPr>
        <p:spPr>
          <a:xfrm>
            <a:off x="8412480" y="3602880"/>
            <a:ext cx="3382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• </a:t>
            </a:r>
            <a:r>
              <a:rPr b="0" lang="en-US" sz="1200" spc="-1" strike="noStrike">
                <a:solidFill>
                  <a:srgbClr val="1a1a2e"/>
                </a:solidFill>
                <a:latin typeface="Calibri"/>
              </a:rPr>
              <a:t>Выбирает нужные → «Принять»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Rectangle 36"/>
          <p:cNvSpPr/>
          <p:nvPr/>
        </p:nvSpPr>
        <p:spPr>
          <a:xfrm>
            <a:off x="8229600" y="5897880"/>
            <a:ext cx="3702960" cy="6854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" name="TextBox 37"/>
          <p:cNvSpPr/>
          <p:nvPr/>
        </p:nvSpPr>
        <p:spPr>
          <a:xfrm>
            <a:off x="8366760" y="6035040"/>
            <a:ext cx="33829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→ </a:t>
            </a:r>
            <a:r>
              <a:rPr b="1" i="1" lang="en-US" sz="1100" spc="-1" strike="noStrike">
                <a:solidFill>
                  <a:srgbClr val="2e7d32"/>
                </a:solidFill>
                <a:latin typeface="Calibri"/>
              </a:rPr>
              <a:t>цели сохраняются в систему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Box 3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4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Дашборд качества целеполагания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Для руководителей и HR — единая картина по всей организации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Rectangle 6"/>
          <p:cNvSpPr/>
          <p:nvPr/>
        </p:nvSpPr>
        <p:spPr>
          <a:xfrm>
            <a:off x="274320" y="1417320"/>
            <a:ext cx="1163988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7"/>
          <p:cNvSpPr/>
          <p:nvPr/>
        </p:nvSpPr>
        <p:spPr>
          <a:xfrm>
            <a:off x="274320" y="1417320"/>
            <a:ext cx="1163988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8"/>
          <p:cNvSpPr/>
          <p:nvPr/>
        </p:nvSpPr>
        <p:spPr>
          <a:xfrm>
            <a:off x="457200" y="1481400"/>
            <a:ext cx="7314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Дашборд качества целей   |   2025 год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Rectangle 9"/>
          <p:cNvSpPr/>
          <p:nvPr/>
        </p:nvSpPr>
        <p:spPr>
          <a:xfrm>
            <a:off x="41148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" name="Rectangle 10"/>
          <p:cNvSpPr/>
          <p:nvPr/>
        </p:nvSpPr>
        <p:spPr>
          <a:xfrm>
            <a:off x="411480" y="1965960"/>
            <a:ext cx="1919880" cy="727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11"/>
          <p:cNvSpPr/>
          <p:nvPr/>
        </p:nvSpPr>
        <p:spPr>
          <a:xfrm>
            <a:off x="50292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2e7d32"/>
                </a:solidFill>
                <a:latin typeface="Calibri"/>
              </a:rPr>
              <a:t>0.74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12"/>
          <p:cNvSpPr/>
          <p:nvPr/>
        </p:nvSpPr>
        <p:spPr>
          <a:xfrm>
            <a:off x="50292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Средний SMART-индекс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Rectangle 13"/>
          <p:cNvSpPr/>
          <p:nvPr/>
        </p:nvSpPr>
        <p:spPr>
          <a:xfrm>
            <a:off x="251460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Rectangle 14"/>
          <p:cNvSpPr/>
          <p:nvPr/>
        </p:nvSpPr>
        <p:spPr>
          <a:xfrm>
            <a:off x="2514600" y="1965960"/>
            <a:ext cx="1919880" cy="727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TextBox 15"/>
          <p:cNvSpPr/>
          <p:nvPr/>
        </p:nvSpPr>
        <p:spPr>
          <a:xfrm>
            <a:off x="260604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e5499"/>
                </a:solidFill>
                <a:latin typeface="Calibri"/>
              </a:rPr>
              <a:t>8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Box 16"/>
          <p:cNvSpPr/>
          <p:nvPr/>
        </p:nvSpPr>
        <p:spPr>
          <a:xfrm>
            <a:off x="260604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Подразделений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Rectangle 17"/>
          <p:cNvSpPr/>
          <p:nvPr/>
        </p:nvSpPr>
        <p:spPr>
          <a:xfrm>
            <a:off x="4617720" y="1965960"/>
            <a:ext cx="1919880" cy="9140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" name="Rectangle 18"/>
          <p:cNvSpPr/>
          <p:nvPr/>
        </p:nvSpPr>
        <p:spPr>
          <a:xfrm>
            <a:off x="4617720" y="1965960"/>
            <a:ext cx="1919880" cy="727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TextBox 19"/>
          <p:cNvSpPr/>
          <p:nvPr/>
        </p:nvSpPr>
        <p:spPr>
          <a:xfrm>
            <a:off x="4709160" y="2084760"/>
            <a:ext cx="17370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1a3264"/>
                </a:solidFill>
                <a:latin typeface="Calibri"/>
              </a:rPr>
              <a:t>9 000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0"/>
          <p:cNvSpPr/>
          <p:nvPr/>
        </p:nvSpPr>
        <p:spPr>
          <a:xfrm>
            <a:off x="4709160" y="2578680"/>
            <a:ext cx="17370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aaaaaa"/>
                </a:solidFill>
                <a:latin typeface="Calibri"/>
              </a:rPr>
              <a:t>Всего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Box 21"/>
          <p:cNvSpPr/>
          <p:nvPr/>
        </p:nvSpPr>
        <p:spPr>
          <a:xfrm>
            <a:off x="411480" y="297180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SMART-индекс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Box 22"/>
          <p:cNvSpPr/>
          <p:nvPr/>
        </p:nvSpPr>
        <p:spPr>
          <a:xfrm>
            <a:off x="411480" y="33375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Инфраструктура и DevOps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Rectangle 23"/>
          <p:cNvSpPr/>
          <p:nvPr/>
        </p:nvSpPr>
        <p:spPr>
          <a:xfrm>
            <a:off x="2788920" y="3392280"/>
            <a:ext cx="22215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TextBox 24"/>
          <p:cNvSpPr/>
          <p:nvPr/>
        </p:nvSpPr>
        <p:spPr>
          <a:xfrm>
            <a:off x="5056560" y="33832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0.81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25"/>
          <p:cNvSpPr/>
          <p:nvPr/>
        </p:nvSpPr>
        <p:spPr>
          <a:xfrm>
            <a:off x="411480" y="37400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Данные и аналитика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Rectangle 26"/>
          <p:cNvSpPr/>
          <p:nvPr/>
        </p:nvSpPr>
        <p:spPr>
          <a:xfrm>
            <a:off x="2788920" y="3794760"/>
            <a:ext cx="2111760" cy="2556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27"/>
          <p:cNvSpPr/>
          <p:nvPr/>
        </p:nvSpPr>
        <p:spPr>
          <a:xfrm>
            <a:off x="4946760" y="37857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0.77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28"/>
          <p:cNvSpPr/>
          <p:nvPr/>
        </p:nvSpPr>
        <p:spPr>
          <a:xfrm>
            <a:off x="411480" y="41421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Прикладные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29"/>
          <p:cNvSpPr/>
          <p:nvPr/>
        </p:nvSpPr>
        <p:spPr>
          <a:xfrm>
            <a:off x="2788920" y="4197240"/>
            <a:ext cx="20296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30"/>
          <p:cNvSpPr/>
          <p:nvPr/>
        </p:nvSpPr>
        <p:spPr>
          <a:xfrm>
            <a:off x="4864680" y="41878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0.74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Box 31"/>
          <p:cNvSpPr/>
          <p:nvPr/>
        </p:nvSpPr>
        <p:spPr>
          <a:xfrm>
            <a:off x="411480" y="45446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Учётные системы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tangle 32"/>
          <p:cNvSpPr/>
          <p:nvPr/>
        </p:nvSpPr>
        <p:spPr>
          <a:xfrm>
            <a:off x="2788920" y="4599360"/>
            <a:ext cx="191988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33"/>
          <p:cNvSpPr/>
          <p:nvPr/>
        </p:nvSpPr>
        <p:spPr>
          <a:xfrm>
            <a:off x="4754880" y="45903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0.70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34"/>
          <p:cNvSpPr/>
          <p:nvPr/>
        </p:nvSpPr>
        <p:spPr>
          <a:xfrm>
            <a:off x="411480" y="494676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Цифр. трансформация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35"/>
          <p:cNvSpPr/>
          <p:nvPr/>
        </p:nvSpPr>
        <p:spPr>
          <a:xfrm>
            <a:off x="2788920" y="5001840"/>
            <a:ext cx="1865160" cy="25560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36"/>
          <p:cNvSpPr/>
          <p:nvPr/>
        </p:nvSpPr>
        <p:spPr>
          <a:xfrm>
            <a:off x="4700160" y="499248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0.68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37"/>
          <p:cNvSpPr/>
          <p:nvPr/>
        </p:nvSpPr>
        <p:spPr>
          <a:xfrm>
            <a:off x="411480" y="53492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Корп. менеджмент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ectangle 38"/>
          <p:cNvSpPr/>
          <p:nvPr/>
        </p:nvSpPr>
        <p:spPr>
          <a:xfrm>
            <a:off x="2788920" y="5403960"/>
            <a:ext cx="167292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39"/>
          <p:cNvSpPr/>
          <p:nvPr/>
        </p:nvSpPr>
        <p:spPr>
          <a:xfrm>
            <a:off x="4507920" y="53949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0.61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40"/>
          <p:cNvSpPr/>
          <p:nvPr/>
        </p:nvSpPr>
        <p:spPr>
          <a:xfrm>
            <a:off x="411480" y="575172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Инфобезопасность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41"/>
          <p:cNvSpPr/>
          <p:nvPr/>
        </p:nvSpPr>
        <p:spPr>
          <a:xfrm>
            <a:off x="2788920" y="5806440"/>
            <a:ext cx="16182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42"/>
          <p:cNvSpPr/>
          <p:nvPr/>
        </p:nvSpPr>
        <p:spPr>
          <a:xfrm>
            <a:off x="4453200" y="579744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0.59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43"/>
          <p:cNvSpPr/>
          <p:nvPr/>
        </p:nvSpPr>
        <p:spPr>
          <a:xfrm>
            <a:off x="411480" y="6153840"/>
            <a:ext cx="2285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Сервис-деск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ectangle 44"/>
          <p:cNvSpPr/>
          <p:nvPr/>
        </p:nvSpPr>
        <p:spPr>
          <a:xfrm>
            <a:off x="2788920" y="6208920"/>
            <a:ext cx="1508400" cy="25560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45"/>
          <p:cNvSpPr/>
          <p:nvPr/>
        </p:nvSpPr>
        <p:spPr>
          <a:xfrm>
            <a:off x="4343400" y="6199560"/>
            <a:ext cx="411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a1a2e"/>
                </a:solidFill>
                <a:latin typeface="Calibri"/>
              </a:rPr>
              <a:t>0.55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Rectangle 46"/>
          <p:cNvSpPr/>
          <p:nvPr/>
        </p:nvSpPr>
        <p:spPr>
          <a:xfrm>
            <a:off x="6309360" y="1965960"/>
            <a:ext cx="5486040" cy="457164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" name="Rectangle 47"/>
          <p:cNvSpPr/>
          <p:nvPr/>
        </p:nvSpPr>
        <p:spPr>
          <a:xfrm>
            <a:off x="6309360" y="1965960"/>
            <a:ext cx="548604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48"/>
          <p:cNvSpPr/>
          <p:nvPr/>
        </p:nvSpPr>
        <p:spPr>
          <a:xfrm>
            <a:off x="6446520" y="201168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Топ-проблемы организации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ectangle 49"/>
          <p:cNvSpPr/>
          <p:nvPr/>
        </p:nvSpPr>
        <p:spPr>
          <a:xfrm>
            <a:off x="6446520" y="2423160"/>
            <a:ext cx="502560" cy="4384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50"/>
          <p:cNvSpPr/>
          <p:nvPr/>
        </p:nvSpPr>
        <p:spPr>
          <a:xfrm>
            <a:off x="6446520" y="245988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38%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51"/>
          <p:cNvSpPr/>
          <p:nvPr/>
        </p:nvSpPr>
        <p:spPr>
          <a:xfrm>
            <a:off x="7022520" y="251460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сформулированы как активности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tangle 52"/>
          <p:cNvSpPr/>
          <p:nvPr/>
        </p:nvSpPr>
        <p:spPr>
          <a:xfrm>
            <a:off x="6446520" y="301752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53"/>
          <p:cNvSpPr/>
          <p:nvPr/>
        </p:nvSpPr>
        <p:spPr>
          <a:xfrm>
            <a:off x="6446520" y="305424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72%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54"/>
          <p:cNvSpPr/>
          <p:nvPr/>
        </p:nvSpPr>
        <p:spPr>
          <a:xfrm>
            <a:off x="7022520" y="310896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целей без стратегической связки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Rectangle 55"/>
          <p:cNvSpPr/>
          <p:nvPr/>
        </p:nvSpPr>
        <p:spPr>
          <a:xfrm>
            <a:off x="6446520" y="3611880"/>
            <a:ext cx="502560" cy="4384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" name="TextBox 56"/>
          <p:cNvSpPr/>
          <p:nvPr/>
        </p:nvSpPr>
        <p:spPr>
          <a:xfrm>
            <a:off x="6446520" y="3648600"/>
            <a:ext cx="502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M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Box 57"/>
          <p:cNvSpPr/>
          <p:nvPr/>
        </p:nvSpPr>
        <p:spPr>
          <a:xfrm>
            <a:off x="7022520" y="3703320"/>
            <a:ext cx="46630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самый слабый SMART-критерий — Измеримость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Box 58"/>
          <p:cNvSpPr/>
          <p:nvPr/>
        </p:nvSpPr>
        <p:spPr>
          <a:xfrm>
            <a:off x="6446520" y="4251960"/>
            <a:ext cx="52117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Клик на подразделение →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59"/>
          <p:cNvSpPr/>
          <p:nvPr/>
        </p:nvSpPr>
        <p:spPr>
          <a:xfrm>
            <a:off x="6446520" y="4572000"/>
            <a:ext cx="52117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Квартальный LineChart SMART-тренда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RadarChart профиля по 5 критериям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Значок «слабый критерий» + стратег. связка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6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5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Критерии оценки хакатона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Как мы закрываем каждый критерий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" name="Rectangle 6"/>
          <p:cNvSpPr/>
          <p:nvPr/>
        </p:nvSpPr>
        <p:spPr>
          <a:xfrm>
            <a:off x="274320" y="1444680"/>
            <a:ext cx="914040" cy="7678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" name="TextBox 7"/>
          <p:cNvSpPr/>
          <p:nvPr/>
        </p:nvSpPr>
        <p:spPr>
          <a:xfrm>
            <a:off x="274320" y="16275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8"/>
          <p:cNvSpPr/>
          <p:nvPr/>
        </p:nvSpPr>
        <p:spPr>
          <a:xfrm>
            <a:off x="1325880" y="144468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1481400" y="14997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Качество оценки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10"/>
          <p:cNvSpPr/>
          <p:nvPr/>
        </p:nvSpPr>
        <p:spPr>
          <a:xfrm>
            <a:off x="1481400" y="18471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Gemini Flash · 5 SMART-скоров · goal_type · strategic_alignment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F-20: история аналогичных ролей · F-17 стратег. связка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Rectangle 11"/>
          <p:cNvSpPr/>
          <p:nvPr/>
        </p:nvSpPr>
        <p:spPr>
          <a:xfrm>
            <a:off x="274320" y="2322720"/>
            <a:ext cx="914040" cy="76788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" name="TextBox 12"/>
          <p:cNvSpPr/>
          <p:nvPr/>
        </p:nvSpPr>
        <p:spPr>
          <a:xfrm>
            <a:off x="274320" y="25056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25%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ectangle 13"/>
          <p:cNvSpPr/>
          <p:nvPr/>
        </p:nvSpPr>
        <p:spPr>
          <a:xfrm>
            <a:off x="1325880" y="232272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TextBox 14"/>
          <p:cNvSpPr/>
          <p:nvPr/>
        </p:nvSpPr>
        <p:spPr>
          <a:xfrm>
            <a:off x="1481400" y="23774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e5499"/>
                </a:solidFill>
                <a:latin typeface="Calibri"/>
              </a:rPr>
              <a:t>Качество генерации целей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15"/>
          <p:cNvSpPr/>
          <p:nvPr/>
        </p:nvSpPr>
        <p:spPr>
          <a:xfrm>
            <a:off x="1481400" y="27248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RAG: 160 ВНД → 412 чанков в Qdrant · dedup cosine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source_doc + source_quote · auto-SMART validation + reformulation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tangle 16"/>
          <p:cNvSpPr/>
          <p:nvPr/>
        </p:nvSpPr>
        <p:spPr>
          <a:xfrm>
            <a:off x="274320" y="3200400"/>
            <a:ext cx="914040" cy="7678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17"/>
          <p:cNvSpPr/>
          <p:nvPr/>
        </p:nvSpPr>
        <p:spPr>
          <a:xfrm>
            <a:off x="274320" y="33832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ectangle 18"/>
          <p:cNvSpPr/>
          <p:nvPr/>
        </p:nvSpPr>
        <p:spPr>
          <a:xfrm>
            <a:off x="1325880" y="320040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9"/>
          <p:cNvSpPr/>
          <p:nvPr/>
        </p:nvSpPr>
        <p:spPr>
          <a:xfrm>
            <a:off x="1481400" y="325512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2e7d32"/>
                </a:solidFill>
                <a:latin typeface="Calibri"/>
              </a:rPr>
              <a:t>UX интерфейса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20"/>
          <p:cNvSpPr/>
          <p:nvPr/>
        </p:nvSpPr>
        <p:spPr>
          <a:xfrm>
            <a:off x="1481400" y="36028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React 18 + MUI · SmartScoreCard progress-bars · GoalCard с цитатой ВНД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AlertBanner · RadarChart · LineChart · collapsible RAG-чанки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tangle 21"/>
          <p:cNvSpPr/>
          <p:nvPr/>
        </p:nvSpPr>
        <p:spPr>
          <a:xfrm>
            <a:off x="274320" y="4078080"/>
            <a:ext cx="914040" cy="76788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TextBox 22"/>
          <p:cNvSpPr/>
          <p:nvPr/>
        </p:nvSpPr>
        <p:spPr>
          <a:xfrm>
            <a:off x="274320" y="426096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15%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ectangle 23"/>
          <p:cNvSpPr/>
          <p:nvPr/>
        </p:nvSpPr>
        <p:spPr>
          <a:xfrm>
            <a:off x="1325880" y="407808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24"/>
          <p:cNvSpPr/>
          <p:nvPr/>
        </p:nvSpPr>
        <p:spPr>
          <a:xfrm>
            <a:off x="1481400" y="413316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6a1b9a"/>
                </a:solidFill>
                <a:latin typeface="Calibri"/>
              </a:rPr>
              <a:t>Качество RAG-пайплайна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25"/>
          <p:cNvSpPr/>
          <p:nvPr/>
        </p:nvSpPr>
        <p:spPr>
          <a:xfrm>
            <a:off x="1481400" y="448056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Qdrant cosine · paraphrase-MiniLM-L12-v2 (384d) · dept_scope filter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source grounding check · avg_rag_score отображается во фронте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26"/>
          <p:cNvSpPr/>
          <p:nvPr/>
        </p:nvSpPr>
        <p:spPr>
          <a:xfrm>
            <a:off x="274320" y="4956120"/>
            <a:ext cx="914040" cy="76788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27"/>
          <p:cNvSpPr/>
          <p:nvPr/>
        </p:nvSpPr>
        <p:spPr>
          <a:xfrm>
            <a:off x="274320" y="513900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Rectangle 28"/>
          <p:cNvSpPr/>
          <p:nvPr/>
        </p:nvSpPr>
        <p:spPr>
          <a:xfrm>
            <a:off x="1325880" y="4956120"/>
            <a:ext cx="10560960" cy="767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TextBox 29"/>
          <p:cNvSpPr/>
          <p:nvPr/>
        </p:nvSpPr>
        <p:spPr>
          <a:xfrm>
            <a:off x="1481400" y="501084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006064"/>
                </a:solidFill>
                <a:latin typeface="Calibri"/>
              </a:rPr>
              <a:t>Архитектура и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30"/>
          <p:cNvSpPr/>
          <p:nvPr/>
        </p:nvSpPr>
        <p:spPr>
          <a:xfrm>
            <a:off x="1481400" y="535824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FastAPI + OpenAPI /docs · Pydantic v2 Field(description=...) · Alembic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Docker Compose 4 services · async SQLAlchemy · 2 engines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tangle 31"/>
          <p:cNvSpPr/>
          <p:nvPr/>
        </p:nvSpPr>
        <p:spPr>
          <a:xfrm>
            <a:off x="274320" y="5833800"/>
            <a:ext cx="914040" cy="76788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" name="TextBox 32"/>
          <p:cNvSpPr/>
          <p:nvPr/>
        </p:nvSpPr>
        <p:spPr>
          <a:xfrm>
            <a:off x="274320" y="6016680"/>
            <a:ext cx="9140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</a:rPr>
              <a:t>10%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Rectangle 33"/>
          <p:cNvSpPr/>
          <p:nvPr/>
        </p:nvSpPr>
        <p:spPr>
          <a:xfrm>
            <a:off x="1325880" y="5833800"/>
            <a:ext cx="10560960" cy="76788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" name="TextBox 34"/>
          <p:cNvSpPr/>
          <p:nvPr/>
        </p:nvSpPr>
        <p:spPr>
          <a:xfrm>
            <a:off x="1481400" y="5888880"/>
            <a:ext cx="4114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65c00"/>
                </a:solidFill>
                <a:latin typeface="Calibri"/>
              </a:rPr>
              <a:t>Аналитика и дашборд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35"/>
          <p:cNvSpPr/>
          <p:nvPr/>
        </p:nvSpPr>
        <p:spPr>
          <a:xfrm>
            <a:off x="1481400" y="6236280"/>
            <a:ext cx="1014948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dept-quality · quarterly-trend · maturity F-22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RadarChart SMART-профиль · квартальный LineChart · top_issues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36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6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Rectangle 2"/>
          <p:cNvSpPr/>
          <p:nvPr/>
        </p:nvSpPr>
        <p:spPr>
          <a:xfrm>
            <a:off x="0" y="5669280"/>
            <a:ext cx="12188520" cy="1641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457200" y="274320"/>
            <a:ext cx="1127412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</a:rPr>
              <a:t>Попробуйте прямо сейчас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457200" y="960120"/>
            <a:ext cx="112741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500" spc="-1" strike="noStrike">
                <a:solidFill>
                  <a:srgbClr val="e8a838"/>
                </a:solidFill>
                <a:latin typeface="Calibri"/>
              </a:rPr>
              <a:t>Откройте камеру телефона и наведите на QR-код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6" name="Picture 5" descr="qr_demo.png"/>
          <p:cNvPicPr/>
          <p:nvPr/>
        </p:nvPicPr>
        <p:blipFill>
          <a:blip r:embed="rId1"/>
          <a:stretch/>
        </p:blipFill>
        <p:spPr>
          <a:xfrm>
            <a:off x="4270320" y="1554480"/>
            <a:ext cx="3657240" cy="3657240"/>
          </a:xfrm>
          <a:prstGeom prst="rect">
            <a:avLst/>
          </a:prstGeom>
          <a:ln w="0">
            <a:noFill/>
          </a:ln>
        </p:spPr>
      </p:pic>
      <p:sp>
        <p:nvSpPr>
          <p:cNvPr id="267" name="TextBox 6"/>
          <p:cNvSpPr/>
          <p:nvPr/>
        </p:nvSpPr>
        <p:spPr>
          <a:xfrm>
            <a:off x="457200" y="5349240"/>
            <a:ext cx="11274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</a:rPr>
              <a:t>http://89.207.255.254:3000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Box 7"/>
          <p:cNvSpPr/>
          <p:nvPr/>
        </p:nvSpPr>
        <p:spPr>
          <a:xfrm>
            <a:off x="457200" y="580644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aaccff"/>
                </a:solidFill>
                <a:latin typeface="Calibri"/>
              </a:rPr>
              <a:t>Оценка целей · AI-генерация · Дашборд · Бенчмарк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7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навигация, оценка, генерация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Адаптивный дизайн: телефон · планшет · десктоп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5" name="Picture 6" descr="s01_nav.png"/>
          <p:cNvPicPr/>
          <p:nvPr/>
        </p:nvPicPr>
        <p:blipFill>
          <a:blip r:embed="rId1"/>
          <a:stretch/>
        </p:blipFill>
        <p:spPr>
          <a:xfrm>
            <a:off x="182880" y="1417320"/>
            <a:ext cx="3621240" cy="3840120"/>
          </a:xfrm>
          <a:prstGeom prst="rect">
            <a:avLst/>
          </a:prstGeom>
          <a:ln w="0">
            <a:noFill/>
          </a:ln>
        </p:spPr>
      </p:pic>
      <p:sp>
        <p:nvSpPr>
          <p:cNvPr id="276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1. Навигация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Бургер-меню (Drawer)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6 страниц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Active state подсветка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8" name="Picture 9" descr="s02_eval.png"/>
          <p:cNvPicPr/>
          <p:nvPr/>
        </p:nvPicPr>
        <p:blipFill>
          <a:blip r:embed="rId2"/>
          <a:stretch/>
        </p:blipFill>
        <p:spPr>
          <a:xfrm>
            <a:off x="2560320" y="1417320"/>
            <a:ext cx="2243880" cy="3840120"/>
          </a:xfrm>
          <a:prstGeom prst="rect">
            <a:avLst/>
          </a:prstGeom>
          <a:ln w="0">
            <a:noFill/>
          </a:ln>
        </p:spPr>
      </p:pic>
      <p:sp>
        <p:nvSpPr>
          <p:cNvPr id="279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2. Оценка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Выбор сотрудника, квартал, год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Формулировка цели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Валидация перед отправкой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1" name="Picture 12" descr="s03_eval_result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15280" cy="3840120"/>
          </a:xfrm>
          <a:prstGeom prst="rect">
            <a:avLst/>
          </a:prstGeom>
          <a:ln w="0">
            <a:noFill/>
          </a:ln>
        </p:spPr>
      </p:pic>
      <p:sp>
        <p:nvSpPr>
          <p:cNvPr id="282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3. Результат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5 SMART-скоров (S/M/A/R/T)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по слабым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Переформулировка + алерты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4" name="Picture 15" descr="s05_generate.png"/>
          <p:cNvPicPr/>
          <p:nvPr/>
        </p:nvPicPr>
        <p:blipFill>
          <a:blip r:embed="rId4"/>
          <a:stretch/>
        </p:blipFill>
        <p:spPr>
          <a:xfrm>
            <a:off x="7315200" y="1417320"/>
            <a:ext cx="2392200" cy="3840120"/>
          </a:xfrm>
          <a:prstGeom prst="rect">
            <a:avLst/>
          </a:prstGeom>
          <a:ln w="0">
            <a:noFill/>
          </a:ln>
        </p:spPr>
      </p:pic>
      <p:sp>
        <p:nvSpPr>
          <p:cNvPr id="285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4. AI-генерация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RAG: ВНД, KPI, релевантность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Source_doc + source_quote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Принятие выбранных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7" name="Picture 18" descr="s06_goal_card.png"/>
          <p:cNvPicPr/>
          <p:nvPr/>
        </p:nvPicPr>
        <p:blipFill>
          <a:blip r:embed="rId5"/>
          <a:stretch/>
        </p:blipFill>
        <p:spPr>
          <a:xfrm>
            <a:off x="9692640" y="1417320"/>
            <a:ext cx="2008800" cy="3840120"/>
          </a:xfrm>
          <a:prstGeom prst="rect">
            <a:avLst/>
          </a:prstGeom>
          <a:ln w="0">
            <a:noFill/>
          </a:ln>
        </p:spPr>
      </p:pic>
      <p:sp>
        <p:nvSpPr>
          <p:cNvPr id="288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5. Карточка цели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Rationale: почему эта цель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Matched RAG-чанки с score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Тип: Output / Результат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8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TextBox 3"/>
          <p:cNvSpPr/>
          <p:nvPr/>
        </p:nvSpPr>
        <p:spPr>
          <a:xfrm>
            <a:off x="365760" y="91440"/>
            <a:ext cx="106070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Мобильный интерфейс — дашборд, аналитика, бенчмарк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Responsive: KPI-карточки, тренд, зрелость, валидация AI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96" name="Picture 6" descr="s04_batch.png"/>
          <p:cNvPicPr/>
          <p:nvPr/>
        </p:nvPicPr>
        <p:blipFill>
          <a:blip r:embed="rId1"/>
          <a:stretch/>
        </p:blipFill>
        <p:spPr>
          <a:xfrm>
            <a:off x="182880" y="1417320"/>
            <a:ext cx="2223720" cy="3840120"/>
          </a:xfrm>
          <a:prstGeom prst="rect">
            <a:avLst/>
          </a:prstGeom>
          <a:ln w="0">
            <a:noFill/>
          </a:ln>
        </p:spPr>
      </p:pic>
      <p:sp>
        <p:nvSpPr>
          <p:cNvPr id="297" name="TextBox 7"/>
          <p:cNvSpPr/>
          <p:nvPr/>
        </p:nvSpPr>
        <p:spPr>
          <a:xfrm>
            <a:off x="18288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6. Пакетная оценка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8"/>
          <p:cNvSpPr/>
          <p:nvPr/>
        </p:nvSpPr>
        <p:spPr>
          <a:xfrm>
            <a:off x="18288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Все цели за квартал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Radar-профиль SMART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Алерты: вес, тип, связка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9" name="Picture 9" descr="s07_dashboard.png"/>
          <p:cNvPicPr/>
          <p:nvPr/>
        </p:nvPicPr>
        <p:blipFill>
          <a:blip r:embed="rId2"/>
          <a:stretch/>
        </p:blipFill>
        <p:spPr>
          <a:xfrm>
            <a:off x="256032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0" name="TextBox 10"/>
          <p:cNvSpPr/>
          <p:nvPr/>
        </p:nvSpPr>
        <p:spPr>
          <a:xfrm>
            <a:off x="256032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7. Дашборд: KPI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1"/>
          <p:cNvSpPr/>
          <p:nvPr/>
        </p:nvSpPr>
        <p:spPr>
          <a:xfrm>
            <a:off x="256032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Средний SMART: 0.63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8 подразделений, 4500 целей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Цветовая индикация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2" name="Picture 12" descr="s08_dash_detail.png"/>
          <p:cNvPicPr/>
          <p:nvPr/>
        </p:nvPicPr>
        <p:blipFill>
          <a:blip r:embed="rId3"/>
          <a:stretch/>
        </p:blipFill>
        <p:spPr>
          <a:xfrm>
            <a:off x="493776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3" name="TextBox 13"/>
          <p:cNvSpPr/>
          <p:nvPr/>
        </p:nvSpPr>
        <p:spPr>
          <a:xfrm>
            <a:off x="493776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8.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14"/>
          <p:cNvSpPr/>
          <p:nvPr/>
        </p:nvSpPr>
        <p:spPr>
          <a:xfrm>
            <a:off x="493776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Бар-чарт с цветовой шкалой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Клик → квартальный тренд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Strategic ratio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5" name="Picture 15" descr="s09_team.png"/>
          <p:cNvPicPr/>
          <p:nvPr/>
        </p:nvPicPr>
        <p:blipFill>
          <a:blip r:embed="rId4"/>
          <a:stretch/>
        </p:blipFill>
        <p:spPr>
          <a:xfrm>
            <a:off x="7315200" y="1417320"/>
            <a:ext cx="2034000" cy="3840120"/>
          </a:xfrm>
          <a:prstGeom prst="rect">
            <a:avLst/>
          </a:prstGeom>
          <a:ln w="0">
            <a:noFill/>
          </a:ln>
        </p:spPr>
      </p:pic>
      <p:sp>
        <p:nvSpPr>
          <p:cNvPr id="306" name="TextBox 16"/>
          <p:cNvSpPr/>
          <p:nvPr/>
        </p:nvSpPr>
        <p:spPr>
          <a:xfrm>
            <a:off x="731520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9. Зрелость команды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17"/>
          <p:cNvSpPr/>
          <p:nvPr/>
        </p:nvSpPr>
        <p:spPr>
          <a:xfrm>
            <a:off x="731520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Maturity index: 0.51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SMART-качество + стратегия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Рекомендации руководителю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Picture 18" descr="s11_benchmark.png"/>
          <p:cNvPicPr/>
          <p:nvPr/>
        </p:nvPicPr>
        <p:blipFill>
          <a:blip r:embed="rId5"/>
          <a:stretch/>
        </p:blipFill>
        <p:spPr>
          <a:xfrm>
            <a:off x="9692640" y="1417320"/>
            <a:ext cx="2481120" cy="3840120"/>
          </a:xfrm>
          <a:prstGeom prst="rect">
            <a:avLst/>
          </a:prstGeom>
          <a:ln w="0">
            <a:noFill/>
          </a:ln>
        </p:spPr>
      </p:pic>
      <p:sp>
        <p:nvSpPr>
          <p:cNvPr id="309" name="TextBox 19"/>
          <p:cNvSpPr/>
          <p:nvPr/>
        </p:nvSpPr>
        <p:spPr>
          <a:xfrm>
            <a:off x="9692640" y="5349240"/>
            <a:ext cx="2194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3264"/>
                </a:solidFill>
                <a:latin typeface="Calibri"/>
              </a:rPr>
              <a:t>10. Бенчмарк AI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0"/>
          <p:cNvSpPr/>
          <p:nvPr/>
        </p:nvSpPr>
        <p:spPr>
          <a:xfrm>
            <a:off x="9692640" y="5715000"/>
            <a:ext cx="219420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MAE: 0.117 (отлично)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Спирмен: 0.939 (сильная)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1a1a2e"/>
                </a:solidFill>
                <a:latin typeface="Calibri"/>
              </a:rPr>
              <a:t>Точность типа: 70%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9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Техническая архитектура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3-уровневая система · Docker Compose · 2 контура данных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" name="Rectangle 6"/>
          <p:cNvSpPr/>
          <p:nvPr/>
        </p:nvSpPr>
        <p:spPr>
          <a:xfrm>
            <a:off x="274320" y="1417320"/>
            <a:ext cx="11639880" cy="16272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7"/>
          <p:cNvSpPr/>
          <p:nvPr/>
        </p:nvSpPr>
        <p:spPr>
          <a:xfrm>
            <a:off x="365760" y="173736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⚛️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8"/>
          <p:cNvSpPr/>
          <p:nvPr/>
        </p:nvSpPr>
        <p:spPr>
          <a:xfrm>
            <a:off x="1005840" y="150876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3 — ПРЕДСТАВЛЕНИЕ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9"/>
          <p:cNvSpPr/>
          <p:nvPr/>
        </p:nvSpPr>
        <p:spPr>
          <a:xfrm>
            <a:off x="1005840" y="185616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React 18 + Material UI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10"/>
          <p:cNvSpPr/>
          <p:nvPr/>
        </p:nvSpPr>
        <p:spPr>
          <a:xfrm>
            <a:off x="4389120" y="155448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6 страниц: EvaluateGoal · MyGoals (batch) · GenerateGoals · Dashboard · Team · Benchmark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Компоненты: SmartScoreCard · GoalCard · AlertBanner · Recharts (Radar, Line, Bar)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Адаптив: mobile drawer, responsive cards, form validation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Rectangle 11"/>
          <p:cNvSpPr/>
          <p:nvPr/>
        </p:nvSpPr>
        <p:spPr>
          <a:xfrm>
            <a:off x="5577840" y="304488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" name="TextBox 12"/>
          <p:cNvSpPr/>
          <p:nvPr/>
        </p:nvSpPr>
        <p:spPr>
          <a:xfrm>
            <a:off x="4114800" y="304488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REST API (JSON)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tangle 13"/>
          <p:cNvSpPr/>
          <p:nvPr/>
        </p:nvSpPr>
        <p:spPr>
          <a:xfrm>
            <a:off x="274320" y="3154680"/>
            <a:ext cx="11639880" cy="162720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14"/>
          <p:cNvSpPr/>
          <p:nvPr/>
        </p:nvSpPr>
        <p:spPr>
          <a:xfrm>
            <a:off x="365760" y="347472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🤖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15"/>
          <p:cNvSpPr/>
          <p:nvPr/>
        </p:nvSpPr>
        <p:spPr>
          <a:xfrm>
            <a:off x="1005840" y="324612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2 — AI / БИЗНЕС-ЛОГИКА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16"/>
          <p:cNvSpPr/>
          <p:nvPr/>
        </p:nvSpPr>
        <p:spPr>
          <a:xfrm>
            <a:off x="1005840" y="359352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FastAPI · Python 3.11 · Async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17"/>
          <p:cNvSpPr/>
          <p:nvPr/>
        </p:nvSpPr>
        <p:spPr>
          <a:xfrm>
            <a:off x="4389120" y="3291840"/>
            <a:ext cx="73148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smart_evaluator.py — Gemini Flash JSON mode, 5 SMART-скоров, retry 429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goal_generator.py — RAG + LLM, rationale, auto-reformulation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rag_pipeline.py — Qdrant search, dept filter, source grounding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alert_manager.py — F-16..F-21 алерты · dedup_checker.py — cosine 0.85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Rectangle 18"/>
          <p:cNvSpPr/>
          <p:nvPr/>
        </p:nvSpPr>
        <p:spPr>
          <a:xfrm>
            <a:off x="5577840" y="4782240"/>
            <a:ext cx="91404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" name="TextBox 19"/>
          <p:cNvSpPr/>
          <p:nvPr/>
        </p:nvSpPr>
        <p:spPr>
          <a:xfrm>
            <a:off x="4114800" y="4782240"/>
            <a:ext cx="41144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e8a838"/>
                </a:solidFill>
                <a:latin typeface="Calibri"/>
              </a:rPr>
              <a:t>SQLAlchemy async + Qdrant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ectangle 20"/>
          <p:cNvSpPr/>
          <p:nvPr/>
        </p:nvSpPr>
        <p:spPr>
          <a:xfrm>
            <a:off x="274320" y="4892040"/>
            <a:ext cx="11639880" cy="162720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TextBox 21"/>
          <p:cNvSpPr/>
          <p:nvPr/>
        </p:nvSpPr>
        <p:spPr>
          <a:xfrm>
            <a:off x="365760" y="5212080"/>
            <a:ext cx="54828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2800" spc="-1" strike="noStrike">
                <a:solidFill>
                  <a:srgbClr val="ffffff"/>
                </a:solidFill>
                <a:latin typeface="Calibri"/>
              </a:rPr>
              <a:t>🗄️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22"/>
          <p:cNvSpPr/>
          <p:nvPr/>
        </p:nvSpPr>
        <p:spPr>
          <a:xfrm>
            <a:off x="1005840" y="4983480"/>
            <a:ext cx="45716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СЛОЙ 1 — ДАННЫЕ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23"/>
          <p:cNvSpPr/>
          <p:nvPr/>
        </p:nvSpPr>
        <p:spPr>
          <a:xfrm>
            <a:off x="1005840" y="5330880"/>
            <a:ext cx="32000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PostgreSQL 17 × 2 + Qdrant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24"/>
          <p:cNvSpPr/>
          <p:nvPr/>
        </p:nvSpPr>
        <p:spPr>
          <a:xfrm>
            <a:off x="4389120" y="5029200"/>
            <a:ext cx="731484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Remote DB (readonly): 450 сотр., 9 000 целей, 160 ВНД, 13 KPI-метрик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Local DB (Alembic): ai_evaluations, ai_generated_goals, 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ccddff"/>
                </a:solidFill>
                <a:latin typeface="Calibri"/>
              </a:rPr>
              <a:t>Qdrant: 412 чанков, paraphrase-MiniLM-L12-v2, 384d cosine · dept_scope filter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Rectangle 25"/>
          <p:cNvSpPr/>
          <p:nvPr/>
        </p:nvSpPr>
        <p:spPr>
          <a:xfrm>
            <a:off x="274320" y="6446520"/>
            <a:ext cx="11639880" cy="27396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TextBox 26"/>
          <p:cNvSpPr/>
          <p:nvPr/>
        </p:nvSpPr>
        <p:spPr>
          <a:xfrm>
            <a:off x="457200" y="6455520"/>
            <a:ext cx="10972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🐳  </a:t>
            </a:r>
            <a:r>
              <a:rPr b="0" lang="en-US" sz="1100" spc="-1" strike="noStrike">
                <a:solidFill>
                  <a:srgbClr val="99ccff"/>
                </a:solidFill>
                <a:latin typeface="Calibri"/>
              </a:rPr>
              <a:t>local-db : 5433    qdrant : 6333    hr-api : 8001    hr-frontend : 3000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7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10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Оценка целей по SMART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smart_evaluator.py  ·  Gemini Flash JSON mode  ·  asyncio.gather для batch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6"/>
          <p:cNvSpPr/>
          <p:nvPr/>
        </p:nvSpPr>
        <p:spPr>
          <a:xfrm>
            <a:off x="274320" y="1417320"/>
            <a:ext cx="539460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7"/>
          <p:cNvSpPr/>
          <p:nvPr/>
        </p:nvSpPr>
        <p:spPr>
          <a:xfrm>
            <a:off x="457200" y="1508760"/>
            <a:ext cx="50288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1a3264"/>
                </a:solidFill>
                <a:latin typeface="Calibri"/>
              </a:rPr>
              <a:t>Пайплайн оценки одной цели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ectangle 8"/>
          <p:cNvSpPr/>
          <p:nvPr/>
        </p:nvSpPr>
        <p:spPr>
          <a:xfrm>
            <a:off x="411480" y="19933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" name="TextBox 9"/>
          <p:cNvSpPr/>
          <p:nvPr/>
        </p:nvSpPr>
        <p:spPr>
          <a:xfrm>
            <a:off x="411480" y="19933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10"/>
          <p:cNvSpPr/>
          <p:nvPr/>
        </p:nvSpPr>
        <p:spPr>
          <a:xfrm>
            <a:off x="896040" y="19933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Контекст из Remote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11"/>
          <p:cNvSpPr/>
          <p:nvPr/>
        </p:nvSpPr>
        <p:spPr>
          <a:xfrm>
            <a:off x="896040" y="234072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Должность · подразделение · цели менеджера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KPI (10 последних) · история аналогичных ролей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411480" y="288036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" name="TextBox 13"/>
          <p:cNvSpPr/>
          <p:nvPr/>
        </p:nvSpPr>
        <p:spPr>
          <a:xfrm>
            <a:off x="411480" y="288036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14"/>
          <p:cNvSpPr/>
          <p:nvPr/>
        </p:nvSpPr>
        <p:spPr>
          <a:xfrm>
            <a:off x="896040" y="288036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Промпт → Gemini Flash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Box 15"/>
          <p:cNvSpPr/>
          <p:nvPr/>
        </p:nvSpPr>
        <p:spPr>
          <a:xfrm>
            <a:off x="896040" y="322776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 mode, temperature=0.3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SYSTEM_PROMPT + user_prompt в одном вызове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Rectangle 16"/>
          <p:cNvSpPr/>
          <p:nvPr/>
        </p:nvSpPr>
        <p:spPr>
          <a:xfrm>
            <a:off x="411480" y="376740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" name="TextBox 17"/>
          <p:cNvSpPr/>
          <p:nvPr/>
        </p:nvSpPr>
        <p:spPr>
          <a:xfrm>
            <a:off x="411480" y="376740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18"/>
          <p:cNvSpPr/>
          <p:nvPr/>
        </p:nvSpPr>
        <p:spPr>
          <a:xfrm>
            <a:off x="896040" y="376740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Парсинг + валидация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19"/>
          <p:cNvSpPr/>
          <p:nvPr/>
        </p:nvSpPr>
        <p:spPr>
          <a:xfrm>
            <a:off x="896040" y="411480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json.loads() → defaults для пропущенных ключей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smartIndex пересчитывается программно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ectangle 20"/>
          <p:cNvSpPr/>
          <p:nvPr/>
        </p:nvSpPr>
        <p:spPr>
          <a:xfrm>
            <a:off x="411480" y="465444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" name="TextBox 21"/>
          <p:cNvSpPr/>
          <p:nvPr/>
        </p:nvSpPr>
        <p:spPr>
          <a:xfrm>
            <a:off x="411480" y="465444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22"/>
          <p:cNvSpPr/>
          <p:nvPr/>
        </p:nvSpPr>
        <p:spPr>
          <a:xfrm>
            <a:off x="896040" y="465444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Алерты F-16..F-21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23"/>
          <p:cNvSpPr/>
          <p:nvPr/>
        </p:nvSpPr>
        <p:spPr>
          <a:xfrm>
            <a:off x="896040" y="500184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check_goal_alerts(): вес, кол-во, тип, связка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check_batch_alerts() для пакетной оценки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Rectangle 24"/>
          <p:cNvSpPr/>
          <p:nvPr/>
        </p:nvSpPr>
        <p:spPr>
          <a:xfrm>
            <a:off x="411480" y="5541120"/>
            <a:ext cx="365400" cy="3654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3" name="TextBox 25"/>
          <p:cNvSpPr/>
          <p:nvPr/>
        </p:nvSpPr>
        <p:spPr>
          <a:xfrm>
            <a:off x="411480" y="5541120"/>
            <a:ext cx="365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26"/>
          <p:cNvSpPr/>
          <p:nvPr/>
        </p:nvSpPr>
        <p:spPr>
          <a:xfrm>
            <a:off x="896040" y="5541120"/>
            <a:ext cx="4388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Сохранение в Local DB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TextBox 27"/>
          <p:cNvSpPr/>
          <p:nvPr/>
        </p:nvSpPr>
        <p:spPr>
          <a:xfrm>
            <a:off x="896040" y="5888880"/>
            <a:ext cx="43887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ai_evaluations: scores_json, alignment_level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return goal_id = f'eval-{evaluation.id}'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5943600" y="1417320"/>
            <a:ext cx="5988960" cy="516600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7" name="TextBox 29"/>
          <p:cNvSpPr/>
          <p:nvPr/>
        </p:nvSpPr>
        <p:spPr>
          <a:xfrm>
            <a:off x="6126480" y="150876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e8a838"/>
                </a:solidFill>
                <a:latin typeface="Calibri"/>
              </a:rPr>
              <a:t>Ответ Gemini (JSON mode)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30"/>
          <p:cNvSpPr/>
          <p:nvPr/>
        </p:nvSpPr>
        <p:spPr>
          <a:xfrm>
            <a:off x="6035040" y="1920240"/>
            <a:ext cx="576036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"smart_scores":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"specific":   0.82,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"measurable": 0.90,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"achievable": 0.75,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"relevant":   0.88,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"time_bound":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"smart_index": 0.84,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"goal_type": "output",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"strategic_alignment": {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"level": "strategic",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"source": "KPI: сокращение задержки ETL"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"recommendations": [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"A: Уточните необходимые ресурсы"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],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  </a:t>
            </a: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"improved_goal": null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ffcc"/>
                </a:solidFill>
                <a:latin typeface="Calibri"/>
              </a:rPr>
              <a:t>}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31"/>
          <p:cNvSpPr/>
          <p:nvPr/>
        </p:nvSpPr>
        <p:spPr>
          <a:xfrm>
            <a:off x="320040" y="6492240"/>
            <a:ext cx="114296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📦  </a:t>
            </a:r>
            <a:r>
              <a:rPr b="0" i="1" lang="en-US" sz="1050" spc="-1" strike="noStrike">
                <a:solidFill>
                  <a:srgbClr val="1e5499"/>
                </a:solidFill>
                <a:latin typeface="Calibri"/>
              </a:rPr>
              <a:t>evaluate-batch: asyncio.gather(*[evaluate_goal(...) for goal in goals])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32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11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2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Классификация целей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F-19: тип цели  ·  F-17: стратегическая связка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6"/>
          <p:cNvSpPr/>
          <p:nvPr/>
        </p:nvSpPr>
        <p:spPr>
          <a:xfrm>
            <a:off x="274320" y="1417320"/>
            <a:ext cx="566892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Rectangle 7"/>
          <p:cNvSpPr/>
          <p:nvPr/>
        </p:nvSpPr>
        <p:spPr>
          <a:xfrm>
            <a:off x="274320" y="1417320"/>
            <a:ext cx="5668920" cy="4568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8" name="TextBox 8"/>
          <p:cNvSpPr/>
          <p:nvPr/>
        </p:nvSpPr>
        <p:spPr>
          <a:xfrm>
            <a:off x="45720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Тип цели  (F-19: goal_type)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ectangle 9"/>
          <p:cNvSpPr/>
          <p:nvPr/>
        </p:nvSpPr>
        <p:spPr>
          <a:xfrm>
            <a:off x="365760" y="20116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10"/>
          <p:cNvSpPr/>
          <p:nvPr/>
        </p:nvSpPr>
        <p:spPr>
          <a:xfrm>
            <a:off x="365760" y="20116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11"/>
          <p:cNvSpPr/>
          <p:nvPr/>
        </p:nvSpPr>
        <p:spPr>
          <a:xfrm>
            <a:off x="594360" y="20847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activity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12"/>
          <p:cNvSpPr/>
          <p:nvPr/>
        </p:nvSpPr>
        <p:spPr>
          <a:xfrm>
            <a:off x="1600200" y="20847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Действие / процесс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3"/>
          <p:cNvSpPr/>
          <p:nvPr/>
        </p:nvSpPr>
        <p:spPr>
          <a:xfrm>
            <a:off x="594360" y="24505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«Проводить еженедельные совещания»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4"/>
          <p:cNvSpPr/>
          <p:nvPr/>
        </p:nvSpPr>
        <p:spPr>
          <a:xfrm>
            <a:off x="594360" y="297180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Слабый — нет измеримого результата.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44336"/>
                </a:solidFill>
                <a:latin typeface="Calibri"/>
              </a:rPr>
              <a:t>Система предлагает переформулировку.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ectangle 15"/>
          <p:cNvSpPr/>
          <p:nvPr/>
        </p:nvSpPr>
        <p:spPr>
          <a:xfrm>
            <a:off x="365760" y="3611880"/>
            <a:ext cx="539460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Rectangle 16"/>
          <p:cNvSpPr/>
          <p:nvPr/>
        </p:nvSpPr>
        <p:spPr>
          <a:xfrm>
            <a:off x="36576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7" name="TextBox 17"/>
          <p:cNvSpPr/>
          <p:nvPr/>
        </p:nvSpPr>
        <p:spPr>
          <a:xfrm>
            <a:off x="594360" y="36849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1600200" y="36849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Конкретный результат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19"/>
          <p:cNvSpPr/>
          <p:nvPr/>
        </p:nvSpPr>
        <p:spPr>
          <a:xfrm>
            <a:off x="594360" y="405072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«Снизить дефекты после релиза на 20% к 30.09.2025»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594360" y="45720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9800"/>
                </a:solidFill>
                <a:latin typeface="Calibri"/>
              </a:rPr>
              <a:t>Хороший — есть метрика и срок.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ectangle 21"/>
          <p:cNvSpPr/>
          <p:nvPr/>
        </p:nvSpPr>
        <p:spPr>
          <a:xfrm>
            <a:off x="365760" y="5212080"/>
            <a:ext cx="539460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Rectangle 22"/>
          <p:cNvSpPr/>
          <p:nvPr/>
        </p:nvSpPr>
        <p:spPr>
          <a:xfrm>
            <a:off x="365760" y="52120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23"/>
          <p:cNvSpPr/>
          <p:nvPr/>
        </p:nvSpPr>
        <p:spPr>
          <a:xfrm>
            <a:off x="594360" y="5285160"/>
            <a:ext cx="10969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impact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1600200" y="5285160"/>
            <a:ext cx="39315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Влияние на бизнес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25"/>
          <p:cNvSpPr/>
          <p:nvPr/>
        </p:nvSpPr>
        <p:spPr>
          <a:xfrm>
            <a:off x="594360" y="5650920"/>
            <a:ext cx="50288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«Увеличить индекс качества данных на 5%,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  </a:t>
            </a:r>
            <a:r>
              <a:rPr b="0" i="1" lang="en-US" sz="1000" spc="-1" strike="noStrike">
                <a:solidFill>
                  <a:srgbClr val="1a1a2e"/>
                </a:solidFill>
                <a:latin typeface="Calibri"/>
              </a:rPr>
              <a:t>сократив потери от ошибок на 2 млн ₸»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594360" y="6172200"/>
            <a:ext cx="50288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2e7d32"/>
                </a:solidFill>
                <a:latin typeface="Calibri"/>
              </a:rPr>
              <a:t>Лучший — связь с бизнес-результатом.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Rectangle 27"/>
          <p:cNvSpPr/>
          <p:nvPr/>
        </p:nvSpPr>
        <p:spPr>
          <a:xfrm>
            <a:off x="6172200" y="1417320"/>
            <a:ext cx="5760360" cy="5166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8" name="Rectangle 28"/>
          <p:cNvSpPr/>
          <p:nvPr/>
        </p:nvSpPr>
        <p:spPr>
          <a:xfrm>
            <a:off x="6172200" y="1417320"/>
            <a:ext cx="5760360" cy="4568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9" name="TextBox 29"/>
          <p:cNvSpPr/>
          <p:nvPr/>
        </p:nvSpPr>
        <p:spPr>
          <a:xfrm>
            <a:off x="6355080" y="1481400"/>
            <a:ext cx="53031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Стратегическая связка  (F-17)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Rectangle 30"/>
          <p:cNvSpPr/>
          <p:nvPr/>
        </p:nvSpPr>
        <p:spPr>
          <a:xfrm>
            <a:off x="6263640" y="20116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1" name="Rectangle 31"/>
          <p:cNvSpPr/>
          <p:nvPr/>
        </p:nvSpPr>
        <p:spPr>
          <a:xfrm>
            <a:off x="6263640" y="2011680"/>
            <a:ext cx="109440" cy="14626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TextBox 32"/>
          <p:cNvSpPr/>
          <p:nvPr/>
        </p:nvSpPr>
        <p:spPr>
          <a:xfrm>
            <a:off x="6492240" y="20847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2e7d32"/>
                </a:solidFill>
                <a:latin typeface="Calibri"/>
              </a:rPr>
              <a:t>strategic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33"/>
          <p:cNvSpPr/>
          <p:nvPr/>
        </p:nvSpPr>
        <p:spPr>
          <a:xfrm>
            <a:off x="7818120" y="20847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Стратегия компании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34"/>
          <p:cNvSpPr/>
          <p:nvPr/>
        </p:nvSpPr>
        <p:spPr>
          <a:xfrm>
            <a:off x="6492240" y="24505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со стратегическим документом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верхнего уровня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35"/>
          <p:cNvSpPr/>
          <p:nvPr/>
        </p:nvSpPr>
        <p:spPr>
          <a:xfrm>
            <a:off x="6492240" y="30175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2e7d32"/>
                </a:solidFill>
                <a:latin typeface="Calibri"/>
              </a:rPr>
              <a:t>Идеальный уровень привязки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Rectangle 36"/>
          <p:cNvSpPr/>
          <p:nvPr/>
        </p:nvSpPr>
        <p:spPr>
          <a:xfrm>
            <a:off x="6263640" y="3611880"/>
            <a:ext cx="5531760" cy="14626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7" name="Rectangle 37"/>
          <p:cNvSpPr/>
          <p:nvPr/>
        </p:nvSpPr>
        <p:spPr>
          <a:xfrm>
            <a:off x="6263640" y="3611880"/>
            <a:ext cx="109440" cy="1462680"/>
          </a:xfrm>
          <a:prstGeom prst="rect">
            <a:avLst/>
          </a:prstGeom>
          <a:solidFill>
            <a:srgbClr val="ff98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8" name="TextBox 38"/>
          <p:cNvSpPr/>
          <p:nvPr/>
        </p:nvSpPr>
        <p:spPr>
          <a:xfrm>
            <a:off x="6492240" y="36849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f9800"/>
                </a:solidFill>
                <a:latin typeface="Calibri"/>
              </a:rPr>
              <a:t>functional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39"/>
          <p:cNvSpPr/>
          <p:nvPr/>
        </p:nvSpPr>
        <p:spPr>
          <a:xfrm>
            <a:off x="7818120" y="36849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Функция подразделения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40"/>
          <p:cNvSpPr/>
          <p:nvPr/>
        </p:nvSpPr>
        <p:spPr>
          <a:xfrm>
            <a:off x="6492240" y="40507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Связана с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целью прямого руководителя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41"/>
          <p:cNvSpPr/>
          <p:nvPr/>
        </p:nvSpPr>
        <p:spPr>
          <a:xfrm>
            <a:off x="6492240" y="46177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f9800"/>
                </a:solidFill>
                <a:latin typeface="Calibri"/>
              </a:rPr>
              <a:t>Допустимый уровень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ectangle 42"/>
          <p:cNvSpPr/>
          <p:nvPr/>
        </p:nvSpPr>
        <p:spPr>
          <a:xfrm>
            <a:off x="6263640" y="5212080"/>
            <a:ext cx="5531760" cy="1462680"/>
          </a:xfrm>
          <a:prstGeom prst="rect">
            <a:avLst/>
          </a:prstGeom>
          <a:solidFill>
            <a:srgbClr val="f9fb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Rectangle 43"/>
          <p:cNvSpPr/>
          <p:nvPr/>
        </p:nvSpPr>
        <p:spPr>
          <a:xfrm>
            <a:off x="6263640" y="5212080"/>
            <a:ext cx="109440" cy="1462680"/>
          </a:xfrm>
          <a:prstGeom prst="rect">
            <a:avLst/>
          </a:prstGeom>
          <a:solidFill>
            <a:srgbClr val="f443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TextBox 44"/>
          <p:cNvSpPr/>
          <p:nvPr/>
        </p:nvSpPr>
        <p:spPr>
          <a:xfrm>
            <a:off x="6492240" y="5285160"/>
            <a:ext cx="13712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200" spc="-1" strike="noStrike">
                <a:solidFill>
                  <a:srgbClr val="f44336"/>
                </a:solidFill>
                <a:latin typeface="Calibri"/>
              </a:rPr>
              <a:t>operational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45"/>
          <p:cNvSpPr/>
          <p:nvPr/>
        </p:nvSpPr>
        <p:spPr>
          <a:xfrm>
            <a:off x="7818120" y="5285160"/>
            <a:ext cx="37486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— </a:t>
            </a:r>
            <a:r>
              <a:rPr b="1" lang="en-US" sz="1200" spc="-1" strike="noStrike">
                <a:solidFill>
                  <a:srgbClr val="1a1a2e"/>
                </a:solidFill>
                <a:latin typeface="Calibri"/>
              </a:rPr>
              <a:t>Операционная задача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46"/>
          <p:cNvSpPr/>
          <p:nvPr/>
        </p:nvSpPr>
        <p:spPr>
          <a:xfrm>
            <a:off x="6492240" y="5650920"/>
            <a:ext cx="51202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Нет явной связи со стратегией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или KPI подразделения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47"/>
          <p:cNvSpPr/>
          <p:nvPr/>
        </p:nvSpPr>
        <p:spPr>
          <a:xfrm>
            <a:off x="6492240" y="6217920"/>
            <a:ext cx="51202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f44336"/>
                </a:solidFill>
                <a:latin typeface="Calibri"/>
              </a:rPr>
              <a:t>Система выдаёт предупреждение F-17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4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12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0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1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RAG-пайплайн — техническая реализация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rag_pipeline.py  ·  Qdrant  ·  sentence-transformers  ·  source grounding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4" name="Rectangle 6"/>
          <p:cNvSpPr/>
          <p:nvPr/>
        </p:nvSpPr>
        <p:spPr>
          <a:xfrm>
            <a:off x="274320" y="1426320"/>
            <a:ext cx="2742840" cy="20113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7"/>
          <p:cNvSpPr/>
          <p:nvPr/>
        </p:nvSpPr>
        <p:spPr>
          <a:xfrm>
            <a:off x="41148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📥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Ingest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8"/>
          <p:cNvSpPr/>
          <p:nvPr/>
        </p:nvSpPr>
        <p:spPr>
          <a:xfrm>
            <a:off x="41148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scripts/ingest_docs.py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160 ВНД → чанки по 512 токенов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→ </a:t>
            </a: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embed → Qdrant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9"/>
          <p:cNvSpPr/>
          <p:nvPr/>
        </p:nvSpPr>
        <p:spPr>
          <a:xfrm>
            <a:off x="303588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Rectangle 10"/>
          <p:cNvSpPr/>
          <p:nvPr/>
        </p:nvSpPr>
        <p:spPr>
          <a:xfrm>
            <a:off x="3218760" y="1426320"/>
            <a:ext cx="2742840" cy="20113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9" name="TextBox 11"/>
          <p:cNvSpPr/>
          <p:nvPr/>
        </p:nvSpPr>
        <p:spPr>
          <a:xfrm>
            <a:off x="335592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🔍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Search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12"/>
          <p:cNvSpPr/>
          <p:nvPr/>
        </p:nvSpPr>
        <p:spPr>
          <a:xfrm>
            <a:off x="335592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search_vnd(query, dept_id)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qdrant.search() top-5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fallback без dept-фильтра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13"/>
          <p:cNvSpPr/>
          <p:nvPr/>
        </p:nvSpPr>
        <p:spPr>
          <a:xfrm>
            <a:off x="598032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Rectangle 14"/>
          <p:cNvSpPr/>
          <p:nvPr/>
        </p:nvSpPr>
        <p:spPr>
          <a:xfrm>
            <a:off x="6163200" y="1426320"/>
            <a:ext cx="2742840" cy="20113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3" name="TextBox 15"/>
          <p:cNvSpPr/>
          <p:nvPr/>
        </p:nvSpPr>
        <p:spPr>
          <a:xfrm>
            <a:off x="630036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📊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Score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16"/>
          <p:cNvSpPr/>
          <p:nvPr/>
        </p:nvSpPr>
        <p:spPr>
          <a:xfrm>
            <a:off x="630036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cosine distance → score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avg_rag_score в ответе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RagChunk с text_preview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7"/>
          <p:cNvSpPr/>
          <p:nvPr/>
        </p:nvSpPr>
        <p:spPr>
          <a:xfrm>
            <a:off x="8924400" y="2194560"/>
            <a:ext cx="182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pc="-1" strike="noStrike">
                <a:solidFill>
                  <a:srgbClr val="e8a838"/>
                </a:solidFill>
                <a:latin typeface="Calibri"/>
              </a:rPr>
              <a:t>→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ectangle 18"/>
          <p:cNvSpPr/>
          <p:nvPr/>
        </p:nvSpPr>
        <p:spPr>
          <a:xfrm>
            <a:off x="9107280" y="1426320"/>
            <a:ext cx="2742840" cy="20113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TextBox 19"/>
          <p:cNvSpPr/>
          <p:nvPr/>
        </p:nvSpPr>
        <p:spPr>
          <a:xfrm>
            <a:off x="9244440" y="1508760"/>
            <a:ext cx="24685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✔️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Ground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20"/>
          <p:cNvSpPr/>
          <p:nvPr/>
        </p:nvSpPr>
        <p:spPr>
          <a:xfrm>
            <a:off x="9244440" y="1965960"/>
            <a:ext cx="246852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source_doc vs retrieved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Grounding check warning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eeff"/>
                </a:solidFill>
                <a:latin typeface="Calibri"/>
              </a:rPr>
              <a:t>dedup cosine &gt; 0.85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ectangle 21"/>
          <p:cNvSpPr/>
          <p:nvPr/>
        </p:nvSpPr>
        <p:spPr>
          <a:xfrm>
            <a:off x="274320" y="3657600"/>
            <a:ext cx="548604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Rectangle 22"/>
          <p:cNvSpPr/>
          <p:nvPr/>
        </p:nvSpPr>
        <p:spPr>
          <a:xfrm>
            <a:off x="274320" y="3657600"/>
            <a:ext cx="548604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23"/>
          <p:cNvSpPr/>
          <p:nvPr/>
        </p:nvSpPr>
        <p:spPr>
          <a:xfrm>
            <a:off x="457200" y="371232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Конфигурация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24"/>
          <p:cNvSpPr/>
          <p:nvPr/>
        </p:nvSpPr>
        <p:spPr>
          <a:xfrm>
            <a:off x="411480" y="41695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Коллекция: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Box 25"/>
          <p:cNvSpPr/>
          <p:nvPr/>
        </p:nvSpPr>
        <p:spPr>
          <a:xfrm>
            <a:off x="2011680" y="41695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vnd_documents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Box 26"/>
          <p:cNvSpPr/>
          <p:nvPr/>
        </p:nvSpPr>
        <p:spPr>
          <a:xfrm>
            <a:off x="411480" y="4563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Модель: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27"/>
          <p:cNvSpPr/>
          <p:nvPr/>
        </p:nvSpPr>
        <p:spPr>
          <a:xfrm>
            <a:off x="2011680" y="456300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paraphrase-multilingual-MiniLM-L12-v2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8"/>
          <p:cNvSpPr/>
          <p:nvPr/>
        </p:nvSpPr>
        <p:spPr>
          <a:xfrm>
            <a:off x="411480" y="49561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Размерность: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29"/>
          <p:cNvSpPr/>
          <p:nvPr/>
        </p:nvSpPr>
        <p:spPr>
          <a:xfrm>
            <a:off x="2011680" y="495612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384d · метрика: cosine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30"/>
          <p:cNvSpPr/>
          <p:nvPr/>
        </p:nvSpPr>
        <p:spPr>
          <a:xfrm>
            <a:off x="411480" y="53492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Payload-поля: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31"/>
          <p:cNvSpPr/>
          <p:nvPr/>
        </p:nvSpPr>
        <p:spPr>
          <a:xfrm>
            <a:off x="2011680" y="534924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doc_title, doc_type, department_scope, text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32"/>
          <p:cNvSpPr/>
          <p:nvPr/>
        </p:nvSpPr>
        <p:spPr>
          <a:xfrm>
            <a:off x="411480" y="57423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Фильтрация: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33"/>
          <p:cNvSpPr/>
          <p:nvPr/>
        </p:nvSpPr>
        <p:spPr>
          <a:xfrm>
            <a:off x="2011680" y="574236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department_scope == dept_id (с fallback)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34"/>
          <p:cNvSpPr/>
          <p:nvPr/>
        </p:nvSpPr>
        <p:spPr>
          <a:xfrm>
            <a:off x="411480" y="61354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Чанков: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35"/>
          <p:cNvSpPr/>
          <p:nvPr/>
        </p:nvSpPr>
        <p:spPr>
          <a:xfrm>
            <a:off x="2011680" y="6135480"/>
            <a:ext cx="35658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412 из 160 документов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Rectangle 36"/>
          <p:cNvSpPr/>
          <p:nvPr/>
        </p:nvSpPr>
        <p:spPr>
          <a:xfrm>
            <a:off x="5989320" y="3657600"/>
            <a:ext cx="5924880" cy="2925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5" name="Rectangle 37"/>
          <p:cNvSpPr/>
          <p:nvPr/>
        </p:nvSpPr>
        <p:spPr>
          <a:xfrm>
            <a:off x="5989320" y="3657600"/>
            <a:ext cx="592488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6" name="TextBox 38"/>
          <p:cNvSpPr/>
          <p:nvPr/>
        </p:nvSpPr>
        <p:spPr>
          <a:xfrm>
            <a:off x="6172200" y="3712320"/>
            <a:ext cx="54860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Сгенерированная цель — поля ответа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39"/>
          <p:cNvSpPr/>
          <p:nvPr/>
        </p:nvSpPr>
        <p:spPr>
          <a:xfrm>
            <a:off x="6126480" y="416952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text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40"/>
          <p:cNvSpPr/>
          <p:nvPr/>
        </p:nvSpPr>
        <p:spPr>
          <a:xfrm>
            <a:off x="8458200" y="416952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Формулировка в SMART-формате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41"/>
          <p:cNvSpPr/>
          <p:nvPr/>
        </p:nvSpPr>
        <p:spPr>
          <a:xfrm>
            <a:off x="6126480" y="45172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metric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42"/>
          <p:cNvSpPr/>
          <p:nvPr/>
        </p:nvSpPr>
        <p:spPr>
          <a:xfrm>
            <a:off x="8458200" y="45172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Измеримый показатель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3"/>
          <p:cNvSpPr/>
          <p:nvPr/>
        </p:nvSpPr>
        <p:spPr>
          <a:xfrm>
            <a:off x="6126480" y="48646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deadline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Box 44"/>
          <p:cNvSpPr/>
          <p:nvPr/>
        </p:nvSpPr>
        <p:spPr>
          <a:xfrm>
            <a:off x="8458200" y="4864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Конкретная дата / квартал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45"/>
          <p:cNvSpPr/>
          <p:nvPr/>
        </p:nvSpPr>
        <p:spPr>
          <a:xfrm>
            <a:off x="6126480" y="52120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source_doc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6"/>
          <p:cNvSpPr/>
          <p:nvPr/>
        </p:nvSpPr>
        <p:spPr>
          <a:xfrm>
            <a:off x="8458200" y="52120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Название ВНД-документа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47"/>
          <p:cNvSpPr/>
          <p:nvPr/>
        </p:nvSpPr>
        <p:spPr>
          <a:xfrm>
            <a:off x="6126480" y="55594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source_quote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48"/>
          <p:cNvSpPr/>
          <p:nvPr/>
        </p:nvSpPr>
        <p:spPr>
          <a:xfrm>
            <a:off x="8458200" y="55594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Цитата из документа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49"/>
          <p:cNvSpPr/>
          <p:nvPr/>
        </p:nvSpPr>
        <p:spPr>
          <a:xfrm>
            <a:off x="6126480" y="590688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smart_index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50"/>
          <p:cNvSpPr/>
          <p:nvPr/>
        </p:nvSpPr>
        <p:spPr>
          <a:xfrm>
            <a:off x="8458200" y="59068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Авто-SMART-оценка (0.0–1.0)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51"/>
          <p:cNvSpPr/>
          <p:nvPr/>
        </p:nvSpPr>
        <p:spPr>
          <a:xfrm>
            <a:off x="6126480" y="6254640"/>
            <a:ext cx="22856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00" spc="-1" strike="noStrike">
                <a:solidFill>
                  <a:srgbClr val="2e7d32"/>
                </a:solidFill>
                <a:latin typeface="Calibri"/>
              </a:rPr>
              <a:t>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52"/>
          <p:cNvSpPr/>
          <p:nvPr/>
        </p:nvSpPr>
        <p:spPr>
          <a:xfrm>
            <a:off x="8458200" y="62546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strategic / functional / operational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53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13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API — Документация и структура (10%)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FastAPI · OpenAPI /docs · Pydantic v2 · Field(description) · Async SQLAlchemy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7" name="Rectangle 6"/>
          <p:cNvSpPr/>
          <p:nvPr/>
        </p:nvSpPr>
        <p:spPr>
          <a:xfrm>
            <a:off x="274320" y="1417320"/>
            <a:ext cx="11639880" cy="3470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8" name="TextBox 7"/>
          <p:cNvSpPr/>
          <p:nvPr/>
        </p:nvSpPr>
        <p:spPr>
          <a:xfrm>
            <a:off x="228960" y="14446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POST — запись / AI-обработка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9"/>
          <p:cNvSpPr/>
          <p:nvPr/>
        </p:nvSpPr>
        <p:spPr>
          <a:xfrm>
            <a:off x="5623560" y="1444680"/>
            <a:ext cx="6400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Описание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Rectangle 10"/>
          <p:cNvSpPr/>
          <p:nvPr/>
        </p:nvSpPr>
        <p:spPr>
          <a:xfrm>
            <a:off x="274320" y="18104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1" name="Rectangle 11"/>
          <p:cNvSpPr/>
          <p:nvPr/>
        </p:nvSpPr>
        <p:spPr>
          <a:xfrm>
            <a:off x="347400" y="18561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12"/>
          <p:cNvSpPr/>
          <p:nvPr/>
        </p:nvSpPr>
        <p:spPr>
          <a:xfrm>
            <a:off x="347400" y="18655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13"/>
          <p:cNvSpPr/>
          <p:nvPr/>
        </p:nvSpPr>
        <p:spPr>
          <a:xfrm>
            <a:off x="1115640" y="18745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/api/evaluate-goal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4"/>
          <p:cNvSpPr/>
          <p:nvPr/>
        </p:nvSpPr>
        <p:spPr>
          <a:xfrm>
            <a:off x="5623560" y="18745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Оценить одну цель по SMART · 5 критериев · алерты F-16..F-21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ectangle 15"/>
          <p:cNvSpPr/>
          <p:nvPr/>
        </p:nvSpPr>
        <p:spPr>
          <a:xfrm>
            <a:off x="274320" y="22676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Rectangle 16"/>
          <p:cNvSpPr/>
          <p:nvPr/>
        </p:nvSpPr>
        <p:spPr>
          <a:xfrm>
            <a:off x="347400" y="23133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TextBox 17"/>
          <p:cNvSpPr/>
          <p:nvPr/>
        </p:nvSpPr>
        <p:spPr>
          <a:xfrm>
            <a:off x="347400" y="23227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8"/>
          <p:cNvSpPr/>
          <p:nvPr/>
        </p:nvSpPr>
        <p:spPr>
          <a:xfrm>
            <a:off x="1115640" y="23317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/api/evaluate-batch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9"/>
          <p:cNvSpPr/>
          <p:nvPr/>
        </p:nvSpPr>
        <p:spPr>
          <a:xfrm>
            <a:off x="5623560" y="23317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Пакетная оценка всех целей сотрудника · asyncio.gather ·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Rectangle 20"/>
          <p:cNvSpPr/>
          <p:nvPr/>
        </p:nvSpPr>
        <p:spPr>
          <a:xfrm>
            <a:off x="274320" y="2724840"/>
            <a:ext cx="11639880" cy="42012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1" name="Rectangle 21"/>
          <p:cNvSpPr/>
          <p:nvPr/>
        </p:nvSpPr>
        <p:spPr>
          <a:xfrm>
            <a:off x="347400" y="27705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TextBox 22"/>
          <p:cNvSpPr/>
          <p:nvPr/>
        </p:nvSpPr>
        <p:spPr>
          <a:xfrm>
            <a:off x="347400" y="27799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Box 23"/>
          <p:cNvSpPr/>
          <p:nvPr/>
        </p:nvSpPr>
        <p:spPr>
          <a:xfrm>
            <a:off x="1115640" y="27889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/api/generate-goals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24"/>
          <p:cNvSpPr/>
          <p:nvPr/>
        </p:nvSpPr>
        <p:spPr>
          <a:xfrm>
            <a:off x="5623560" y="27889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AI-генерация 3–5 целей · RAG + Gemini · dedup · grounding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ectangle 25"/>
          <p:cNvSpPr/>
          <p:nvPr/>
        </p:nvSpPr>
        <p:spPr>
          <a:xfrm>
            <a:off x="274320" y="318204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26"/>
          <p:cNvSpPr/>
          <p:nvPr/>
        </p:nvSpPr>
        <p:spPr>
          <a:xfrm>
            <a:off x="347400" y="3227760"/>
            <a:ext cx="658080" cy="31068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27"/>
          <p:cNvSpPr/>
          <p:nvPr/>
        </p:nvSpPr>
        <p:spPr>
          <a:xfrm>
            <a:off x="347400" y="323712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e7d32"/>
                </a:solidFill>
                <a:latin typeface="Calibri"/>
              </a:rPr>
              <a:t>POST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28"/>
          <p:cNvSpPr/>
          <p:nvPr/>
        </p:nvSpPr>
        <p:spPr>
          <a:xfrm>
            <a:off x="1115640" y="324612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2e7d32"/>
                </a:solidFill>
                <a:latin typeface="Calibri"/>
              </a:rPr>
              <a:t>/api/accept-goals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29"/>
          <p:cNvSpPr/>
          <p:nvPr/>
        </p:nvSpPr>
        <p:spPr>
          <a:xfrm>
            <a:off x="5623560" y="324612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Принять выбранные цели · сохранить в accepted_goals (F-13)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Rectangle 30"/>
          <p:cNvSpPr/>
          <p:nvPr/>
        </p:nvSpPr>
        <p:spPr>
          <a:xfrm>
            <a:off x="274320" y="3712320"/>
            <a:ext cx="11639880" cy="180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6640" bIns="-26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Rectangle 31"/>
          <p:cNvSpPr/>
          <p:nvPr/>
        </p:nvSpPr>
        <p:spPr>
          <a:xfrm>
            <a:off x="274320" y="3803760"/>
            <a:ext cx="11639880" cy="34704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2" name="TextBox 32"/>
          <p:cNvSpPr/>
          <p:nvPr/>
        </p:nvSpPr>
        <p:spPr>
          <a:xfrm>
            <a:off x="457200" y="3831480"/>
            <a:ext cx="5486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GET — чтение / аналитика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ectangle 33"/>
          <p:cNvSpPr/>
          <p:nvPr/>
        </p:nvSpPr>
        <p:spPr>
          <a:xfrm>
            <a:off x="274320" y="41878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Rectangle 34"/>
          <p:cNvSpPr/>
          <p:nvPr/>
        </p:nvSpPr>
        <p:spPr>
          <a:xfrm>
            <a:off x="347400" y="42336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5" name="TextBox 35"/>
          <p:cNvSpPr/>
          <p:nvPr/>
        </p:nvSpPr>
        <p:spPr>
          <a:xfrm>
            <a:off x="347400" y="42429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Box 36"/>
          <p:cNvSpPr/>
          <p:nvPr/>
        </p:nvSpPr>
        <p:spPr>
          <a:xfrm>
            <a:off x="1115640" y="42519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/api/dashboard/department-quality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Box 37"/>
          <p:cNvSpPr/>
          <p:nvPr/>
        </p:nvSpPr>
        <p:spPr>
          <a:xfrm>
            <a:off x="5623560" y="42519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SMART-индекс по подразделениям · strategic_ratio · weakest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Rectangle 38"/>
          <p:cNvSpPr/>
          <p:nvPr/>
        </p:nvSpPr>
        <p:spPr>
          <a:xfrm>
            <a:off x="274320" y="46450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9" name="Rectangle 39"/>
          <p:cNvSpPr/>
          <p:nvPr/>
        </p:nvSpPr>
        <p:spPr>
          <a:xfrm>
            <a:off x="347400" y="46908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TextBox 40"/>
          <p:cNvSpPr/>
          <p:nvPr/>
        </p:nvSpPr>
        <p:spPr>
          <a:xfrm>
            <a:off x="347400" y="47001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Box 41"/>
          <p:cNvSpPr/>
          <p:nvPr/>
        </p:nvSpPr>
        <p:spPr>
          <a:xfrm>
            <a:off x="1115640" y="47091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/api/dashboard/quarterly-trend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42"/>
          <p:cNvSpPr/>
          <p:nvPr/>
        </p:nvSpPr>
        <p:spPr>
          <a:xfrm>
            <a:off x="5623560" y="47091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Квартальная динамика · criterion_scores для RadarChart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43"/>
          <p:cNvSpPr/>
          <p:nvPr/>
        </p:nvSpPr>
        <p:spPr>
          <a:xfrm>
            <a:off x="274320" y="51022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Rectangle 44"/>
          <p:cNvSpPr/>
          <p:nvPr/>
        </p:nvSpPr>
        <p:spPr>
          <a:xfrm>
            <a:off x="347400" y="51480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45"/>
          <p:cNvSpPr/>
          <p:nvPr/>
        </p:nvSpPr>
        <p:spPr>
          <a:xfrm>
            <a:off x="347400" y="51573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46"/>
          <p:cNvSpPr/>
          <p:nvPr/>
        </p:nvSpPr>
        <p:spPr>
          <a:xfrm>
            <a:off x="1115640" y="51663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/api/dashboard/maturity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47"/>
          <p:cNvSpPr/>
          <p:nvPr/>
        </p:nvSpPr>
        <p:spPr>
          <a:xfrm>
            <a:off x="5623560" y="51663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Индекс зрелости подразделения F-22 · recommendations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Rectangle 48"/>
          <p:cNvSpPr/>
          <p:nvPr/>
        </p:nvSpPr>
        <p:spPr>
          <a:xfrm>
            <a:off x="274320" y="5559480"/>
            <a:ext cx="11639880" cy="42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Rectangle 49"/>
          <p:cNvSpPr/>
          <p:nvPr/>
        </p:nvSpPr>
        <p:spPr>
          <a:xfrm>
            <a:off x="347400" y="56052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0" name="TextBox 50"/>
          <p:cNvSpPr/>
          <p:nvPr/>
        </p:nvSpPr>
        <p:spPr>
          <a:xfrm>
            <a:off x="347400" y="56145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51"/>
          <p:cNvSpPr/>
          <p:nvPr/>
        </p:nvSpPr>
        <p:spPr>
          <a:xfrm>
            <a:off x="1115640" y="56235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/api/employees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TextBox 52"/>
          <p:cNvSpPr/>
          <p:nvPr/>
        </p:nvSpPr>
        <p:spPr>
          <a:xfrm>
            <a:off x="5623560" y="56235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Список сотрудников с кол-вом целей (кеш 5 мин)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Rectangle 53"/>
          <p:cNvSpPr/>
          <p:nvPr/>
        </p:nvSpPr>
        <p:spPr>
          <a:xfrm>
            <a:off x="274320" y="6016680"/>
            <a:ext cx="11639880" cy="42012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Rectangle 54"/>
          <p:cNvSpPr/>
          <p:nvPr/>
        </p:nvSpPr>
        <p:spPr>
          <a:xfrm>
            <a:off x="347400" y="6062400"/>
            <a:ext cx="658080" cy="310680"/>
          </a:xfrm>
          <a:prstGeom prst="rect">
            <a:avLst/>
          </a:prstGeom>
          <a:solidFill>
            <a:srgbClr val="e3f2f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5" name="TextBox 55"/>
          <p:cNvSpPr/>
          <p:nvPr/>
        </p:nvSpPr>
        <p:spPr>
          <a:xfrm>
            <a:off x="347400" y="6071760"/>
            <a:ext cx="6580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1e5499"/>
                </a:solidFill>
                <a:latin typeface="Calibri"/>
              </a:rPr>
              <a:t>GET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Box 56"/>
          <p:cNvSpPr/>
          <p:nvPr/>
        </p:nvSpPr>
        <p:spPr>
          <a:xfrm>
            <a:off x="1115640" y="6080760"/>
            <a:ext cx="42973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i="1" lang="en-US" sz="1050" spc="-1" strike="noStrike">
                <a:solidFill>
                  <a:srgbClr val="1e5499"/>
                </a:solidFill>
                <a:latin typeface="Calibri"/>
              </a:rPr>
              <a:t>/health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7"/>
          <p:cNvSpPr/>
          <p:nvPr/>
        </p:nvSpPr>
        <p:spPr>
          <a:xfrm>
            <a:off x="5623560" y="6080760"/>
            <a:ext cx="63090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1a1a2e"/>
                </a:solidFill>
                <a:latin typeface="Calibri"/>
              </a:rPr>
              <a:t>Health-check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8" name="Picture 58" descr="qr_docs.png"/>
          <p:cNvPicPr/>
          <p:nvPr/>
        </p:nvPicPr>
        <p:blipFill>
          <a:blip r:embed="rId1"/>
          <a:stretch/>
        </p:blipFill>
        <p:spPr>
          <a:xfrm>
            <a:off x="9601200" y="1417320"/>
            <a:ext cx="2285640" cy="2285640"/>
          </a:xfrm>
          <a:prstGeom prst="rect">
            <a:avLst/>
          </a:prstGeom>
          <a:ln w="0">
            <a:noFill/>
          </a:ln>
        </p:spPr>
      </p:pic>
      <p:sp>
        <p:nvSpPr>
          <p:cNvPr id="529" name="TextBox 59"/>
          <p:cNvSpPr/>
          <p:nvPr/>
        </p:nvSpPr>
        <p:spPr>
          <a:xfrm>
            <a:off x="9601200" y="37490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e5499"/>
                </a:solidFill>
                <a:latin typeface="Calibri"/>
              </a:rPr>
              <a:t>Swagger UI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60"/>
          <p:cNvSpPr/>
          <p:nvPr/>
        </p:nvSpPr>
        <p:spPr>
          <a:xfrm>
            <a:off x="9326880" y="4023360"/>
            <a:ext cx="255996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aaaaaa"/>
                </a:solidFill>
                <a:latin typeface="Calibri"/>
              </a:rPr>
              <a:t>http://89.207.255.254:8001/docs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Box 6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14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MVP — все обязательные функции реализованы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Rectangle 4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Rectangle 5"/>
          <p:cNvSpPr/>
          <p:nvPr/>
        </p:nvSpPr>
        <p:spPr>
          <a:xfrm>
            <a:off x="274320" y="1426320"/>
            <a:ext cx="11639880" cy="38376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7" name="TextBox 6"/>
          <p:cNvSpPr/>
          <p:nvPr/>
        </p:nvSpPr>
        <p:spPr>
          <a:xfrm>
            <a:off x="384120" y="1463040"/>
            <a:ext cx="2742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7"/>
          <p:cNvSpPr/>
          <p:nvPr/>
        </p:nvSpPr>
        <p:spPr>
          <a:xfrm>
            <a:off x="82296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Функция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8"/>
          <p:cNvSpPr/>
          <p:nvPr/>
        </p:nvSpPr>
        <p:spPr>
          <a:xfrm>
            <a:off x="457200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Endpoint / поле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9"/>
          <p:cNvSpPr/>
          <p:nvPr/>
        </p:nvSpPr>
        <p:spPr>
          <a:xfrm>
            <a:off x="7498080" y="14630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Детали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Rectangle 10"/>
          <p:cNvSpPr/>
          <p:nvPr/>
        </p:nvSpPr>
        <p:spPr>
          <a:xfrm>
            <a:off x="274320" y="185616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2" name="TextBox 11"/>
          <p:cNvSpPr/>
          <p:nvPr/>
        </p:nvSpPr>
        <p:spPr>
          <a:xfrm>
            <a:off x="384120" y="19659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12"/>
          <p:cNvSpPr/>
          <p:nvPr/>
        </p:nvSpPr>
        <p:spPr>
          <a:xfrm>
            <a:off x="822960" y="197496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SMART-оценка одной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Box 13"/>
          <p:cNvSpPr/>
          <p:nvPr/>
        </p:nvSpPr>
        <p:spPr>
          <a:xfrm>
            <a:off x="4572000" y="197496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Box 14"/>
          <p:cNvSpPr/>
          <p:nvPr/>
        </p:nvSpPr>
        <p:spPr>
          <a:xfrm>
            <a:off x="7498080" y="197496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5 скоров · smart_index · рекомендации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Rectangle 15"/>
          <p:cNvSpPr/>
          <p:nvPr/>
        </p:nvSpPr>
        <p:spPr>
          <a:xfrm>
            <a:off x="274320" y="246888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7" name="TextBox 16"/>
          <p:cNvSpPr/>
          <p:nvPr/>
        </p:nvSpPr>
        <p:spPr>
          <a:xfrm>
            <a:off x="384120" y="25786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17"/>
          <p:cNvSpPr/>
          <p:nvPr/>
        </p:nvSpPr>
        <p:spPr>
          <a:xfrm>
            <a:off x="822960" y="258768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Переформулировка слабой цели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18"/>
          <p:cNvSpPr/>
          <p:nvPr/>
        </p:nvSpPr>
        <p:spPr>
          <a:xfrm>
            <a:off x="4572000" y="258768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improved_goal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19"/>
          <p:cNvSpPr/>
          <p:nvPr/>
        </p:nvSpPr>
        <p:spPr>
          <a:xfrm>
            <a:off x="7498080" y="258768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Автоматически если smart_index &lt; 0.7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Rectangle 20"/>
          <p:cNvSpPr/>
          <p:nvPr/>
        </p:nvSpPr>
        <p:spPr>
          <a:xfrm>
            <a:off x="274320" y="308160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2" name="TextBox 21"/>
          <p:cNvSpPr/>
          <p:nvPr/>
        </p:nvSpPr>
        <p:spPr>
          <a:xfrm>
            <a:off x="384120" y="31914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22"/>
          <p:cNvSpPr/>
          <p:nvPr/>
        </p:nvSpPr>
        <p:spPr>
          <a:xfrm>
            <a:off x="822960" y="32004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Генерация 3–5 целей по должности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TextBox 23"/>
          <p:cNvSpPr/>
          <p:nvPr/>
        </p:nvSpPr>
        <p:spPr>
          <a:xfrm>
            <a:off x="4572000" y="32004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/api/generate-goals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24"/>
          <p:cNvSpPr/>
          <p:nvPr/>
        </p:nvSpPr>
        <p:spPr>
          <a:xfrm>
            <a:off x="7498080" y="32004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RAG (160 ВНД) + Gemini Flash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Rectangle 25"/>
          <p:cNvSpPr/>
          <p:nvPr/>
        </p:nvSpPr>
        <p:spPr>
          <a:xfrm>
            <a:off x="274320" y="369432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TextBox 26"/>
          <p:cNvSpPr/>
          <p:nvPr/>
        </p:nvSpPr>
        <p:spPr>
          <a:xfrm>
            <a:off x="384120" y="380376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27"/>
          <p:cNvSpPr/>
          <p:nvPr/>
        </p:nvSpPr>
        <p:spPr>
          <a:xfrm>
            <a:off x="822960" y="38131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Привязка к источнику ВНД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28"/>
          <p:cNvSpPr/>
          <p:nvPr/>
        </p:nvSpPr>
        <p:spPr>
          <a:xfrm>
            <a:off x="4572000" y="38131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source_doc + source_quote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29"/>
          <p:cNvSpPr/>
          <p:nvPr/>
        </p:nvSpPr>
        <p:spPr>
          <a:xfrm>
            <a:off x="7498080" y="38131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Документ + цитата в каждой цели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ectangle 30"/>
          <p:cNvSpPr/>
          <p:nvPr/>
        </p:nvSpPr>
        <p:spPr>
          <a:xfrm>
            <a:off x="274320" y="4306680"/>
            <a:ext cx="1163988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TextBox 31"/>
          <p:cNvSpPr/>
          <p:nvPr/>
        </p:nvSpPr>
        <p:spPr>
          <a:xfrm>
            <a:off x="384120" y="441648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32"/>
          <p:cNvSpPr/>
          <p:nvPr/>
        </p:nvSpPr>
        <p:spPr>
          <a:xfrm>
            <a:off x="822960" y="44258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Пакетная оценка за квартал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33"/>
          <p:cNvSpPr/>
          <p:nvPr/>
        </p:nvSpPr>
        <p:spPr>
          <a:xfrm>
            <a:off x="4572000" y="44258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POST /api/evaluate-batch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34"/>
          <p:cNvSpPr/>
          <p:nvPr/>
        </p:nvSpPr>
        <p:spPr>
          <a:xfrm>
            <a:off x="7498080" y="44258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asyncio.gather · avg_index · weakest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ectangle 35"/>
          <p:cNvSpPr/>
          <p:nvPr/>
        </p:nvSpPr>
        <p:spPr>
          <a:xfrm>
            <a:off x="274320" y="4919400"/>
            <a:ext cx="11639880" cy="566640"/>
          </a:xfrm>
          <a:prstGeom prst="rect">
            <a:avLst/>
          </a:prstGeom>
          <a:solidFill>
            <a:srgbClr val="dcf0d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7" name="TextBox 36"/>
          <p:cNvSpPr/>
          <p:nvPr/>
        </p:nvSpPr>
        <p:spPr>
          <a:xfrm>
            <a:off x="384120" y="502920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2e7d32"/>
                </a:solidFill>
                <a:latin typeface="Calibri"/>
              </a:rPr>
              <a:t>✅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37"/>
          <p:cNvSpPr/>
          <p:nvPr/>
        </p:nvSpPr>
        <p:spPr>
          <a:xfrm>
            <a:off x="822960" y="503820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Дашборд по подразделениям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38"/>
          <p:cNvSpPr/>
          <p:nvPr/>
        </p:nvSpPr>
        <p:spPr>
          <a:xfrm>
            <a:off x="4572000" y="503820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GET /api/dashboard/*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39"/>
          <p:cNvSpPr/>
          <p:nvPr/>
        </p:nvSpPr>
        <p:spPr>
          <a:xfrm>
            <a:off x="7498080" y="503820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SMART-индекс · тренд · radar · проблемы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Rectangle 40"/>
          <p:cNvSpPr/>
          <p:nvPr/>
        </p:nvSpPr>
        <p:spPr>
          <a:xfrm>
            <a:off x="274320" y="5532120"/>
            <a:ext cx="1163988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41"/>
          <p:cNvSpPr/>
          <p:nvPr/>
        </p:nvSpPr>
        <p:spPr>
          <a:xfrm>
            <a:off x="384120" y="564192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e8a838"/>
                </a:solidFill>
                <a:latin typeface="Calibri"/>
              </a:rPr>
              <a:t>⭕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42"/>
          <p:cNvSpPr/>
          <p:nvPr/>
        </p:nvSpPr>
        <p:spPr>
          <a:xfrm>
            <a:off x="822960" y="565092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Каскадирование от руководителя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43"/>
          <p:cNvSpPr/>
          <p:nvPr/>
        </p:nvSpPr>
        <p:spPr>
          <a:xfrm>
            <a:off x="4572000" y="565092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manager_goals в промпте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44"/>
          <p:cNvSpPr/>
          <p:nvPr/>
        </p:nvSpPr>
        <p:spPr>
          <a:xfrm>
            <a:off x="7498080" y="565092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Реализовано через manager_id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Rectangle 45"/>
          <p:cNvSpPr/>
          <p:nvPr/>
        </p:nvSpPr>
        <p:spPr>
          <a:xfrm>
            <a:off x="274320" y="6144840"/>
            <a:ext cx="11639880" cy="566640"/>
          </a:xfrm>
          <a:prstGeom prst="rect">
            <a:avLst/>
          </a:prstGeom>
          <a:solidFill>
            <a:srgbClr val="f5f8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7" name="TextBox 46"/>
          <p:cNvSpPr/>
          <p:nvPr/>
        </p:nvSpPr>
        <p:spPr>
          <a:xfrm>
            <a:off x="384120" y="6254640"/>
            <a:ext cx="4021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</a:rPr>
              <a:t>–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47"/>
          <p:cNvSpPr/>
          <p:nvPr/>
        </p:nvSpPr>
        <p:spPr>
          <a:xfrm>
            <a:off x="822960" y="6263640"/>
            <a:ext cx="3565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a3264"/>
                </a:solidFill>
                <a:latin typeface="Calibri"/>
              </a:rPr>
              <a:t>Интеграция 1С / SAP / Oracle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48"/>
          <p:cNvSpPr/>
          <p:nvPr/>
        </p:nvSpPr>
        <p:spPr>
          <a:xfrm>
            <a:off x="4572000" y="6263640"/>
            <a:ext cx="27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1e5499"/>
                </a:solidFill>
                <a:latin typeface="Calibri"/>
              </a:rPr>
              <a:t>—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Box 49"/>
          <p:cNvSpPr/>
          <p:nvPr/>
        </p:nvSpPr>
        <p:spPr>
          <a:xfrm>
            <a:off x="7498080" y="6263640"/>
            <a:ext cx="4297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1a1a2e"/>
                </a:solidFill>
                <a:latin typeface="Calibri"/>
              </a:rPr>
              <a:t>Вне MVP (опционально по ТЗ)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5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15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f0f4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2"/>
          <p:cNvSpPr/>
          <p:nvPr/>
        </p:nvSpPr>
        <p:spPr>
          <a:xfrm>
            <a:off x="0" y="0"/>
            <a:ext cx="12188520" cy="123408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3"/>
          <p:cNvSpPr/>
          <p:nvPr/>
        </p:nvSpPr>
        <p:spPr>
          <a:xfrm>
            <a:off x="365760" y="91440"/>
            <a:ext cx="914364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</a:rPr>
              <a:t>Данные — что у нас есть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4"/>
          <p:cNvSpPr/>
          <p:nvPr/>
        </p:nvSpPr>
        <p:spPr>
          <a:xfrm>
            <a:off x="365760" y="694800"/>
            <a:ext cx="100580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e8a838"/>
                </a:solidFill>
                <a:latin typeface="Calibri"/>
              </a:rPr>
              <a:t>Remote DB организаторов + Local DB AI-результатов + Qdrant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ectangle 5"/>
          <p:cNvSpPr/>
          <p:nvPr/>
        </p:nvSpPr>
        <p:spPr>
          <a:xfrm>
            <a:off x="0" y="1234440"/>
            <a:ext cx="12188520" cy="5436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720" bIns="9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7" name="Rectangle 6"/>
          <p:cNvSpPr/>
          <p:nvPr/>
        </p:nvSpPr>
        <p:spPr>
          <a:xfrm>
            <a:off x="274320" y="1426320"/>
            <a:ext cx="1810080" cy="109692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TextBox 7"/>
          <p:cNvSpPr/>
          <p:nvPr/>
        </p:nvSpPr>
        <p:spPr>
          <a:xfrm>
            <a:off x="3657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450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8"/>
          <p:cNvSpPr/>
          <p:nvPr/>
        </p:nvSpPr>
        <p:spPr>
          <a:xfrm>
            <a:off x="3657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сотрудников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ectangle 9"/>
          <p:cNvSpPr/>
          <p:nvPr/>
        </p:nvSpPr>
        <p:spPr>
          <a:xfrm>
            <a:off x="2212920" y="1426320"/>
            <a:ext cx="1810080" cy="1096920"/>
          </a:xfrm>
          <a:prstGeom prst="rect">
            <a:avLst/>
          </a:prstGeom>
          <a:solidFill>
            <a:srgbClr val="1e54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1" name="TextBox 10"/>
          <p:cNvSpPr/>
          <p:nvPr/>
        </p:nvSpPr>
        <p:spPr>
          <a:xfrm>
            <a:off x="23043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9 000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Box 11"/>
          <p:cNvSpPr/>
          <p:nvPr/>
        </p:nvSpPr>
        <p:spPr>
          <a:xfrm>
            <a:off x="23043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целей в БД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Rectangle 12"/>
          <p:cNvSpPr/>
          <p:nvPr/>
        </p:nvSpPr>
        <p:spPr>
          <a:xfrm>
            <a:off x="4151520" y="1426320"/>
            <a:ext cx="1810080" cy="10969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4" name="TextBox 13"/>
          <p:cNvSpPr/>
          <p:nvPr/>
        </p:nvSpPr>
        <p:spPr>
          <a:xfrm>
            <a:off x="424296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160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14"/>
          <p:cNvSpPr/>
          <p:nvPr/>
        </p:nvSpPr>
        <p:spPr>
          <a:xfrm>
            <a:off x="424296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ВНД-документов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ectangle 15"/>
          <p:cNvSpPr/>
          <p:nvPr/>
        </p:nvSpPr>
        <p:spPr>
          <a:xfrm>
            <a:off x="6089760" y="1426320"/>
            <a:ext cx="1810080" cy="10969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7" name="TextBox 16"/>
          <p:cNvSpPr/>
          <p:nvPr/>
        </p:nvSpPr>
        <p:spPr>
          <a:xfrm>
            <a:off x="61812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412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17"/>
          <p:cNvSpPr/>
          <p:nvPr/>
        </p:nvSpPr>
        <p:spPr>
          <a:xfrm>
            <a:off x="61812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векторных чанков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ectangle 18"/>
          <p:cNvSpPr/>
          <p:nvPr/>
        </p:nvSpPr>
        <p:spPr>
          <a:xfrm>
            <a:off x="8028360" y="1426320"/>
            <a:ext cx="1810080" cy="1096920"/>
          </a:xfrm>
          <a:prstGeom prst="rect">
            <a:avLst/>
          </a:prstGeom>
          <a:solidFill>
            <a:srgbClr val="e65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19"/>
          <p:cNvSpPr/>
          <p:nvPr/>
        </p:nvSpPr>
        <p:spPr>
          <a:xfrm>
            <a:off x="81198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8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20"/>
          <p:cNvSpPr/>
          <p:nvPr/>
        </p:nvSpPr>
        <p:spPr>
          <a:xfrm>
            <a:off x="81198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подразделений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Rectangle 21"/>
          <p:cNvSpPr/>
          <p:nvPr/>
        </p:nvSpPr>
        <p:spPr>
          <a:xfrm>
            <a:off x="9966960" y="1426320"/>
            <a:ext cx="1810080" cy="1096920"/>
          </a:xfrm>
          <a:prstGeom prst="rect">
            <a:avLst/>
          </a:prstGeom>
          <a:solidFill>
            <a:srgbClr val="0060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3" name="TextBox 22"/>
          <p:cNvSpPr/>
          <p:nvPr/>
        </p:nvSpPr>
        <p:spPr>
          <a:xfrm>
            <a:off x="10058400" y="1517760"/>
            <a:ext cx="1627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000" spc="-1" strike="noStrike">
                <a:solidFill>
                  <a:srgbClr val="ffffff"/>
                </a:solidFill>
                <a:latin typeface="Calibri"/>
              </a:rPr>
              <a:t>13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3"/>
          <p:cNvSpPr/>
          <p:nvPr/>
        </p:nvSpPr>
        <p:spPr>
          <a:xfrm>
            <a:off x="10058400" y="2048400"/>
            <a:ext cx="1627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ffffff"/>
                </a:solidFill>
                <a:latin typeface="Calibri"/>
              </a:rPr>
              <a:t>KPI-метрик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Rectangle 24"/>
          <p:cNvSpPr/>
          <p:nvPr/>
        </p:nvSpPr>
        <p:spPr>
          <a:xfrm>
            <a:off x="274320" y="2743200"/>
            <a:ext cx="539460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6" name="Rectangle 25"/>
          <p:cNvSpPr/>
          <p:nvPr/>
        </p:nvSpPr>
        <p:spPr>
          <a:xfrm>
            <a:off x="274320" y="2743200"/>
            <a:ext cx="5394600" cy="411120"/>
          </a:xfrm>
          <a:prstGeom prst="rect">
            <a:avLst/>
          </a:prstGeom>
          <a:solidFill>
            <a:srgbClr val="6a1b9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7" name="TextBox 26"/>
          <p:cNvSpPr/>
          <p:nvPr/>
        </p:nvSpPr>
        <p:spPr>
          <a:xfrm>
            <a:off x="457200" y="2807280"/>
            <a:ext cx="502884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🟣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Remote PostgreSQL (readonly)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ectangle 27"/>
          <p:cNvSpPr/>
          <p:nvPr/>
        </p:nvSpPr>
        <p:spPr>
          <a:xfrm>
            <a:off x="411480" y="324612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28"/>
          <p:cNvSpPr/>
          <p:nvPr/>
        </p:nvSpPr>
        <p:spPr>
          <a:xfrm>
            <a:off x="502920" y="330084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employees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29"/>
          <p:cNvSpPr/>
          <p:nvPr/>
        </p:nvSpPr>
        <p:spPr>
          <a:xfrm>
            <a:off x="2103120" y="333756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full_name, position_id, department_id, manager_id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Rectangle 30"/>
          <p:cNvSpPr/>
          <p:nvPr/>
        </p:nvSpPr>
        <p:spPr>
          <a:xfrm>
            <a:off x="411480" y="388620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2" name="TextBox 31"/>
          <p:cNvSpPr/>
          <p:nvPr/>
        </p:nvSpPr>
        <p:spPr>
          <a:xfrm>
            <a:off x="502920" y="394092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32"/>
          <p:cNvSpPr/>
          <p:nvPr/>
        </p:nvSpPr>
        <p:spPr>
          <a:xfrm>
            <a:off x="2103120" y="397764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goal_id, employee_id, goal_text, weight, quarter, year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Rectangle 33"/>
          <p:cNvSpPr/>
          <p:nvPr/>
        </p:nvSpPr>
        <p:spPr>
          <a:xfrm>
            <a:off x="411480" y="452628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5" name="TextBox 34"/>
          <p:cNvSpPr/>
          <p:nvPr/>
        </p:nvSpPr>
        <p:spPr>
          <a:xfrm>
            <a:off x="502920" y="458100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departments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35"/>
          <p:cNvSpPr/>
          <p:nvPr/>
        </p:nvSpPr>
        <p:spPr>
          <a:xfrm>
            <a:off x="2103120" y="461772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name, is_active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ectangle 36"/>
          <p:cNvSpPr/>
          <p:nvPr/>
        </p:nvSpPr>
        <p:spPr>
          <a:xfrm>
            <a:off x="411480" y="5166360"/>
            <a:ext cx="502884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7"/>
          <p:cNvSpPr/>
          <p:nvPr/>
        </p:nvSpPr>
        <p:spPr>
          <a:xfrm>
            <a:off x="502920" y="522108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documents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38"/>
          <p:cNvSpPr/>
          <p:nvPr/>
        </p:nvSpPr>
        <p:spPr>
          <a:xfrm>
            <a:off x="2103120" y="525780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id, title, content (полный текст ВНД)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Rectangle 39"/>
          <p:cNvSpPr/>
          <p:nvPr/>
        </p:nvSpPr>
        <p:spPr>
          <a:xfrm>
            <a:off x="411480" y="5806440"/>
            <a:ext cx="5028840" cy="566640"/>
          </a:xfrm>
          <a:prstGeom prst="rect">
            <a:avLst/>
          </a:prstGeom>
          <a:solidFill>
            <a:srgbClr val="f3e5f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1" name="TextBox 40"/>
          <p:cNvSpPr/>
          <p:nvPr/>
        </p:nvSpPr>
        <p:spPr>
          <a:xfrm>
            <a:off x="502920" y="5861160"/>
            <a:ext cx="15541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a1b9a"/>
                </a:solidFill>
                <a:latin typeface="Calibri"/>
              </a:rPr>
              <a:t>kpi_timeseries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41"/>
          <p:cNvSpPr/>
          <p:nvPr/>
        </p:nvSpPr>
        <p:spPr>
          <a:xfrm>
            <a:off x="2103120" y="5897880"/>
            <a:ext cx="32000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metric_key, department_id, value_num, period_date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Rectangle 42"/>
          <p:cNvSpPr/>
          <p:nvPr/>
        </p:nvSpPr>
        <p:spPr>
          <a:xfrm>
            <a:off x="5943600" y="2743200"/>
            <a:ext cx="5988960" cy="3840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4" name="Rectangle 43"/>
          <p:cNvSpPr/>
          <p:nvPr/>
        </p:nvSpPr>
        <p:spPr>
          <a:xfrm>
            <a:off x="5943600" y="2743200"/>
            <a:ext cx="5988960" cy="41112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5" name="TextBox 44"/>
          <p:cNvSpPr/>
          <p:nvPr/>
        </p:nvSpPr>
        <p:spPr>
          <a:xfrm>
            <a:off x="6126480" y="2807280"/>
            <a:ext cx="5577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Local PostgreSQL (Alembic) + Qdrant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ectangle 45"/>
          <p:cNvSpPr/>
          <p:nvPr/>
        </p:nvSpPr>
        <p:spPr>
          <a:xfrm>
            <a:off x="6080760" y="324612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46"/>
          <p:cNvSpPr/>
          <p:nvPr/>
        </p:nvSpPr>
        <p:spPr>
          <a:xfrm>
            <a:off x="6172200" y="330084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ai_evaluations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47"/>
          <p:cNvSpPr/>
          <p:nvPr/>
        </p:nvSpPr>
        <p:spPr>
          <a:xfrm>
            <a:off x="8503920" y="333756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scores_json, overall_index, goal_type, alignment_level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Rectangle 48"/>
          <p:cNvSpPr/>
          <p:nvPr/>
        </p:nvSpPr>
        <p:spPr>
          <a:xfrm>
            <a:off x="6080760" y="3886200"/>
            <a:ext cx="5668920" cy="566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0" name="TextBox 49"/>
          <p:cNvSpPr/>
          <p:nvPr/>
        </p:nvSpPr>
        <p:spPr>
          <a:xfrm>
            <a:off x="6172200" y="394092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ai_generated_goals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50"/>
          <p:cNvSpPr/>
          <p:nvPr/>
        </p:nvSpPr>
        <p:spPr>
          <a:xfrm>
            <a:off x="8503920" y="397764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context_json, warnings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ectangle 51"/>
          <p:cNvSpPr/>
          <p:nvPr/>
        </p:nvSpPr>
        <p:spPr>
          <a:xfrm>
            <a:off x="6080760" y="4526280"/>
            <a:ext cx="5668920" cy="56664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3" name="TextBox 52"/>
          <p:cNvSpPr/>
          <p:nvPr/>
        </p:nvSpPr>
        <p:spPr>
          <a:xfrm>
            <a:off x="6172200" y="4581000"/>
            <a:ext cx="2285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e7d32"/>
                </a:solidFill>
                <a:latin typeface="Calibri"/>
              </a:rPr>
              <a:t>accepted_goals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53"/>
          <p:cNvSpPr/>
          <p:nvPr/>
        </p:nvSpPr>
        <p:spPr>
          <a:xfrm>
            <a:off x="8503920" y="4617720"/>
            <a:ext cx="30171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1a2e"/>
                </a:solidFill>
                <a:latin typeface="Calibri"/>
              </a:rPr>
              <a:t>goals_json, accepted_count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54"/>
          <p:cNvSpPr/>
          <p:nvPr/>
        </p:nvSpPr>
        <p:spPr>
          <a:xfrm>
            <a:off x="5943600" y="5394960"/>
            <a:ext cx="5988960" cy="1188360"/>
          </a:xfrm>
          <a:prstGeom prst="rect">
            <a:avLst/>
          </a:prstGeom>
          <a:solidFill>
            <a:srgbClr val="fff8e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Rectangle 55"/>
          <p:cNvSpPr/>
          <p:nvPr/>
        </p:nvSpPr>
        <p:spPr>
          <a:xfrm>
            <a:off x="5943600" y="5394960"/>
            <a:ext cx="5988960" cy="3470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7" name="TextBox 56"/>
          <p:cNvSpPr/>
          <p:nvPr/>
        </p:nvSpPr>
        <p:spPr>
          <a:xfrm>
            <a:off x="6126480" y="5440680"/>
            <a:ext cx="18284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🟡  </a:t>
            </a:r>
            <a:r>
              <a:rPr b="1" lang="en-US" sz="1100" spc="-1" strike="noStrike">
                <a:solidFill>
                  <a:srgbClr val="1a3264"/>
                </a:solidFill>
                <a:latin typeface="Calibri"/>
              </a:rPr>
              <a:t>Qdrant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57"/>
          <p:cNvSpPr/>
          <p:nvPr/>
        </p:nvSpPr>
        <p:spPr>
          <a:xfrm>
            <a:off x="6035040" y="5824800"/>
            <a:ext cx="576036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1a1a2e"/>
                </a:solidFill>
                <a:latin typeface="Calibri"/>
              </a:rPr>
              <a:t>Qdrant:  collection=vnd_documents  ·  model=paraphrase-multilingual-MiniLM-L12-v2  ·  384d  ·  cosine  ·  412 chunks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58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16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1" name="Rectangle 2"/>
          <p:cNvSpPr/>
          <p:nvPr/>
        </p:nvSpPr>
        <p:spPr>
          <a:xfrm>
            <a:off x="0" y="6218280"/>
            <a:ext cx="12188520" cy="1825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2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TextBox 4"/>
          <p:cNvSpPr/>
          <p:nvPr/>
        </p:nvSpPr>
        <p:spPr>
          <a:xfrm>
            <a:off x="457200" y="182880"/>
            <a:ext cx="11274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Запуск за 3 команды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5"/>
          <p:cNvSpPr/>
          <p:nvPr/>
        </p:nvSpPr>
        <p:spPr>
          <a:xfrm>
            <a:off x="457200" y="749880"/>
            <a:ext cx="1127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e8a838"/>
                </a:solidFill>
                <a:latin typeface="Calibri"/>
              </a:rPr>
              <a:t>http://localhost:3000  ·  http://localhost:8001/docs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Rectangle 6"/>
          <p:cNvSpPr/>
          <p:nvPr/>
        </p:nvSpPr>
        <p:spPr>
          <a:xfrm>
            <a:off x="274320" y="132588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6" name="Rectangle 7"/>
          <p:cNvSpPr/>
          <p:nvPr/>
        </p:nvSpPr>
        <p:spPr>
          <a:xfrm>
            <a:off x="274320" y="132588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TextBox 8"/>
          <p:cNvSpPr/>
          <p:nvPr/>
        </p:nvSpPr>
        <p:spPr>
          <a:xfrm>
            <a:off x="274320" y="164592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Box 9"/>
          <p:cNvSpPr/>
          <p:nvPr/>
        </p:nvSpPr>
        <p:spPr>
          <a:xfrm>
            <a:off x="868680" y="141732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up --build -d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10"/>
          <p:cNvSpPr/>
          <p:nvPr/>
        </p:nvSpPr>
        <p:spPr>
          <a:xfrm>
            <a:off x="868680" y="187452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Поднять все 4 контейнера: local-db · qdrant · hr-api · hr-frontend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Rectangle 11"/>
          <p:cNvSpPr/>
          <p:nvPr/>
        </p:nvSpPr>
        <p:spPr>
          <a:xfrm>
            <a:off x="274320" y="251460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1" name="Rectangle 12"/>
          <p:cNvSpPr/>
          <p:nvPr/>
        </p:nvSpPr>
        <p:spPr>
          <a:xfrm>
            <a:off x="274320" y="251460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13"/>
          <p:cNvSpPr/>
          <p:nvPr/>
        </p:nvSpPr>
        <p:spPr>
          <a:xfrm>
            <a:off x="274320" y="283464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Box 14"/>
          <p:cNvSpPr/>
          <p:nvPr/>
        </p:nvSpPr>
        <p:spPr>
          <a:xfrm>
            <a:off x="868680" y="260604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alembic upgrade head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15"/>
          <p:cNvSpPr/>
          <p:nvPr/>
        </p:nvSpPr>
        <p:spPr>
          <a:xfrm>
            <a:off x="868680" y="306324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Создать таблицы AI-результатов в local-db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ectangle 16"/>
          <p:cNvSpPr/>
          <p:nvPr/>
        </p:nvSpPr>
        <p:spPr>
          <a:xfrm>
            <a:off x="274320" y="3703320"/>
            <a:ext cx="11639880" cy="105120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Rectangle 17"/>
          <p:cNvSpPr/>
          <p:nvPr/>
        </p:nvSpPr>
        <p:spPr>
          <a:xfrm>
            <a:off x="274320" y="3703320"/>
            <a:ext cx="475200" cy="105120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7" name="TextBox 18"/>
          <p:cNvSpPr/>
          <p:nvPr/>
        </p:nvSpPr>
        <p:spPr>
          <a:xfrm>
            <a:off x="274320" y="4023360"/>
            <a:ext cx="4752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600" spc="-1" strike="noStrike">
                <a:solidFill>
                  <a:srgbClr val="1a3264"/>
                </a:solidFill>
                <a:latin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TextBox 19"/>
          <p:cNvSpPr/>
          <p:nvPr/>
        </p:nvSpPr>
        <p:spPr>
          <a:xfrm>
            <a:off x="868680" y="3794760"/>
            <a:ext cx="1078956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ccffcc"/>
                </a:solidFill>
                <a:latin typeface="Calibri"/>
              </a:rPr>
              <a:t>docker compose exec hr-api python -m scripts.ingest_docs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20"/>
          <p:cNvSpPr/>
          <p:nvPr/>
        </p:nvSpPr>
        <p:spPr>
          <a:xfrm>
            <a:off x="868680" y="4251960"/>
            <a:ext cx="1078956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aabbdd"/>
                </a:solidFill>
                <a:latin typeface="Calibri"/>
              </a:rPr>
              <a:t>Загрузить 160 ВНД в Qdrant — embeddings + chunking (одноразово)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TextBox 21"/>
          <p:cNvSpPr/>
          <p:nvPr/>
        </p:nvSpPr>
        <p:spPr>
          <a:xfrm>
            <a:off x="457200" y="4892040"/>
            <a:ext cx="10972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Демо-сценарии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Box 22"/>
          <p:cNvSpPr/>
          <p:nvPr/>
        </p:nvSpPr>
        <p:spPr>
          <a:xfrm>
            <a:off x="3657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🔴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Слабая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Box 23"/>
          <p:cNvSpPr/>
          <p:nvPr/>
        </p:nvSpPr>
        <p:spPr>
          <a:xfrm>
            <a:off x="2377440" y="532188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«Улучшить работу» → smart_index &lt; 0.5 + переформулировка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Box 24"/>
          <p:cNvSpPr/>
          <p:nvPr/>
        </p:nvSpPr>
        <p:spPr>
          <a:xfrm>
            <a:off x="6309360" y="532188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🟢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Сильная цель: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TextBox 25"/>
          <p:cNvSpPr/>
          <p:nvPr/>
        </p:nvSpPr>
        <p:spPr>
          <a:xfrm>
            <a:off x="8321040" y="532188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«Сократить задержку ETL на 20% к 30.09.2025» → &gt; 0.85, strategic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26"/>
          <p:cNvSpPr/>
          <p:nvPr/>
        </p:nvSpPr>
        <p:spPr>
          <a:xfrm>
            <a:off x="3657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✨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Генерация: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27"/>
          <p:cNvSpPr/>
          <p:nvPr/>
        </p:nvSpPr>
        <p:spPr>
          <a:xfrm>
            <a:off x="2377440" y="5833800"/>
            <a:ext cx="38401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employee 269, Q3 2025, focus=цифровизация → 3–5 целей + source_doc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Box 28"/>
          <p:cNvSpPr/>
          <p:nvPr/>
        </p:nvSpPr>
        <p:spPr>
          <a:xfrm>
            <a:off x="6309360" y="583380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📦  </a:t>
            </a: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Пакетная: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Box 29"/>
          <p:cNvSpPr/>
          <p:nvPr/>
        </p:nvSpPr>
        <p:spPr>
          <a:xfrm>
            <a:off x="8321040" y="5833800"/>
            <a:ext cx="38401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ccddff"/>
                </a:solidFill>
                <a:latin typeface="Calibri"/>
              </a:rPr>
              <a:t>evaluate-batch для Воронцовой (20 целей) → avg_index + radar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30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17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32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1" name="Rectangle 2"/>
          <p:cNvSpPr/>
          <p:nvPr/>
        </p:nvSpPr>
        <p:spPr>
          <a:xfrm>
            <a:off x="-72720" y="5486400"/>
            <a:ext cx="12188520" cy="1094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3"/>
          <p:cNvSpPr/>
          <p:nvPr/>
        </p:nvSpPr>
        <p:spPr>
          <a:xfrm>
            <a:off x="0" y="0"/>
            <a:ext cx="164160" cy="685764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TextBox 4"/>
          <p:cNvSpPr/>
          <p:nvPr/>
        </p:nvSpPr>
        <p:spPr>
          <a:xfrm>
            <a:off x="457200" y="548640"/>
            <a:ext cx="112741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Спасибо за внимание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ectangle 5"/>
          <p:cNvSpPr/>
          <p:nvPr/>
        </p:nvSpPr>
        <p:spPr>
          <a:xfrm>
            <a:off x="32004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5" name="Rectangle 6"/>
          <p:cNvSpPr/>
          <p:nvPr/>
        </p:nvSpPr>
        <p:spPr>
          <a:xfrm>
            <a:off x="32004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6" name="TextBox 7"/>
          <p:cNvSpPr/>
          <p:nvPr/>
        </p:nvSpPr>
        <p:spPr>
          <a:xfrm>
            <a:off x="45720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🎯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25% + 25%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TextBox 8"/>
          <p:cNvSpPr/>
          <p:nvPr/>
        </p:nvSpPr>
        <p:spPr>
          <a:xfrm>
            <a:off x="45720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SMART-оценка + AI-генерация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Box 9"/>
          <p:cNvSpPr/>
          <p:nvPr/>
        </p:nvSpPr>
        <p:spPr>
          <a:xfrm>
            <a:off x="45720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Gemini Flash · 5 критериев · goal_type · strategic_alignment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Rectangle 10"/>
          <p:cNvSpPr/>
          <p:nvPr/>
        </p:nvSpPr>
        <p:spPr>
          <a:xfrm>
            <a:off x="416052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0" name="Rectangle 11"/>
          <p:cNvSpPr/>
          <p:nvPr/>
        </p:nvSpPr>
        <p:spPr>
          <a:xfrm>
            <a:off x="416052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1" name="TextBox 12"/>
          <p:cNvSpPr/>
          <p:nvPr/>
        </p:nvSpPr>
        <p:spPr>
          <a:xfrm>
            <a:off x="429768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🔍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Box 13"/>
          <p:cNvSpPr/>
          <p:nvPr/>
        </p:nvSpPr>
        <p:spPr>
          <a:xfrm>
            <a:off x="429768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RAG-пайплайн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14"/>
          <p:cNvSpPr/>
          <p:nvPr/>
        </p:nvSpPr>
        <p:spPr>
          <a:xfrm>
            <a:off x="429768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Qdrant · 160 ВНД · 412 чанков · cosine · source grounding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ectangle 15"/>
          <p:cNvSpPr/>
          <p:nvPr/>
        </p:nvSpPr>
        <p:spPr>
          <a:xfrm>
            <a:off x="8001000" y="150876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5" name="Rectangle 16"/>
          <p:cNvSpPr/>
          <p:nvPr/>
        </p:nvSpPr>
        <p:spPr>
          <a:xfrm>
            <a:off x="8001000" y="150876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6" name="TextBox 17"/>
          <p:cNvSpPr/>
          <p:nvPr/>
        </p:nvSpPr>
        <p:spPr>
          <a:xfrm>
            <a:off x="8138160" y="164592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Box 18"/>
          <p:cNvSpPr/>
          <p:nvPr/>
        </p:nvSpPr>
        <p:spPr>
          <a:xfrm>
            <a:off x="8138160" y="202068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Аналитика и дашборд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Box 19"/>
          <p:cNvSpPr/>
          <p:nvPr/>
        </p:nvSpPr>
        <p:spPr>
          <a:xfrm>
            <a:off x="8138160" y="238644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Dept quality · quarterly trend · maturity F-22 · radar chart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Rectangle 20"/>
          <p:cNvSpPr/>
          <p:nvPr/>
        </p:nvSpPr>
        <p:spPr>
          <a:xfrm>
            <a:off x="32004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0" name="Rectangle 21"/>
          <p:cNvSpPr/>
          <p:nvPr/>
        </p:nvSpPr>
        <p:spPr>
          <a:xfrm>
            <a:off x="32004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1" name="TextBox 22"/>
          <p:cNvSpPr/>
          <p:nvPr/>
        </p:nvSpPr>
        <p:spPr>
          <a:xfrm>
            <a:off x="45720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⚙️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10%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Box 23"/>
          <p:cNvSpPr/>
          <p:nvPr/>
        </p:nvSpPr>
        <p:spPr>
          <a:xfrm>
            <a:off x="45720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Архитектура и API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Box 24"/>
          <p:cNvSpPr/>
          <p:nvPr/>
        </p:nvSpPr>
        <p:spPr>
          <a:xfrm>
            <a:off x="457200" y="4306680"/>
            <a:ext cx="32914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FastAPI · OpenAPI /docs · Docker Compose · Alembic · Pydantic v2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Rectangle 25"/>
          <p:cNvSpPr/>
          <p:nvPr/>
        </p:nvSpPr>
        <p:spPr>
          <a:xfrm>
            <a:off x="4160520" y="3429000"/>
            <a:ext cx="3565800" cy="1691280"/>
          </a:xfrm>
          <a:prstGeom prst="rect">
            <a:avLst/>
          </a:prstGeom>
          <a:solidFill>
            <a:srgbClr val="0d1b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5" name="Rectangle 26"/>
          <p:cNvSpPr/>
          <p:nvPr/>
        </p:nvSpPr>
        <p:spPr>
          <a:xfrm>
            <a:off x="4160520" y="3429000"/>
            <a:ext cx="3565800" cy="72720"/>
          </a:xfrm>
          <a:prstGeom prst="rect">
            <a:avLst/>
          </a:prstGeom>
          <a:solidFill>
            <a:srgbClr val="e8a83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6" name="TextBox 27"/>
          <p:cNvSpPr/>
          <p:nvPr/>
        </p:nvSpPr>
        <p:spPr>
          <a:xfrm>
            <a:off x="4297680" y="3566160"/>
            <a:ext cx="329148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💻  </a:t>
            </a:r>
            <a:r>
              <a:rPr b="1" lang="en-US" sz="1300" spc="-1" strike="noStrike">
                <a:solidFill>
                  <a:srgbClr val="e8a838"/>
                </a:solidFill>
                <a:latin typeface="Calibri"/>
              </a:rPr>
              <a:t>15%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28"/>
          <p:cNvSpPr/>
          <p:nvPr/>
        </p:nvSpPr>
        <p:spPr>
          <a:xfrm>
            <a:off x="4297680" y="3940920"/>
            <a:ext cx="32914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UX интерфейса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29"/>
          <p:cNvSpPr/>
          <p:nvPr/>
        </p:nvSpPr>
        <p:spPr>
          <a:xfrm>
            <a:off x="4297680" y="4306680"/>
            <a:ext cx="3291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ccff"/>
                </a:solidFill>
                <a:latin typeface="Calibri"/>
              </a:rPr>
              <a:t>React 18 · MUI · 4 страницы · progress bars · alert banners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30"/>
          <p:cNvSpPr/>
          <p:nvPr/>
        </p:nvSpPr>
        <p:spPr>
          <a:xfrm>
            <a:off x="457200" y="6309360"/>
            <a:ext cx="1127412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9bbee"/>
                </a:solidFill>
                <a:latin typeface="Calibri"/>
              </a:rPr>
              <a:t>Frontend: http://89.207.255.254:3000/   ·   API: http://89.207.255.254:8001/docs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31"/>
          <p:cNvSpPr/>
          <p:nvPr/>
        </p:nvSpPr>
        <p:spPr>
          <a:xfrm>
            <a:off x="11064240" y="6492240"/>
            <a:ext cx="10054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aaaaaa"/>
                </a:solidFill>
                <a:latin typeface="Calibri"/>
              </a:rPr>
              <a:t>18 / 18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2026-03-28T01:15:00Z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