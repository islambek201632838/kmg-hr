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88952" cy="20116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KMG HR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8A838"/>
                </a:solidFill>
              </a:rPr>
              <a:t>AI-модуль оценки и генерации целей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RAG + LLM  ·  FastAPI  ·  React  ·  Qdrant  ·  Gemini 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9AACC"/>
                </a:solidFill>
              </a:rPr>
              <a:t>Хакатон КМГ 2025  ·  Трек: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Бизнес-проблема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Почему постановка целей в HR-системах теряет ценность?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687568" cy="23317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91440" cy="23317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58191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5C00"/>
                </a:solidFill>
              </a:rPr>
              <a:t>⚠️  Размытые формулировки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93976"/>
            <a:ext cx="5303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7" y="1417320"/>
            <a:ext cx="5687568" cy="2331720"/>
          </a:xfrm>
          <a:prstGeom prst="rect">
            <a:avLst/>
          </a:prstGeom>
          <a:solidFill>
            <a:srgbClr val="E8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7" y="1417320"/>
            <a:ext cx="91440" cy="233172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5" y="158191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264"/>
                </a:solidFill>
              </a:rPr>
              <a:t>📉  Нет стратегической связки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5" y="2093976"/>
            <a:ext cx="5303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687568" cy="23317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91440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409651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</a:rPr>
              <a:t>⏱️  Ручная рецензия = недели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08576"/>
            <a:ext cx="5303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HR-эксперт тратит 15–30 минут на проверку одного набора целей. При 450 сотрудниках — это сотни часов в квартал.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6207" y="3931920"/>
            <a:ext cx="5687568" cy="233172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7" y="3931920"/>
            <a:ext cx="91440" cy="23317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5" y="409651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A1B9A"/>
                </a:solidFill>
              </a:rPr>
              <a:t>📄  ВНД остаются мёртвым грузом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5" y="4608576"/>
            <a:ext cx="5303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Бизнес-ценность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Измеримый эффект для HR и руководителей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2743200" cy="256032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600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~80%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целей получают
SMART-оценку за секунды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3383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Вместо недель ручной рецензии — мгновенный feedback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463040"/>
            <a:ext cx="2743200" cy="2560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600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3–5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готовых целей
генерируется за 10 сек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383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Привязаны к ВНД, должности и KPI подразделения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63040"/>
            <a:ext cx="2743200" cy="256032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сотрудников охвачено
единым стандартом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383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Автоматическая проверка по 5 SMART-критериям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463040"/>
            <a:ext cx="2743200" cy="2560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600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≥70%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целей проходят
порог качества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383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Система предлагает переформулировку слабых целей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11640312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297680"/>
            <a:ext cx="91440" cy="219456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0740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264"/>
                </a:solidFill>
              </a:rPr>
              <a:t>Для кого и какая ценность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8463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5499"/>
                </a:solidFill>
              </a:rPr>
              <a:t>👤  Сотрудник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30368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Получает мгновенный AI-фидбэк, готовые предложения целей и чёткие рекомендации по улучшению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8463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5499"/>
                </a:solidFill>
              </a:rPr>
              <a:t>👔  Руководитель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230368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Видит SMART-индексы команды, слабые критерии, квартальную динамику — без ручной проверки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48463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5499"/>
                </a:solidFill>
              </a:rPr>
              <a:t>🏢  HR-менеджер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5230368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Дашборд по 8 подразделениям: стратегическая связка, топ-проблемы, зрелость целеполагания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Пользовательский сценарий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От постановки цели до принятия — 3 шага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37033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03320" cy="50292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4904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38"/>
                </a:solidFill>
              </a:rPr>
              <a:t>ШАГ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8288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Сотрудник вводит цель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331720"/>
            <a:ext cx="3429000" cy="36576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68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Выбирает себя из списка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3580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Указывает квартал и год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0273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Пишет формулировку цели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897880"/>
            <a:ext cx="37033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6035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A3264"/>
                </a:solidFill>
              </a:rPr>
              <a:t>→ система оценивает за 3–5 сек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5928" y="3794760"/>
            <a:ext cx="246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A838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417320"/>
            <a:ext cx="37033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417320"/>
            <a:ext cx="3703320" cy="502920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4904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38"/>
                </a:solidFill>
              </a:rPr>
              <a:t>ШАГ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18288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AI оценивает и помогает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331720"/>
            <a:ext cx="3429000" cy="36576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468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5 SMART-скоров с прогресс-барами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03580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Рекомендации по слабым критериям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60273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Готовая переформулировка (если &lt; 0.7)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5897880"/>
            <a:ext cx="37033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6035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→ или нажимает «Сгенерировать цели»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7" y="3794760"/>
            <a:ext cx="246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A83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417320"/>
            <a:ext cx="37033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1417320"/>
            <a:ext cx="370332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14904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38"/>
                </a:solidFill>
              </a:rPr>
              <a:t>ШАГ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18288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Принятие целей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66760" y="2331720"/>
            <a:ext cx="34290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468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AI предлагает 3–5 готовых целей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03580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Каждая привязана к документу ВНД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60273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Выбирает нужные → «Принять»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5897880"/>
            <a:ext cx="37033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6035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</a:rPr>
              <a:t>→ цели сохраняются в систему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Дашборд качества целеполагания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Для руководителей и HR — единая картина по всей организации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11640312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40312" cy="45720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81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Дашборд качества целей   |   2025 год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1920240" cy="9144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965960"/>
            <a:ext cx="192024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84831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7D32"/>
                </a:solidFill>
              </a:rPr>
              <a:t>0.74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78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</a:rPr>
              <a:t>Средний SMART-индекс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1965960"/>
            <a:ext cx="1920240" cy="9144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4600" y="1965960"/>
            <a:ext cx="1920240" cy="73152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6040" y="2084831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E5499"/>
                </a:solidFill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78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</a:rPr>
              <a:t>Подразделений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1965960"/>
            <a:ext cx="1920240" cy="9144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1965960"/>
            <a:ext cx="1920240" cy="73152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59" y="2084831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3264"/>
                </a:solidFill>
              </a:rPr>
              <a:t>9 000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2578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</a:rPr>
              <a:t>Всего целей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SMART-индекс по подразделениям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3375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Инфраструктура и DevOps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3392424"/>
            <a:ext cx="2221992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56632" y="3383279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37398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Данные и аналитика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8920" y="3794759"/>
            <a:ext cx="2112264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46904" y="3785615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1422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Прикладные системы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88920" y="4197096"/>
            <a:ext cx="2029967" cy="25603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4187952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5445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Учётные системы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88920" y="4599431"/>
            <a:ext cx="1920239" cy="25603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79" y="459028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946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Цифр. трансформация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88920" y="5001768"/>
            <a:ext cx="1865376" cy="25603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0016" y="4992624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0.68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53492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Корп. менеджмент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88920" y="5404103"/>
            <a:ext cx="1673352" cy="25603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07992" y="5394959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7515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Инфобезопасность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88920" y="5806440"/>
            <a:ext cx="1618488" cy="25603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53128" y="579729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1539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Сервис-деск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920" y="6208776"/>
            <a:ext cx="1508760" cy="25603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43400" y="6199632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0.55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1965960"/>
            <a:ext cx="5486400" cy="4572000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1965960"/>
            <a:ext cx="5486400" cy="347472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201168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Топ-проблемы организации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46520" y="2423160"/>
            <a:ext cx="502920" cy="43891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45973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2592" y="2514600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целей сформулированы как активности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3017520"/>
            <a:ext cx="502920" cy="43891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0540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22592" y="3108960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целей без стратегической связки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46520" y="3611880"/>
            <a:ext cx="502920" cy="43891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364845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2592" y="3703320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самый слабый SMART-критерий — Измеримость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42519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264"/>
                </a:solidFill>
              </a:rPr>
              <a:t>Клик на подразделение 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6520" y="4572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Квартальный LineChart SMART-тренда
RadarChart профиля по 5 критериям
Значок «слабый критерий» + стратег. связка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Критерии оценки хакатона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Как мы закрываем каждый критерий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44752"/>
            <a:ext cx="914400" cy="768096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27632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25%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1444752"/>
            <a:ext cx="10561320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1499616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4"/>
                </a:solidFill>
              </a:rPr>
              <a:t>Качество оценки целей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47088"/>
            <a:ext cx="10149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Gemini Flash · 5 SMART-скоров · goal_type · strategic_alignment
F-20: история аналогичных ролей · F-17 стратег. связка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322576"/>
            <a:ext cx="914400" cy="768096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505456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5880" y="2322576"/>
            <a:ext cx="10561320" cy="768096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2377440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5499"/>
                </a:solidFill>
              </a:rPr>
              <a:t>Качество генерации целей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724912"/>
            <a:ext cx="10149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RAG: 160 ВНД → 412 чанков в Qdrant · dedup cosine 0.85
source_doc + source_quote · auto-SMART validation + reformulation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200400"/>
            <a:ext cx="914400" cy="76809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383280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3200400"/>
            <a:ext cx="10561320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81328" y="3255264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UX интерфейса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602736"/>
            <a:ext cx="10149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React 18 + MUI · SmartScoreCard progress-bars · GoalCard с цитатой ВНД
AlertBanner · RadarChart · LineChart · collapsible RAG-чанки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78224"/>
            <a:ext cx="914400" cy="76809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4261104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4078224"/>
            <a:ext cx="10561320" cy="768096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1328" y="4133087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Качество RAG-пайплайна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480560"/>
            <a:ext cx="10149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Qdrant cosine · paraphrase-MiniLM-L12-v2 (384d) · dept_scope filter
source grounding check · avg_rag_score отображается во фронте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56048"/>
            <a:ext cx="914400" cy="768096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138928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10561320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501091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064"/>
                </a:solidFill>
              </a:rPr>
              <a:t>Архитектура и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5358384"/>
            <a:ext cx="10149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FastAPI + OpenAPI /docs · Pydantic v2 Field(description=...) · Alembic
Docker Compose 4 services · async SQLAlchemy · 2 engines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833872"/>
            <a:ext cx="914400" cy="76809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016752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25880" y="5833872"/>
            <a:ext cx="10561320" cy="768096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81328" y="5888736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C00"/>
                </a:solidFill>
              </a:rPr>
              <a:t>Аналитика и дашборд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6236208"/>
            <a:ext cx="10149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dept-quality · quarterly-trend · maturity F-22
RadarChart SMART-профиль · квартальный LineChart · top_issues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Техническая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3-уровневая система · Docker Compose · 2 контура данных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11640312" cy="1627632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38"/>
                </a:solidFill>
              </a:rPr>
              <a:t>СЛОЙ 3 — ПРЕДСТАВЛЕНИЕ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React 18 + Material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EvaluateGoal  ·  MyGoals (batch)  ·  GenerateGoals  ·  Dashboard
SmartScoreCard  ·  GoalCard  ·  AlertBanner  ·  Recharts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4728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A838"/>
                </a:solidFill>
              </a:rPr>
              <a:t>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154680"/>
            <a:ext cx="11640312" cy="1627632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2461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38"/>
                </a:solidFill>
              </a:rPr>
              <a:t>СЛОЙ 2 — AI / БИЗНЕС-ЛОГИКА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FastAPI · Python 3.11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42900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smart_evaluator.py  ·  goal_generator.py  ·  rag_pipeline.py
alert_manager.py (F-16..F-21)  ·  dedup_checker.py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4728" y="48006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A838"/>
                </a:solidFill>
              </a:rPr>
              <a:t>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892040"/>
            <a:ext cx="11640312" cy="16276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98347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38"/>
                </a:solidFill>
              </a:rPr>
              <a:t>СЛОЙ 1 —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492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PostgreSQL 17 × 2  +  Qdrant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166359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Remote DB (readonly): 450 сотр., 9000 целей, 160 ВНД, KPI
Local DB (Alembic): ai_evaluations, ai_generated_goals, accepted_goals
Qdrant: 412 чанков, paraphrase-MiniLM-L12-v2, 384d cosine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6446520"/>
            <a:ext cx="11640312" cy="2743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CCFF"/>
                </a:solidFill>
              </a:rPr>
              <a:t>🐳  local-db : 5433    qdrant : 6333    hr-api : 8001    hr-frontend : 3000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Оценка целей по SMART — техническая реализация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smart_evaluator.py  ·  Gemini Flash JSON mode  ·  asyncio.gather для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39496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4"/>
                </a:solidFill>
              </a:rPr>
              <a:t>Пайплайн оценки одной цели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93392"/>
            <a:ext cx="365760" cy="36576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93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9339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Контекст из Remote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40864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Должность · подразделение · цели менеджера
KPI (10 последних) · история аналогичных ролей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880360"/>
            <a:ext cx="365760" cy="36576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880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88036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Промпт → Gemini Flash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227832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JSON mode, temperature=0.3
SYSTEM_PROMPT + user_prompt в одном вызове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67328"/>
            <a:ext cx="365760" cy="36576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767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76732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Парсинг + валидация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114800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json.loads() → defaults для пропущенных ключей
smartIndex пересчитывается программно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654296"/>
            <a:ext cx="365760" cy="36576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65429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65429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Алерты F-16..F-21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001768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check_goal_alerts(): вес, кол-во, тип, связка
check_batch_alerts() для пакетной оценки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541264"/>
            <a:ext cx="365760" cy="36576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5412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554126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Сохранение в Local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5888736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ai_evaluations: scores_json, alignment_level
return goal_id = f'eval-{evaluation.id}'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417320"/>
            <a:ext cx="5989320" cy="516636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15087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838"/>
                </a:solidFill>
              </a:rPr>
              <a:t>Ответ Gemini (JSON mode)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192024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FFCC"/>
                </a:solidFill>
              </a:rPr>
              <a:t>{
  "smart_scores": {
    "specific":   0.82,
    "measurable": 0.90,
    "achievable": 0.75,
    "relevant":   0.88,
    "time_bound": 0.85
  },
  "smart_index": 0.84,
  "goal_type": "output",
  "strategic_alignment": {
    "level": "strategic",
    "source": "KPI: сокращение задержки ETL"
  },
  "recommendations": [
    "A: Уточните необходимые ресурсы"
  ],
  "improved_goal": null
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E5499"/>
                </a:solidFill>
              </a:rPr>
              <a:t>📦  evaluate-batch: asyncio.gather(*[evaluate_goal(...) for goal in goals])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Классификация целей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F-19: тип цели  ·  F-17: стратегическая связка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66928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669280" cy="45720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813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Тип цели  (F-19: goal_type)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5394960" cy="1463040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011680"/>
            <a:ext cx="109728" cy="14630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44336"/>
                </a:solidFill>
              </a:rPr>
              <a:t>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08483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— Действие / процесс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45059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</a:rPr>
              <a:t>«Проводить еженедельные совещания»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4336"/>
                </a:solidFill>
              </a:rPr>
              <a:t>Слабый — нет измеримого результата.
Система предлагает переформулировку.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611880"/>
            <a:ext cx="109728" cy="14630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685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9800"/>
                </a:solidFill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8503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— Конкретный результат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50791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</a:rPr>
              <a:t>«Снизить дефекты после релиза на 20% к 30.09.2025»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9800"/>
                </a:solidFill>
              </a:rPr>
              <a:t>Хороший — есть метрика и срок.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12080"/>
            <a:ext cx="5394960" cy="1463040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212080"/>
            <a:ext cx="109728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852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2E7D32"/>
                </a:solidFill>
              </a:rPr>
              <a:t>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28523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— Влияние на бизнес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65099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</a:rPr>
              <a:t>«Увеличить индекс качества данных на 5%,
  сократив потери от ошибок на 2 млн ₸»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172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</a:rPr>
              <a:t>Лучший — связь с бизнес-результатом.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1417320"/>
            <a:ext cx="57607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1417320"/>
            <a:ext cx="5760720" cy="457200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14813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Стратегическая связка  (F-17)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2011680"/>
            <a:ext cx="5532120" cy="1463040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2011680"/>
            <a:ext cx="109728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20848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2E7D32"/>
                </a:solidFill>
              </a:rPr>
              <a:t>strategic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08483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— Стратегия компании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45059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Связана со стратегическим документом
или KPI верхнего уровня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017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7D32"/>
                </a:solidFill>
              </a:rPr>
              <a:t>Идеальный уровень привязки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3611880"/>
            <a:ext cx="553212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3611880"/>
            <a:ext cx="109728" cy="14630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6850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9800"/>
                </a:solidFill>
              </a:rPr>
              <a:t>functional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368503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— Функция подразделения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050791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Связана с KPI подразделения
или целью прямого руководителя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617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800"/>
                </a:solidFill>
              </a:rPr>
              <a:t>Допустимый уровень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5212080"/>
            <a:ext cx="5532120" cy="1463040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5212080"/>
            <a:ext cx="109728" cy="14630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852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44336"/>
                </a:solidFill>
              </a:rPr>
              <a:t>operational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8120" y="528523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— Операционная задача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65099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Нет явной связи со стратегией
или KPI подразделения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6217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44336"/>
                </a:solidFill>
              </a:rPr>
              <a:t>Система выдаёт предупреждение F-17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RAG-пайплайн — техническая реализация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rag_pipeline.py  ·  Qdrant  ·  sentence-transformers  ·  source grounding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26464"/>
            <a:ext cx="2743200" cy="201168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08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📥 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EFF"/>
                </a:solidFill>
              </a:rPr>
              <a:t>scripts/ingest_docs.py
160 ВНД → чанки по 512 токенов
→ embed → Qdrant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19456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A83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426464"/>
            <a:ext cx="2743200" cy="2011680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508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🔍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EFF"/>
                </a:solidFill>
              </a:rPr>
              <a:t>search_vnd(query, dept_id)
qdrant.search() top-5
fallback без dept-фильтра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176" y="219456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A838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1426464"/>
            <a:ext cx="2743200" cy="20116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508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📊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EFF"/>
                </a:solidFill>
              </a:rPr>
              <a:t>cosine distance → score
avg_rag_score в ответе
RagChunk с text_preview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4544" y="219456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A838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7424" y="1426464"/>
            <a:ext cx="2743200" cy="2011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4584" y="1508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✔️ Ground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EFF"/>
                </a:solidFill>
              </a:rPr>
              <a:t>source_doc vs retrieved
Grounding check warning
dedup cosine &gt; 0.85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65760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657600"/>
            <a:ext cx="5486400" cy="4114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12463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Конфигурация Qdrant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169663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Коллекция: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169663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vnd_documents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562855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Модель: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4562855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paraphrase-multilingual-MiniLM-L12-v2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956048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Размерность: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4956048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384d · метрика: cosine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349240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Payload-поля: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534924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doc_title, doc_type, department_scope, 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5742431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Фильтрация: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5742431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department_scope == dept_id (с fallback)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135623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Чанков: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6135623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412 из 160 документов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3657600"/>
            <a:ext cx="5925312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89320" y="3657600"/>
            <a:ext cx="5925312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3712463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Сгенерированная цель — поля ответа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169663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200" y="4169663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Формулировка в SMART-формате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51713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metric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4517136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Измеримый показатель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4864607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deadline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864607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Конкретная дата / квартал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5212079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source_doc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5212079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Название ВНД-документа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55595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source_quote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5559552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Цитата из документа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907023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smart_index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5907023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Авто-SMART-оценка (0.0–1.0)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625449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strategic_alignment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58200" y="6254496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strategic / functional / operational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API — Документация и структура (10%)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FastAPI · OpenAPI /docs · Pydantic v2 · Field(description) · Async SQLAlchemy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11640312" cy="384048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46304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Эндпоинт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4630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Описание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47088"/>
            <a:ext cx="1164031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911095"/>
            <a:ext cx="731520" cy="32918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20240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1938528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/api/evaluate-goal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1938528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Оценить одну цель по SMART · 5 критериев · алерты F-16..F-21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359152"/>
            <a:ext cx="11640312" cy="475488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423160"/>
            <a:ext cx="731520" cy="32918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432304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2450592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/api/evaluate-batch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2450592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Пакетная оценка всех целей сотрудника · asyncio.gather · radar-data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871216"/>
            <a:ext cx="1164031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2935224"/>
            <a:ext cx="731520" cy="32918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944368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2962656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/api/generate-goals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2962656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AI-генерация 3–5 целей · RAG + Gemini · dedup · source_grounding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383280"/>
            <a:ext cx="11640312" cy="475488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447288"/>
            <a:ext cx="731520" cy="32918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456432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</a:rPr>
              <a:t>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3474720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/api/accept-goals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23560" y="3474720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Принять выбранные цели · сохранить в accepted_goals (F-13)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895344"/>
            <a:ext cx="1164031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959352"/>
            <a:ext cx="731520" cy="329184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96849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5499"/>
                </a:solidFill>
              </a:rP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7008" y="3986783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/api/dashboard/department-quality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3986783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SMART-индекс по подразделениям · strategic_ratio · weakest_criterion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407408"/>
            <a:ext cx="11640312" cy="475488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471416"/>
            <a:ext cx="731520" cy="329184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480560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5499"/>
                </a:solidFill>
              </a:rPr>
              <a:t>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7008" y="4498848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/api/dashboard/quarterly-trend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60" y="4498848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Квартальная динамика · criterion_scores для RadarChart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919472"/>
            <a:ext cx="1164031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" y="4983480"/>
            <a:ext cx="731520" cy="329184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4992624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5499"/>
                </a:solidFill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07008" y="5010912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/api/dashboard/maturity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5010912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Индекс зрелости подразделения F-22 · breakdown ·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431536"/>
            <a:ext cx="11640312" cy="475488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" y="5495544"/>
            <a:ext cx="731520" cy="329184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5504688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5499"/>
                </a:solidFill>
              </a:rPr>
              <a:t>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07008" y="5522976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/api/employees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0" y="5522976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Список сотрудников с кол-вом целей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943600"/>
            <a:ext cx="1164031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6007608"/>
            <a:ext cx="731520" cy="329184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6016752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AAAAA"/>
                </a:solidFill>
              </a:rPr>
              <a:t>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07008" y="6035040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E5499"/>
                </a:solidFill>
              </a:rPr>
              <a:t>/health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3560" y="6035040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Health-check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📖  Swagger UI: http://localhost:8001/docs   ·   ReDoc: http://localhost:8001/redoc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MVP — все обязательные функции реализованы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26464"/>
            <a:ext cx="11640312" cy="384048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63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Функция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463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Endpoint / поле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1463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Детали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56231"/>
            <a:ext cx="11640312" cy="56692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965960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E7D32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75103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SMART-оценка одной цели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75103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POST /api/evaluate-goal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975103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 скоров · smart_index · рекомендации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68879"/>
            <a:ext cx="11640312" cy="566928"/>
          </a:xfrm>
          <a:prstGeom prst="rect">
            <a:avLst/>
          </a:prstGeom>
          <a:solidFill>
            <a:srgbClr val="DC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57860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E7D32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587751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Переформулировка слабой цели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587751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improved_goal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587751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Автоматически если smart_index &lt; 0.7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81528"/>
            <a:ext cx="11640312" cy="56692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191256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E7D32"/>
                </a:solidFill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20040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Генерация 3–5 целей по должности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2004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POST /api/generate-goals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3200400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RAG (160 ВНД) + Gemini Flash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694176"/>
            <a:ext cx="11640312" cy="566928"/>
          </a:xfrm>
          <a:prstGeom prst="rect">
            <a:avLst/>
          </a:prstGeom>
          <a:solidFill>
            <a:srgbClr val="DC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803904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E7D32"/>
                </a:solidFill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81304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Привязка к источнику ВНД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81304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source_doc + source_quote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813048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Документ + цитата в каждой цели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306824"/>
            <a:ext cx="11640312" cy="56692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4416552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E7D32"/>
                </a:solidFill>
              </a:rPr>
              <a:t>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425696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Пакетная оценка за квартал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42569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POST /api/evaluate-batch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425696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asyncio.gather · avg_index · weakest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919472"/>
            <a:ext cx="11640312" cy="566928"/>
          </a:xfrm>
          <a:prstGeom prst="rect">
            <a:avLst/>
          </a:prstGeom>
          <a:solidFill>
            <a:srgbClr val="DC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5029200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E7D32"/>
                </a:solidFill>
              </a:rPr>
              <a:t>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03834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Дашборд по подразделениям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0383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GET /api/dashboard/*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5038344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SMART-индекс · тренд · radar · проблемы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532120"/>
            <a:ext cx="11640312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048" y="5641848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A838"/>
                </a:solidFill>
              </a:rPr>
              <a:t>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65099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Каскадирование от руководителя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65099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manager_goals в промпте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5650992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Реализовано через manager_id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6144768"/>
            <a:ext cx="11640312" cy="566928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" y="6254496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26364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264"/>
                </a:solidFill>
              </a:rPr>
              <a:t>Интеграция 1С / SAP / Oracle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62636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E5499"/>
                </a:solidFill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6263640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Вне MVP (опционально по ТЗ)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Данные — что у нас есть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94944"/>
            <a:ext cx="10058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A838"/>
                </a:solidFill>
              </a:rPr>
              <a:t>Remote DB организаторов + Local DB AI-результатов + Qdrant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26464"/>
            <a:ext cx="1810512" cy="109728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17904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450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48256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сотрудников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426464"/>
            <a:ext cx="1810512" cy="1097280"/>
          </a:xfrm>
          <a:prstGeom prst="rect">
            <a:avLst/>
          </a:prstGeom>
          <a:solidFill>
            <a:srgbClr val="1E5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517904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2048256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целей в БД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51376" y="1426464"/>
            <a:ext cx="181051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42816" y="1517904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2816" y="2048256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ВНД-документов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1426464"/>
            <a:ext cx="1810512" cy="10972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1517904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2048256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векторных чанков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2" y="1426464"/>
            <a:ext cx="1810512" cy="10972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2" y="1517904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2048256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подразделений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1426464"/>
            <a:ext cx="1810512" cy="109728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1517904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2048256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KPI-метрик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74320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2743200"/>
            <a:ext cx="5394960" cy="4114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072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🟣  Remote PostgreSQL (readonly)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246120"/>
            <a:ext cx="5029200" cy="566928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300984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employees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333756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id, full_name, position_id, department_id, manager_id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886200"/>
            <a:ext cx="50292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941063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goals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97763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goal_id, employee_id, goal_text, weight, quarter, year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526279"/>
            <a:ext cx="5029200" cy="566928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581143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departments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461771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id, name, is_active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166359"/>
            <a:ext cx="50292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21223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documents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25779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id, title, content (полный текст ВНД)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806440"/>
            <a:ext cx="5029200" cy="566928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861303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kpi_timeseries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3120" y="589787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metric_key, department_id, value_num, period_date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2743200"/>
            <a:ext cx="598932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3600" y="2743200"/>
            <a:ext cx="598932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280720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🟢  Local PostgreSQL (Alembic) + Qdrant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3246120"/>
            <a:ext cx="5669280" cy="56692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33009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ai_evaluations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3337560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scores_json, overall_index, goal_type, alignment_level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3886200"/>
            <a:ext cx="56692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394106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ai_generated_goals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3977639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goals_json, context_json, warnings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526279"/>
            <a:ext cx="5669280" cy="56692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2200" y="458114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accepted_goals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0" y="4617719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goals_json, accepted_count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43600" y="5394960"/>
            <a:ext cx="59893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43600" y="5394960"/>
            <a:ext cx="5989320" cy="34747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26480" y="544068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264"/>
                </a:solidFill>
              </a:rPr>
              <a:t>🟡  Qdrant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5824728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Qdrant:  collection=vnd_documents  ·  model=paraphrase-multilingual-MiniLM-L12-v2  ·  384d  ·  cosine  ·  412 chunks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88952" cy="18288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Запуск за 3 команды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A838"/>
                </a:solidFill>
              </a:rPr>
              <a:t>http://localhost:3000  ·  http://localhost:8001/docs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164031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475488" cy="105156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645919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264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4173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FFCC"/>
                </a:solidFill>
              </a:rPr>
              <a:t>docker compose up --build -d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7451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Поднять все 4 контейнера: local-db · qdrant · hr-api · hr-frontend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14600"/>
            <a:ext cx="1164031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475488" cy="105156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83464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264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60604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FFCC"/>
                </a:solidFill>
              </a:rPr>
              <a:t>docker compose exec hr-api alembic upgrade 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06324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Создать таблицы AI-результатов в local-db (одноразово)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703320"/>
            <a:ext cx="1164031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703320"/>
            <a:ext cx="475488" cy="105156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023359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264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79475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FFCC"/>
                </a:solidFill>
              </a:rPr>
              <a:t>docker compose exec hr-api python -m scripts.ingest_docs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25195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Загрузить 160 ВНД в Qdrant — embeddings + chunking (одноразово)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92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838"/>
                </a:solidFill>
              </a:rPr>
              <a:t>Демо-сценарии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3218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🔴  Слабая цель: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321808"/>
            <a:ext cx="3840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</a:rPr>
              <a:t>«Улучшить работу» → smart_index &lt; 0.5 + переформулировка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218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🟢  Сильная цель: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5321808"/>
            <a:ext cx="3840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</a:rPr>
              <a:t>«Сократить задержку ETL на 20% к 30.09.2025» → &gt; 0.85, strategic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833872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✨  Генерация: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5833872"/>
            <a:ext cx="3840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</a:rPr>
              <a:t>employee 269, Q3 2025, focus=цифровизация → 3–5 целей + source_doc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833872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📦  Пакетная: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833872"/>
            <a:ext cx="3840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</a:rPr>
              <a:t>evaluate-batch для Воронцовой (20 целей) → avg_index + radar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109728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Спасибо за внимание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3566160" cy="16916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3566160" cy="7315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1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838"/>
                </a:solidFill>
              </a:rPr>
              <a:t>🎯  25% + 25%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208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SMART-оценка + AI-генерация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86584"/>
            <a:ext cx="32918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CCFF"/>
                </a:solidFill>
              </a:rPr>
              <a:t>Gemini Flash · 5 критериев · goal_type · strategic_alignment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508760"/>
            <a:ext cx="3566160" cy="16916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1508760"/>
            <a:ext cx="3566160" cy="7315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4591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838"/>
                </a:solidFill>
              </a:rPr>
              <a:t>🔍  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208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RAG-пайплайн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386584"/>
            <a:ext cx="32918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CCFF"/>
                </a:solidFill>
              </a:rPr>
              <a:t>Qdrant · 160 ВНД · 412 чанков · cosine · source grounding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1508760"/>
            <a:ext cx="3566160" cy="16916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1508760"/>
            <a:ext cx="3566160" cy="7315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64591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838"/>
                </a:solidFill>
              </a:rPr>
              <a:t>📊  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0208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Аналитика и дашборд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386584"/>
            <a:ext cx="32918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CCFF"/>
                </a:solidFill>
              </a:rPr>
              <a:t>Dept quality · quarterly trend · maturity F-22 · radar chart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429000"/>
            <a:ext cx="3566160" cy="16916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429000"/>
            <a:ext cx="3566160" cy="7315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5661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838"/>
                </a:solidFill>
              </a:rPr>
              <a:t>⚙️  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410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Архитектура и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306824"/>
            <a:ext cx="32918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CCFF"/>
                </a:solidFill>
              </a:rPr>
              <a:t>FastAPI · OpenAPI /docs · Docker Compose · Alembic · Pydantic v2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3429000"/>
            <a:ext cx="3566160" cy="16916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3429000"/>
            <a:ext cx="3566160" cy="7315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5661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838"/>
                </a:solidFill>
              </a:rPr>
              <a:t>💻  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9410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UX интерфейса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306824"/>
            <a:ext cx="32918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CCFF"/>
                </a:solidFill>
              </a:rPr>
              <a:t>React 18 · MUI · 4 страницы · progress bars · alert banners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309360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9BBEE"/>
                </a:solidFill>
              </a:rPr>
              <a:t>Frontend: http://localhost:3000   ·   API: http://localhost:8001/docs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