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C1326AE-2345-449A-89B2-C7CDAE0DAE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B677E4F-3E15-4D10-B4E9-A9BB666DC8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439BA1C-5304-48BC-8710-CF351E156B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DB1B4F6-0118-45C8-99DB-68FB997371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7264D97-5FD8-4797-BCB5-6BB2234D3A9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70D3DB6-E6F8-4CBC-809B-C778B08BC0B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985F89F-FA83-4784-9497-CE171BEC0B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AE42204-8E04-4C89-AE5D-3E0474949A6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8190CCF-D42D-49F8-A7F2-3DA278E66CE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9B9E3A87-226F-41B0-90B6-CDED4CDBBB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4761A4AB-22F6-416F-9B10-FE8CDF4C25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D0D013C-B71C-4E7A-9AE7-B78347FBF4C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607B74-83A8-43D1-A88D-4134A3F6168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AC5CB8-BCD3-4A54-A8A2-66359D4427D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21BF3D-19D4-4707-8E77-EF58C960FF9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111064F-5EF4-4D56-BEA5-9F4D8E64F79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5BD8AE-27CF-4A8B-9705-A2BBF04518C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5D261C4-8D92-49B9-B728-5333C94C4E0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FB55078-1A04-4BC3-8494-A033EE47100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08AF6A-1223-4961-8BD6-ADFC1DE5494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7AD961-FB4A-4F34-9831-91DFD39B06C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BDCD34B-B6EC-4750-9868-A1DD1186207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5212080"/>
            <a:ext cx="12188520" cy="20088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57200" y="914400"/>
            <a:ext cx="112741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</a:rPr>
              <a:t>KMG HR AI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57200" y="2377440"/>
            <a:ext cx="112741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e8a838"/>
                </a:solidFill>
                <a:latin typeface="Calibri"/>
              </a:rPr>
              <a:t>AI-модуль оценки и генерации целей сотрудников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457200" y="315468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cddff"/>
                </a:solidFill>
                <a:latin typeface="Calibri"/>
              </a:rPr>
              <a:t>RAG + LLM  ·  FastAPI  ·  React  ·  Qdrant  ·  Gemini Flash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457200" y="4572000"/>
            <a:ext cx="11274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99aacc"/>
                </a:solidFill>
                <a:latin typeface="Calibri"/>
              </a:rPr>
              <a:t>Хакатон КМГ 2026  ·  Трек: Управление персоналом (HR)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Бизнес-проблема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Почему постановка целей в HR-системах теряет ценность?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3e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47556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⚠️  </a:t>
            </a: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Размытые формулировки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47556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До 60% целей в системе звучат как «улучшить», «развивать», «обеспечить» — без метрик и сроков. Оценить выполнение невозможно.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ectangle 10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e8ea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Rectangle 11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643752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📉  </a:t>
            </a: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Нет стратегической связки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643752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Цели сотрудника не коррелируют с KPI подразделения и стратегическими приоритетами компании. Каскадирование не работает.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ectangle 14"/>
          <p:cNvSpPr/>
          <p:nvPr/>
        </p:nvSpPr>
        <p:spPr>
          <a:xfrm>
            <a:off x="274320" y="3931920"/>
            <a:ext cx="5687280" cy="233136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15"/>
          <p:cNvSpPr/>
          <p:nvPr/>
        </p:nvSpPr>
        <p:spPr>
          <a:xfrm>
            <a:off x="274320" y="393192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6"/>
          <p:cNvSpPr/>
          <p:nvPr/>
        </p:nvSpPr>
        <p:spPr>
          <a:xfrm>
            <a:off x="47556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⏱️  </a:t>
            </a: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Ручная рецензия = недели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47556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HR-эксперт тратит 15–30 минут на проверку одного набора целей. При 450 сотрудниках — это сотни часов в квартал.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18"/>
          <p:cNvSpPr/>
          <p:nvPr/>
        </p:nvSpPr>
        <p:spPr>
          <a:xfrm>
            <a:off x="6236280" y="3931920"/>
            <a:ext cx="5687280" cy="233136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Rectangle 19"/>
          <p:cNvSpPr/>
          <p:nvPr/>
        </p:nvSpPr>
        <p:spPr>
          <a:xfrm>
            <a:off x="6236280" y="39319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643752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📄  </a:t>
            </a: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ВНД остаются мёртвым грузом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643752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160 корпоративных документов (регламенты, стратегия, политики) не используются при постановке целей. Связь с нормативами — нулевая.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Пользовательский сценарий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От постановки цели до принятия — 3 шага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27432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Rectangle 7"/>
          <p:cNvSpPr/>
          <p:nvPr/>
        </p:nvSpPr>
        <p:spPr>
          <a:xfrm>
            <a:off x="274320" y="1417320"/>
            <a:ext cx="3702960" cy="5025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41148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41148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Сотрудник вводит цель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ectangle 10"/>
          <p:cNvSpPr/>
          <p:nvPr/>
        </p:nvSpPr>
        <p:spPr>
          <a:xfrm>
            <a:off x="411480" y="2331720"/>
            <a:ext cx="3428640" cy="36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45720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себя из списка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45720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Указывает квартал и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45720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Пишет формулировку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ectangle 14"/>
          <p:cNvSpPr/>
          <p:nvPr/>
        </p:nvSpPr>
        <p:spPr>
          <a:xfrm>
            <a:off x="27432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41148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система оценивает за 3–5 сек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6"/>
          <p:cNvSpPr/>
          <p:nvPr/>
        </p:nvSpPr>
        <p:spPr>
          <a:xfrm>
            <a:off x="399600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ectangle 17"/>
          <p:cNvSpPr/>
          <p:nvPr/>
        </p:nvSpPr>
        <p:spPr>
          <a:xfrm>
            <a:off x="425196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ectangle 18"/>
          <p:cNvSpPr/>
          <p:nvPr/>
        </p:nvSpPr>
        <p:spPr>
          <a:xfrm>
            <a:off x="4251960" y="1417320"/>
            <a:ext cx="3702960" cy="5025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9"/>
          <p:cNvSpPr/>
          <p:nvPr/>
        </p:nvSpPr>
        <p:spPr>
          <a:xfrm>
            <a:off x="438912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0"/>
          <p:cNvSpPr/>
          <p:nvPr/>
        </p:nvSpPr>
        <p:spPr>
          <a:xfrm>
            <a:off x="438912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AI оценивает и помогает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ectangle 21"/>
          <p:cNvSpPr/>
          <p:nvPr/>
        </p:nvSpPr>
        <p:spPr>
          <a:xfrm>
            <a:off x="4389120" y="2331720"/>
            <a:ext cx="3428640" cy="363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TextBox 22"/>
          <p:cNvSpPr/>
          <p:nvPr/>
        </p:nvSpPr>
        <p:spPr>
          <a:xfrm>
            <a:off x="443484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5 SMART-скоров с прогресс-барами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23"/>
          <p:cNvSpPr/>
          <p:nvPr/>
        </p:nvSpPr>
        <p:spPr>
          <a:xfrm>
            <a:off x="443484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Рекомендации по слабым критериям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443484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Готовая переформулировка (если &lt; 0.7)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Rectangle 25"/>
          <p:cNvSpPr/>
          <p:nvPr/>
        </p:nvSpPr>
        <p:spPr>
          <a:xfrm>
            <a:off x="425196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TextBox 26"/>
          <p:cNvSpPr/>
          <p:nvPr/>
        </p:nvSpPr>
        <p:spPr>
          <a:xfrm>
            <a:off x="438912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или нажимает «Сгенерировать цели»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797364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ectangle 28"/>
          <p:cNvSpPr/>
          <p:nvPr/>
        </p:nvSpPr>
        <p:spPr>
          <a:xfrm>
            <a:off x="822960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" name="Rectangle 29"/>
          <p:cNvSpPr/>
          <p:nvPr/>
        </p:nvSpPr>
        <p:spPr>
          <a:xfrm>
            <a:off x="8229600" y="1417320"/>
            <a:ext cx="3702960" cy="5025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836676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31"/>
          <p:cNvSpPr/>
          <p:nvPr/>
        </p:nvSpPr>
        <p:spPr>
          <a:xfrm>
            <a:off x="836676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Принятие целей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ectangle 32"/>
          <p:cNvSpPr/>
          <p:nvPr/>
        </p:nvSpPr>
        <p:spPr>
          <a:xfrm>
            <a:off x="8366760" y="2331720"/>
            <a:ext cx="3428640" cy="36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33"/>
          <p:cNvSpPr/>
          <p:nvPr/>
        </p:nvSpPr>
        <p:spPr>
          <a:xfrm>
            <a:off x="841248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AI предлагает 3–5 готовых целей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34"/>
          <p:cNvSpPr/>
          <p:nvPr/>
        </p:nvSpPr>
        <p:spPr>
          <a:xfrm>
            <a:off x="841248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Каждая привязана к документу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35"/>
          <p:cNvSpPr/>
          <p:nvPr/>
        </p:nvSpPr>
        <p:spPr>
          <a:xfrm>
            <a:off x="841248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нужные → «Принять»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36"/>
          <p:cNvSpPr/>
          <p:nvPr/>
        </p:nvSpPr>
        <p:spPr>
          <a:xfrm>
            <a:off x="822960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TextBox 37"/>
          <p:cNvSpPr/>
          <p:nvPr/>
        </p:nvSpPr>
        <p:spPr>
          <a:xfrm>
            <a:off x="836676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цели сохраняются в систему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3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3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Критерии оценки хакатона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Как мы закрываем каждый критерий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Rectangle 6"/>
          <p:cNvSpPr/>
          <p:nvPr/>
        </p:nvSpPr>
        <p:spPr>
          <a:xfrm>
            <a:off x="274320" y="1444680"/>
            <a:ext cx="914040" cy="7678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274320" y="16275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8"/>
          <p:cNvSpPr/>
          <p:nvPr/>
        </p:nvSpPr>
        <p:spPr>
          <a:xfrm>
            <a:off x="1325880" y="144468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1481400" y="14997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Качество оценки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1481400" y="18471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Gemini Flash · 5 SMART-скоров · goal_type · strategic_alignment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F-20: история аналогичных ролей · F-17 стратег. связка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tangle 11"/>
          <p:cNvSpPr/>
          <p:nvPr/>
        </p:nvSpPr>
        <p:spPr>
          <a:xfrm>
            <a:off x="274320" y="2322720"/>
            <a:ext cx="914040" cy="76788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274320" y="25056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ectangle 13"/>
          <p:cNvSpPr/>
          <p:nvPr/>
        </p:nvSpPr>
        <p:spPr>
          <a:xfrm>
            <a:off x="1325880" y="232272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1481400" y="23774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Качество генерации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15"/>
          <p:cNvSpPr/>
          <p:nvPr/>
        </p:nvSpPr>
        <p:spPr>
          <a:xfrm>
            <a:off x="1481400" y="27248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RAG: 160 ВНД → 412 чанков в Qdrant · dedup cosine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source_doc + source_quote · auto-SMART validation + reformulation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ectangle 16"/>
          <p:cNvSpPr/>
          <p:nvPr/>
        </p:nvSpPr>
        <p:spPr>
          <a:xfrm>
            <a:off x="274320" y="3200400"/>
            <a:ext cx="914040" cy="767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" name="TextBox 17"/>
          <p:cNvSpPr/>
          <p:nvPr/>
        </p:nvSpPr>
        <p:spPr>
          <a:xfrm>
            <a:off x="274320" y="33832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18"/>
          <p:cNvSpPr/>
          <p:nvPr/>
        </p:nvSpPr>
        <p:spPr>
          <a:xfrm>
            <a:off x="1325880" y="320040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19"/>
          <p:cNvSpPr/>
          <p:nvPr/>
        </p:nvSpPr>
        <p:spPr>
          <a:xfrm>
            <a:off x="1481400" y="325512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UX интерфейса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20"/>
          <p:cNvSpPr/>
          <p:nvPr/>
        </p:nvSpPr>
        <p:spPr>
          <a:xfrm>
            <a:off x="1481400" y="36028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React 18 + MUI · SmartScoreCard progress-bars · GoalCard с цитатой ВНД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AlertBanner · RadarChart · LineChart · collapsible RAG-чанки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1"/>
          <p:cNvSpPr/>
          <p:nvPr/>
        </p:nvSpPr>
        <p:spPr>
          <a:xfrm>
            <a:off x="274320" y="4078080"/>
            <a:ext cx="914040" cy="76788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22"/>
          <p:cNvSpPr/>
          <p:nvPr/>
        </p:nvSpPr>
        <p:spPr>
          <a:xfrm>
            <a:off x="274320" y="42609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ectangle 23"/>
          <p:cNvSpPr/>
          <p:nvPr/>
        </p:nvSpPr>
        <p:spPr>
          <a:xfrm>
            <a:off x="1325880" y="407808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TextBox 24"/>
          <p:cNvSpPr/>
          <p:nvPr/>
        </p:nvSpPr>
        <p:spPr>
          <a:xfrm>
            <a:off x="1481400" y="41331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Качество RAG-пайплайна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25"/>
          <p:cNvSpPr/>
          <p:nvPr/>
        </p:nvSpPr>
        <p:spPr>
          <a:xfrm>
            <a:off x="1481400" y="44805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Qdrant cosine · paraphrase-MiniLM-L12-v2 (384d) · dept_scope filter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 grounding check · avg_rag_score отображается во фронте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Rectangle 26"/>
          <p:cNvSpPr/>
          <p:nvPr/>
        </p:nvSpPr>
        <p:spPr>
          <a:xfrm>
            <a:off x="274320" y="4956120"/>
            <a:ext cx="914040" cy="76788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TextBox 27"/>
          <p:cNvSpPr/>
          <p:nvPr/>
        </p:nvSpPr>
        <p:spPr>
          <a:xfrm>
            <a:off x="274320" y="51390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Rectangle 28"/>
          <p:cNvSpPr/>
          <p:nvPr/>
        </p:nvSpPr>
        <p:spPr>
          <a:xfrm>
            <a:off x="1325880" y="495612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29"/>
          <p:cNvSpPr/>
          <p:nvPr/>
        </p:nvSpPr>
        <p:spPr>
          <a:xfrm>
            <a:off x="1481400" y="50108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Архитектура и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30"/>
          <p:cNvSpPr/>
          <p:nvPr/>
        </p:nvSpPr>
        <p:spPr>
          <a:xfrm>
            <a:off x="1481400" y="53582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FastAPI + OpenAPI /docs · Pydantic v2 Field(description=...) · Alembic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Docker Compose 4 services · async SQLAlchemy · 2 engines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Rectangle 31"/>
          <p:cNvSpPr/>
          <p:nvPr/>
        </p:nvSpPr>
        <p:spPr>
          <a:xfrm>
            <a:off x="274320" y="5833800"/>
            <a:ext cx="914040" cy="76788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32"/>
          <p:cNvSpPr/>
          <p:nvPr/>
        </p:nvSpPr>
        <p:spPr>
          <a:xfrm>
            <a:off x="274320" y="60166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ectangle 33"/>
          <p:cNvSpPr/>
          <p:nvPr/>
        </p:nvSpPr>
        <p:spPr>
          <a:xfrm>
            <a:off x="1325880" y="583380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34"/>
          <p:cNvSpPr/>
          <p:nvPr/>
        </p:nvSpPr>
        <p:spPr>
          <a:xfrm>
            <a:off x="1481400" y="588888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65c00"/>
                </a:solidFill>
                <a:latin typeface="Calibri"/>
              </a:rPr>
              <a:t>Аналитика и дашборд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35"/>
          <p:cNvSpPr/>
          <p:nvPr/>
        </p:nvSpPr>
        <p:spPr>
          <a:xfrm>
            <a:off x="1481400" y="62362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dept-quality · quarterly-trend · maturity F-22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RadarChart SMART-профиль · квартальный LineChart · top_issues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5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2"/>
          <p:cNvSpPr/>
          <p:nvPr/>
        </p:nvSpPr>
        <p:spPr>
          <a:xfrm>
            <a:off x="0" y="5669280"/>
            <a:ext cx="12188520" cy="1641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457200" y="274320"/>
            <a:ext cx="11274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Попробуйте прямо сейчас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4"/>
          <p:cNvSpPr/>
          <p:nvPr/>
        </p:nvSpPr>
        <p:spPr>
          <a:xfrm>
            <a:off x="457200" y="960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e8a838"/>
                </a:solidFill>
                <a:latin typeface="Calibri"/>
              </a:rPr>
              <a:t>Откройте камеру телефона и наведите на QR-код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" name="Picture 5" descr="qr_demo.png"/>
          <p:cNvPicPr/>
          <p:nvPr/>
        </p:nvPicPr>
        <p:blipFill>
          <a:blip r:embed="rId1"/>
          <a:stretch/>
        </p:blipFill>
        <p:spPr>
          <a:xfrm>
            <a:off x="4270320" y="1554480"/>
            <a:ext cx="3657240" cy="3657240"/>
          </a:xfrm>
          <a:prstGeom prst="rect">
            <a:avLst/>
          </a:prstGeom>
          <a:ln w="0">
            <a:noFill/>
          </a:ln>
        </p:spPr>
      </p:pic>
      <p:sp>
        <p:nvSpPr>
          <p:cNvPr id="176" name="TextBox 6"/>
          <p:cNvSpPr/>
          <p:nvPr/>
        </p:nvSpPr>
        <p:spPr>
          <a:xfrm>
            <a:off x="457200" y="5349240"/>
            <a:ext cx="11274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http://89.207.255.254:3000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7"/>
          <p:cNvSpPr/>
          <p:nvPr/>
        </p:nvSpPr>
        <p:spPr>
          <a:xfrm>
            <a:off x="457200" y="580644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ccff"/>
                </a:solidFill>
                <a:latin typeface="Calibri"/>
              </a:rPr>
              <a:t>Оценка целей · AI-генерация · Дашборд · Бенчмарк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4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Оптимизации оценки и хранения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Кеш · дедупликация · порог качества · управление целями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Rectangle 6"/>
          <p:cNvSpPr/>
          <p:nvPr/>
        </p:nvSpPr>
        <p:spPr>
          <a:xfrm>
            <a:off x="274320" y="146304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Rectangle 7"/>
          <p:cNvSpPr/>
          <p:nvPr/>
        </p:nvSpPr>
        <p:spPr>
          <a:xfrm>
            <a:off x="274320" y="1463040"/>
            <a:ext cx="109440" cy="914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TextBox 8"/>
          <p:cNvSpPr/>
          <p:nvPr/>
        </p:nvSpPr>
        <p:spPr>
          <a:xfrm>
            <a:off x="457200" y="155448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✅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9"/>
          <p:cNvSpPr/>
          <p:nvPr/>
        </p:nvSpPr>
        <p:spPr>
          <a:xfrm>
            <a:off x="1005840" y="15361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Кеш AI-оценок в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1005840" y="18471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evaluate-batch проверяет local DB: если цель уже оценена — берёт из кеша, не тратит Gemini.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Только новые цели отправляются в AI. Повторный запуск за ~100ms вместо ~10s.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Rectangle 11"/>
          <p:cNvSpPr/>
          <p:nvPr/>
        </p:nvSpPr>
        <p:spPr>
          <a:xfrm>
            <a:off x="274320" y="233172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Rectangle 12"/>
          <p:cNvSpPr/>
          <p:nvPr/>
        </p:nvSpPr>
        <p:spPr>
          <a:xfrm>
            <a:off x="274320" y="2331720"/>
            <a:ext cx="109440" cy="914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TextBox 13"/>
          <p:cNvSpPr/>
          <p:nvPr/>
        </p:nvSpPr>
        <p:spPr>
          <a:xfrm>
            <a:off x="457200" y="242316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🔄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14"/>
          <p:cNvSpPr/>
          <p:nvPr/>
        </p:nvSpPr>
        <p:spPr>
          <a:xfrm>
            <a:off x="1005840" y="240480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Дедупликация оценок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15"/>
          <p:cNvSpPr/>
          <p:nvPr/>
        </p:nvSpPr>
        <p:spPr>
          <a:xfrm>
            <a:off x="1005840" y="271584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 повторной оценке старая запись удаляется (DELETE WHERE goal_id/goal_text).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БД всегда одна оценка на цель — дашборд не искажается дублями.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16"/>
          <p:cNvSpPr/>
          <p:nvPr/>
        </p:nvSpPr>
        <p:spPr>
          <a:xfrm>
            <a:off x="274320" y="320040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Rectangle 17"/>
          <p:cNvSpPr/>
          <p:nvPr/>
        </p:nvSpPr>
        <p:spPr>
          <a:xfrm>
            <a:off x="274320" y="3200400"/>
            <a:ext cx="109440" cy="914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18"/>
          <p:cNvSpPr/>
          <p:nvPr/>
        </p:nvSpPr>
        <p:spPr>
          <a:xfrm>
            <a:off x="457200" y="329184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Box 19"/>
          <p:cNvSpPr/>
          <p:nvPr/>
        </p:nvSpPr>
        <p:spPr>
          <a:xfrm>
            <a:off x="1005840" y="327348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Порог сохранения: smart_index ≥ 0.7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20"/>
          <p:cNvSpPr/>
          <p:nvPr/>
        </p:nvSpPr>
        <p:spPr>
          <a:xfrm>
            <a:off x="1005840" y="358452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evaluate-goal — превью, не сохраняет в БД. Кнопка «Сохранить» активна только при ≥ 0.7.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Слабые цели не попадают в дашборд — только проходные.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Rectangle 21"/>
          <p:cNvSpPr/>
          <p:nvPr/>
        </p:nvSpPr>
        <p:spPr>
          <a:xfrm>
            <a:off x="274320" y="406908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" name="Rectangle 22"/>
          <p:cNvSpPr/>
          <p:nvPr/>
        </p:nvSpPr>
        <p:spPr>
          <a:xfrm>
            <a:off x="274320" y="4069080"/>
            <a:ext cx="109440" cy="91404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23"/>
          <p:cNvSpPr/>
          <p:nvPr/>
        </p:nvSpPr>
        <p:spPr>
          <a:xfrm>
            <a:off x="457200" y="416052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🗑️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24"/>
          <p:cNvSpPr/>
          <p:nvPr/>
        </p:nvSpPr>
        <p:spPr>
          <a:xfrm>
            <a:off x="1005840" y="414216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44336"/>
                </a:solidFill>
                <a:latin typeface="Calibri"/>
              </a:rPr>
              <a:t>Удаление manual-целей с низким скором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Box 25"/>
          <p:cNvSpPr/>
          <p:nvPr/>
        </p:nvSpPr>
        <p:spPr>
          <a:xfrm>
            <a:off x="1005840" y="445320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пакетной оценке manual-цели с индексом &lt; 0.7 показывают кнопку «Удалить».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DELETE /api/evaluation/{id} — карточка исчезает, БД очищается.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Rectangle 26"/>
          <p:cNvSpPr/>
          <p:nvPr/>
        </p:nvSpPr>
        <p:spPr>
          <a:xfrm>
            <a:off x="274320" y="493776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" name="Rectangle 27"/>
          <p:cNvSpPr/>
          <p:nvPr/>
        </p:nvSpPr>
        <p:spPr>
          <a:xfrm>
            <a:off x="274320" y="4937760"/>
            <a:ext cx="109440" cy="91404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28"/>
          <p:cNvSpPr/>
          <p:nvPr/>
        </p:nvSpPr>
        <p:spPr>
          <a:xfrm>
            <a:off x="457200" y="502920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⚡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29"/>
          <p:cNvSpPr/>
          <p:nvPr/>
        </p:nvSpPr>
        <p:spPr>
          <a:xfrm>
            <a:off x="1005840" y="501084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Параллельность + retry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30"/>
          <p:cNvSpPr/>
          <p:nvPr/>
        </p:nvSpPr>
        <p:spPr>
          <a:xfrm>
            <a:off x="1005840" y="532188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asyncio.gather для batch (5 целей за ~8 сек). Gemini 429 retry: 2→5→10→20→40 сек.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Кеш сотрудников 5 мин (360ms → 62ms). Pool 10+10, pre_ping, recycle=3600.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ectangle 31"/>
          <p:cNvSpPr/>
          <p:nvPr/>
        </p:nvSpPr>
        <p:spPr>
          <a:xfrm>
            <a:off x="274320" y="580644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Rectangle 32"/>
          <p:cNvSpPr/>
          <p:nvPr/>
        </p:nvSpPr>
        <p:spPr>
          <a:xfrm>
            <a:off x="274320" y="5806440"/>
            <a:ext cx="109440" cy="91404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TextBox 33"/>
          <p:cNvSpPr/>
          <p:nvPr/>
        </p:nvSpPr>
        <p:spPr>
          <a:xfrm>
            <a:off x="457200" y="589788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🔐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34"/>
          <p:cNvSpPr/>
          <p:nvPr/>
        </p:nvSpPr>
        <p:spPr>
          <a:xfrm>
            <a:off x="1005840" y="58795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ACID-транзакции (race condition protection)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Box 35"/>
          <p:cNvSpPr/>
          <p:nvPr/>
        </p:nvSpPr>
        <p:spPr>
          <a:xfrm>
            <a:off x="1005840" y="61905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SELECT FOR UPDATE → DELETE → INSERT → один COMMIT. Второй параллельный запрос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ждёт на FOR UPDATE пока первый не закоммитит. Дубли и потеря данных невозможны.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6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API — Документация и структура (10%)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FastAPI · OpenAPI /docs · Pydantic v2 · Field(description) · Async SQLAlchemy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Rectangle 6"/>
          <p:cNvSpPr/>
          <p:nvPr/>
        </p:nvSpPr>
        <p:spPr>
          <a:xfrm>
            <a:off x="274320" y="1417320"/>
            <a:ext cx="11639880" cy="347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7"/>
          <p:cNvSpPr/>
          <p:nvPr/>
        </p:nvSpPr>
        <p:spPr>
          <a:xfrm>
            <a:off x="457200" y="14446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POST — запись / AI-обработка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9"/>
          <p:cNvSpPr/>
          <p:nvPr/>
        </p:nvSpPr>
        <p:spPr>
          <a:xfrm>
            <a:off x="5623560" y="1444680"/>
            <a:ext cx="6400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Описание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tangle 10"/>
          <p:cNvSpPr/>
          <p:nvPr/>
        </p:nvSpPr>
        <p:spPr>
          <a:xfrm>
            <a:off x="274320" y="18104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Rectangle 11"/>
          <p:cNvSpPr/>
          <p:nvPr/>
        </p:nvSpPr>
        <p:spPr>
          <a:xfrm>
            <a:off x="347400" y="18561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" name="TextBox 12"/>
          <p:cNvSpPr/>
          <p:nvPr/>
        </p:nvSpPr>
        <p:spPr>
          <a:xfrm>
            <a:off x="347400" y="18655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13"/>
          <p:cNvSpPr/>
          <p:nvPr/>
        </p:nvSpPr>
        <p:spPr>
          <a:xfrm>
            <a:off x="1115640" y="18745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/api/evaluate-goal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4"/>
          <p:cNvSpPr/>
          <p:nvPr/>
        </p:nvSpPr>
        <p:spPr>
          <a:xfrm>
            <a:off x="5623560" y="18745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Оценить одну цель по SMART · 5 критериев · алерты F-16..F-21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ectangle 15"/>
          <p:cNvSpPr/>
          <p:nvPr/>
        </p:nvSpPr>
        <p:spPr>
          <a:xfrm>
            <a:off x="274320" y="22676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Rectangle 16"/>
          <p:cNvSpPr/>
          <p:nvPr/>
        </p:nvSpPr>
        <p:spPr>
          <a:xfrm>
            <a:off x="347400" y="23133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347400" y="23227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8"/>
          <p:cNvSpPr/>
          <p:nvPr/>
        </p:nvSpPr>
        <p:spPr>
          <a:xfrm>
            <a:off x="1115640" y="23317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/api/evaluate-batch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19"/>
          <p:cNvSpPr/>
          <p:nvPr/>
        </p:nvSpPr>
        <p:spPr>
          <a:xfrm>
            <a:off x="5623560" y="23317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Пакетная оценка всех целей сотрудника · asyncio.gather ·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tangle 20"/>
          <p:cNvSpPr/>
          <p:nvPr/>
        </p:nvSpPr>
        <p:spPr>
          <a:xfrm>
            <a:off x="274320" y="27248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Rectangle 21"/>
          <p:cNvSpPr/>
          <p:nvPr/>
        </p:nvSpPr>
        <p:spPr>
          <a:xfrm>
            <a:off x="347400" y="27705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TextBox 22"/>
          <p:cNvSpPr/>
          <p:nvPr/>
        </p:nvSpPr>
        <p:spPr>
          <a:xfrm>
            <a:off x="347400" y="27799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23"/>
          <p:cNvSpPr/>
          <p:nvPr/>
        </p:nvSpPr>
        <p:spPr>
          <a:xfrm>
            <a:off x="1115640" y="27889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/api/generate-goals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24"/>
          <p:cNvSpPr/>
          <p:nvPr/>
        </p:nvSpPr>
        <p:spPr>
          <a:xfrm>
            <a:off x="5623560" y="27889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AI-генерация 3–5 целей · RAG + Gemini · dedup · grounding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Rectangle 25"/>
          <p:cNvSpPr/>
          <p:nvPr/>
        </p:nvSpPr>
        <p:spPr>
          <a:xfrm>
            <a:off x="274320" y="31820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Rectangle 26"/>
          <p:cNvSpPr/>
          <p:nvPr/>
        </p:nvSpPr>
        <p:spPr>
          <a:xfrm>
            <a:off x="347400" y="32277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TextBox 27"/>
          <p:cNvSpPr/>
          <p:nvPr/>
        </p:nvSpPr>
        <p:spPr>
          <a:xfrm>
            <a:off x="347400" y="32371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8"/>
          <p:cNvSpPr/>
          <p:nvPr/>
        </p:nvSpPr>
        <p:spPr>
          <a:xfrm>
            <a:off x="1115640" y="32461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/api/accept-goals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29"/>
          <p:cNvSpPr/>
          <p:nvPr/>
        </p:nvSpPr>
        <p:spPr>
          <a:xfrm>
            <a:off x="5623560" y="32461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Принять выбранные цели · сохранить в accepted_goals (F-13)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tangle 30"/>
          <p:cNvSpPr/>
          <p:nvPr/>
        </p:nvSpPr>
        <p:spPr>
          <a:xfrm>
            <a:off x="274320" y="3712320"/>
            <a:ext cx="11639880" cy="180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Rectangle 31"/>
          <p:cNvSpPr/>
          <p:nvPr/>
        </p:nvSpPr>
        <p:spPr>
          <a:xfrm>
            <a:off x="274320" y="3803760"/>
            <a:ext cx="1163988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" name="TextBox 32"/>
          <p:cNvSpPr/>
          <p:nvPr/>
        </p:nvSpPr>
        <p:spPr>
          <a:xfrm>
            <a:off x="457200" y="38314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GET — чтение / аналитика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ectangle 33"/>
          <p:cNvSpPr/>
          <p:nvPr/>
        </p:nvSpPr>
        <p:spPr>
          <a:xfrm>
            <a:off x="274320" y="41878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Rectangle 34"/>
          <p:cNvSpPr/>
          <p:nvPr/>
        </p:nvSpPr>
        <p:spPr>
          <a:xfrm>
            <a:off x="347400" y="42336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TextBox 35"/>
          <p:cNvSpPr/>
          <p:nvPr/>
        </p:nvSpPr>
        <p:spPr>
          <a:xfrm>
            <a:off x="347400" y="42429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36"/>
          <p:cNvSpPr/>
          <p:nvPr/>
        </p:nvSpPr>
        <p:spPr>
          <a:xfrm>
            <a:off x="1115640" y="42519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/api/dashboard/department-quality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37"/>
          <p:cNvSpPr/>
          <p:nvPr/>
        </p:nvSpPr>
        <p:spPr>
          <a:xfrm>
            <a:off x="5623560" y="42519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SMART-индекс по подразделениям · strategic_ratio · weakest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38"/>
          <p:cNvSpPr/>
          <p:nvPr/>
        </p:nvSpPr>
        <p:spPr>
          <a:xfrm>
            <a:off x="274320" y="46450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Rectangle 39"/>
          <p:cNvSpPr/>
          <p:nvPr/>
        </p:nvSpPr>
        <p:spPr>
          <a:xfrm>
            <a:off x="347400" y="46908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TextBox 40"/>
          <p:cNvSpPr/>
          <p:nvPr/>
        </p:nvSpPr>
        <p:spPr>
          <a:xfrm>
            <a:off x="347400" y="47001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41"/>
          <p:cNvSpPr/>
          <p:nvPr/>
        </p:nvSpPr>
        <p:spPr>
          <a:xfrm>
            <a:off x="1115640" y="47091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/api/dashboard/quarterly-trend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42"/>
          <p:cNvSpPr/>
          <p:nvPr/>
        </p:nvSpPr>
        <p:spPr>
          <a:xfrm>
            <a:off x="5623560" y="47091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Квартальная динамика · criterion_scores для RadarChart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tangle 43"/>
          <p:cNvSpPr/>
          <p:nvPr/>
        </p:nvSpPr>
        <p:spPr>
          <a:xfrm>
            <a:off x="274320" y="51022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Rectangle 44"/>
          <p:cNvSpPr/>
          <p:nvPr/>
        </p:nvSpPr>
        <p:spPr>
          <a:xfrm>
            <a:off x="347400" y="51480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" name="TextBox 45"/>
          <p:cNvSpPr/>
          <p:nvPr/>
        </p:nvSpPr>
        <p:spPr>
          <a:xfrm>
            <a:off x="347400" y="51573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46"/>
          <p:cNvSpPr/>
          <p:nvPr/>
        </p:nvSpPr>
        <p:spPr>
          <a:xfrm>
            <a:off x="1115640" y="51663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/api/dashboard/maturity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47"/>
          <p:cNvSpPr/>
          <p:nvPr/>
        </p:nvSpPr>
        <p:spPr>
          <a:xfrm>
            <a:off x="5623560" y="51663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Индекс зрелости подразделения F-22 · recommendations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ectangle 48"/>
          <p:cNvSpPr/>
          <p:nvPr/>
        </p:nvSpPr>
        <p:spPr>
          <a:xfrm>
            <a:off x="274320" y="55594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Rectangle 49"/>
          <p:cNvSpPr/>
          <p:nvPr/>
        </p:nvSpPr>
        <p:spPr>
          <a:xfrm>
            <a:off x="347400" y="56052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TextBox 50"/>
          <p:cNvSpPr/>
          <p:nvPr/>
        </p:nvSpPr>
        <p:spPr>
          <a:xfrm>
            <a:off x="347400" y="56145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51"/>
          <p:cNvSpPr/>
          <p:nvPr/>
        </p:nvSpPr>
        <p:spPr>
          <a:xfrm>
            <a:off x="1115640" y="56235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/api/employees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52"/>
          <p:cNvSpPr/>
          <p:nvPr/>
        </p:nvSpPr>
        <p:spPr>
          <a:xfrm>
            <a:off x="5623560" y="56235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Список сотрудников с кол-вом целей (кеш 5 мин)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Rectangle 53"/>
          <p:cNvSpPr/>
          <p:nvPr/>
        </p:nvSpPr>
        <p:spPr>
          <a:xfrm>
            <a:off x="274320" y="60166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" name="Rectangle 54"/>
          <p:cNvSpPr/>
          <p:nvPr/>
        </p:nvSpPr>
        <p:spPr>
          <a:xfrm>
            <a:off x="347400" y="60624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TextBox 55"/>
          <p:cNvSpPr/>
          <p:nvPr/>
        </p:nvSpPr>
        <p:spPr>
          <a:xfrm>
            <a:off x="347400" y="60717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56"/>
          <p:cNvSpPr/>
          <p:nvPr/>
        </p:nvSpPr>
        <p:spPr>
          <a:xfrm>
            <a:off x="1115640" y="60807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/health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Box 57"/>
          <p:cNvSpPr/>
          <p:nvPr/>
        </p:nvSpPr>
        <p:spPr>
          <a:xfrm>
            <a:off x="5623560" y="60807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Health-check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1" name="Picture 58" descr="qr_docs.png"/>
          <p:cNvPicPr/>
          <p:nvPr/>
        </p:nvPicPr>
        <p:blipFill>
          <a:blip r:embed="rId1"/>
          <a:stretch/>
        </p:blipFill>
        <p:spPr>
          <a:xfrm>
            <a:off x="10058400" y="4572000"/>
            <a:ext cx="1645560" cy="1645560"/>
          </a:xfrm>
          <a:prstGeom prst="rect">
            <a:avLst/>
          </a:prstGeom>
          <a:ln w="0">
            <a:noFill/>
          </a:ln>
        </p:spPr>
      </p:pic>
      <p:sp>
        <p:nvSpPr>
          <p:cNvPr id="272" name="TextBox 59"/>
          <p:cNvSpPr/>
          <p:nvPr/>
        </p:nvSpPr>
        <p:spPr>
          <a:xfrm>
            <a:off x="10058400" y="6263640"/>
            <a:ext cx="1645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Swagger /docs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6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7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MVP — все обязательные функции реализованы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Rectangle 4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" name="Rectangle 5"/>
          <p:cNvSpPr/>
          <p:nvPr/>
        </p:nvSpPr>
        <p:spPr>
          <a:xfrm>
            <a:off x="274320" y="1426320"/>
            <a:ext cx="11639880" cy="3837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TextBox 6"/>
          <p:cNvSpPr/>
          <p:nvPr/>
        </p:nvSpPr>
        <p:spPr>
          <a:xfrm>
            <a:off x="384120" y="14630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7"/>
          <p:cNvSpPr/>
          <p:nvPr/>
        </p:nvSpPr>
        <p:spPr>
          <a:xfrm>
            <a:off x="82296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Функция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8"/>
          <p:cNvSpPr/>
          <p:nvPr/>
        </p:nvSpPr>
        <p:spPr>
          <a:xfrm>
            <a:off x="457200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Endpoint / поле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749808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Детали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ectangle 10"/>
          <p:cNvSpPr/>
          <p:nvPr/>
        </p:nvSpPr>
        <p:spPr>
          <a:xfrm>
            <a:off x="274320" y="185616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" name="TextBox 11"/>
          <p:cNvSpPr/>
          <p:nvPr/>
        </p:nvSpPr>
        <p:spPr>
          <a:xfrm>
            <a:off x="384120" y="19659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Box 12"/>
          <p:cNvSpPr/>
          <p:nvPr/>
        </p:nvSpPr>
        <p:spPr>
          <a:xfrm>
            <a:off x="822960" y="197496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SMART-оценка одной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3"/>
          <p:cNvSpPr/>
          <p:nvPr/>
        </p:nvSpPr>
        <p:spPr>
          <a:xfrm>
            <a:off x="4572000" y="197496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14"/>
          <p:cNvSpPr/>
          <p:nvPr/>
        </p:nvSpPr>
        <p:spPr>
          <a:xfrm>
            <a:off x="7498080" y="197496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5 скоров · smart_index · рекомендации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ectangle 15"/>
          <p:cNvSpPr/>
          <p:nvPr/>
        </p:nvSpPr>
        <p:spPr>
          <a:xfrm>
            <a:off x="274320" y="246888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TextBox 16"/>
          <p:cNvSpPr/>
          <p:nvPr/>
        </p:nvSpPr>
        <p:spPr>
          <a:xfrm>
            <a:off x="384120" y="25786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17"/>
          <p:cNvSpPr/>
          <p:nvPr/>
        </p:nvSpPr>
        <p:spPr>
          <a:xfrm>
            <a:off x="822960" y="258768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Переформулировка слабой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18"/>
          <p:cNvSpPr/>
          <p:nvPr/>
        </p:nvSpPr>
        <p:spPr>
          <a:xfrm>
            <a:off x="4572000" y="258768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improved_goal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19"/>
          <p:cNvSpPr/>
          <p:nvPr/>
        </p:nvSpPr>
        <p:spPr>
          <a:xfrm>
            <a:off x="7498080" y="258768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Автоматически если smart_index &lt; 0.7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Rectangle 20"/>
          <p:cNvSpPr/>
          <p:nvPr/>
        </p:nvSpPr>
        <p:spPr>
          <a:xfrm>
            <a:off x="274320" y="308160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21"/>
          <p:cNvSpPr/>
          <p:nvPr/>
        </p:nvSpPr>
        <p:spPr>
          <a:xfrm>
            <a:off x="384120" y="31914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822960" y="32004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Генерация 3–5 целей по должности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4572000" y="32004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/api/generate-goals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24"/>
          <p:cNvSpPr/>
          <p:nvPr/>
        </p:nvSpPr>
        <p:spPr>
          <a:xfrm>
            <a:off x="7498080" y="32004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RAG (160 ВНД) + Gemini Flash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Rectangle 25"/>
          <p:cNvSpPr/>
          <p:nvPr/>
        </p:nvSpPr>
        <p:spPr>
          <a:xfrm>
            <a:off x="274320" y="369432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" name="TextBox 26"/>
          <p:cNvSpPr/>
          <p:nvPr/>
        </p:nvSpPr>
        <p:spPr>
          <a:xfrm>
            <a:off x="384120" y="38037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27"/>
          <p:cNvSpPr/>
          <p:nvPr/>
        </p:nvSpPr>
        <p:spPr>
          <a:xfrm>
            <a:off x="822960" y="38131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Привязка к источнику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28"/>
          <p:cNvSpPr/>
          <p:nvPr/>
        </p:nvSpPr>
        <p:spPr>
          <a:xfrm>
            <a:off x="4572000" y="38131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source_doc + source_quote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29"/>
          <p:cNvSpPr/>
          <p:nvPr/>
        </p:nvSpPr>
        <p:spPr>
          <a:xfrm>
            <a:off x="7498080" y="38131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Документ + цитата в каждой цели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ectangle 30"/>
          <p:cNvSpPr/>
          <p:nvPr/>
        </p:nvSpPr>
        <p:spPr>
          <a:xfrm>
            <a:off x="274320" y="430668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31"/>
          <p:cNvSpPr/>
          <p:nvPr/>
        </p:nvSpPr>
        <p:spPr>
          <a:xfrm>
            <a:off x="384120" y="44164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32"/>
          <p:cNvSpPr/>
          <p:nvPr/>
        </p:nvSpPr>
        <p:spPr>
          <a:xfrm>
            <a:off x="822960" y="44258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Пакетная оценка за квартал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33"/>
          <p:cNvSpPr/>
          <p:nvPr/>
        </p:nvSpPr>
        <p:spPr>
          <a:xfrm>
            <a:off x="4572000" y="44258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/api/evaluate-batch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34"/>
          <p:cNvSpPr/>
          <p:nvPr/>
        </p:nvSpPr>
        <p:spPr>
          <a:xfrm>
            <a:off x="7498080" y="44258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asyncio.gather · avg_index · weakest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Rectangle 35"/>
          <p:cNvSpPr/>
          <p:nvPr/>
        </p:nvSpPr>
        <p:spPr>
          <a:xfrm>
            <a:off x="274320" y="491940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TextBox 36"/>
          <p:cNvSpPr/>
          <p:nvPr/>
        </p:nvSpPr>
        <p:spPr>
          <a:xfrm>
            <a:off x="384120" y="50292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37"/>
          <p:cNvSpPr/>
          <p:nvPr/>
        </p:nvSpPr>
        <p:spPr>
          <a:xfrm>
            <a:off x="822960" y="50382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Дашборд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38"/>
          <p:cNvSpPr/>
          <p:nvPr/>
        </p:nvSpPr>
        <p:spPr>
          <a:xfrm>
            <a:off x="4572000" y="50382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GET /api/dashboard/*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39"/>
          <p:cNvSpPr/>
          <p:nvPr/>
        </p:nvSpPr>
        <p:spPr>
          <a:xfrm>
            <a:off x="7498080" y="50382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SMART-индекс · тренд · radar · проблемы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Rectangle 40"/>
          <p:cNvSpPr/>
          <p:nvPr/>
        </p:nvSpPr>
        <p:spPr>
          <a:xfrm>
            <a:off x="274320" y="5532120"/>
            <a:ext cx="1163988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" name="TextBox 41"/>
          <p:cNvSpPr/>
          <p:nvPr/>
        </p:nvSpPr>
        <p:spPr>
          <a:xfrm>
            <a:off x="384120" y="564192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8a838"/>
                </a:solidFill>
                <a:latin typeface="Calibri"/>
              </a:rPr>
              <a:t>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42"/>
          <p:cNvSpPr/>
          <p:nvPr/>
        </p:nvSpPr>
        <p:spPr>
          <a:xfrm>
            <a:off x="822960" y="56509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Каскадирование от руководителя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43"/>
          <p:cNvSpPr/>
          <p:nvPr/>
        </p:nvSpPr>
        <p:spPr>
          <a:xfrm>
            <a:off x="4572000" y="56509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manager_goals в промпте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44"/>
          <p:cNvSpPr/>
          <p:nvPr/>
        </p:nvSpPr>
        <p:spPr>
          <a:xfrm>
            <a:off x="7498080" y="56509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Реализовано через manager_id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Rectangle 45"/>
          <p:cNvSpPr/>
          <p:nvPr/>
        </p:nvSpPr>
        <p:spPr>
          <a:xfrm>
            <a:off x="274320" y="6144840"/>
            <a:ext cx="11639880" cy="5666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TextBox 46"/>
          <p:cNvSpPr/>
          <p:nvPr/>
        </p:nvSpPr>
        <p:spPr>
          <a:xfrm>
            <a:off x="384120" y="625464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</a:rPr>
              <a:t>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47"/>
          <p:cNvSpPr/>
          <p:nvPr/>
        </p:nvSpPr>
        <p:spPr>
          <a:xfrm>
            <a:off x="822960" y="62636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Интеграция 1С / SAP / Oracle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48"/>
          <p:cNvSpPr/>
          <p:nvPr/>
        </p:nvSpPr>
        <p:spPr>
          <a:xfrm>
            <a:off x="4572000" y="62636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—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49"/>
          <p:cNvSpPr/>
          <p:nvPr/>
        </p:nvSpPr>
        <p:spPr>
          <a:xfrm>
            <a:off x="7498080" y="62636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Вне MVP (опционально по ТЗ)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5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8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Roadmap — рекомендации по развитию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От MVP к production-решению для 10 000+ сотрудников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9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1" name="TextBox 8"/>
          <p:cNvSpPr/>
          <p:nvPr/>
        </p:nvSpPr>
        <p:spPr>
          <a:xfrm>
            <a:off x="457200" y="1554480"/>
            <a:ext cx="456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🔐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9"/>
          <p:cNvSpPr/>
          <p:nvPr/>
        </p:nvSpPr>
        <p:spPr>
          <a:xfrm>
            <a:off x="960120" y="15818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Keycloak SSO + RBAC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10"/>
          <p:cNvSpPr/>
          <p:nvPr/>
        </p:nvSpPr>
        <p:spPr>
          <a:xfrm>
            <a:off x="457200" y="201168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SSO через Active Directory / Keycloak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JWT-токены, роли: сотрудник / руководитель / HR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Убрать выбор сотрудника — автоматически по логину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Rectangle 11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5" name="Rectangle 12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6" name="TextBox 13"/>
          <p:cNvSpPr/>
          <p:nvPr/>
        </p:nvSpPr>
        <p:spPr>
          <a:xfrm>
            <a:off x="6419160" y="1554480"/>
            <a:ext cx="456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📄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14"/>
          <p:cNvSpPr/>
          <p:nvPr/>
        </p:nvSpPr>
        <p:spPr>
          <a:xfrm>
            <a:off x="6922080" y="15818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Парсинг реальных ВНД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15"/>
          <p:cNvSpPr/>
          <p:nvPr/>
        </p:nvSpPr>
        <p:spPr>
          <a:xfrm>
            <a:off x="6419160" y="201168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Word (.docx) и PDF с таблицами, списками, OCR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Adaptive chunking по заголовкам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Версионирование: автообновление Qdrant при изменении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Rectangle 16"/>
          <p:cNvSpPr/>
          <p:nvPr/>
        </p:nvSpPr>
        <p:spPr>
          <a:xfrm>
            <a:off x="274320" y="397764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Rectangle 17"/>
          <p:cNvSpPr/>
          <p:nvPr/>
        </p:nvSpPr>
        <p:spPr>
          <a:xfrm>
            <a:off x="274320" y="3977640"/>
            <a:ext cx="91080" cy="233136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18"/>
          <p:cNvSpPr/>
          <p:nvPr/>
        </p:nvSpPr>
        <p:spPr>
          <a:xfrm>
            <a:off x="457200" y="4114800"/>
            <a:ext cx="456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🖥️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19"/>
          <p:cNvSpPr/>
          <p:nvPr/>
        </p:nvSpPr>
        <p:spPr>
          <a:xfrm>
            <a:off x="960120" y="414216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44336"/>
                </a:solidFill>
                <a:latin typeface="Calibri"/>
              </a:rPr>
              <a:t>GPU-кластер / локальная LLM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Box 20"/>
          <p:cNvSpPr/>
          <p:nvPr/>
        </p:nvSpPr>
        <p:spPr>
          <a:xfrm>
            <a:off x="457200" y="457200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ВНД = конфиденциальные данные, нельзя в облако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vLLM + Llama 3 / Mistral на NVIDIA A100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Полная автономность, без rate limits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Rectangle 21"/>
          <p:cNvSpPr/>
          <p:nvPr/>
        </p:nvSpPr>
        <p:spPr>
          <a:xfrm>
            <a:off x="6236280" y="397764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Rectangle 22"/>
          <p:cNvSpPr/>
          <p:nvPr/>
        </p:nvSpPr>
        <p:spPr>
          <a:xfrm>
            <a:off x="6236280" y="397764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6" name="TextBox 23"/>
          <p:cNvSpPr/>
          <p:nvPr/>
        </p:nvSpPr>
        <p:spPr>
          <a:xfrm>
            <a:off x="6419160" y="4114800"/>
            <a:ext cx="456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⚡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Box 24"/>
          <p:cNvSpPr/>
          <p:nvPr/>
        </p:nvSpPr>
        <p:spPr>
          <a:xfrm>
            <a:off x="6922080" y="414216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Масштабирование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25"/>
          <p:cNvSpPr/>
          <p:nvPr/>
        </p:nvSpPr>
        <p:spPr>
          <a:xfrm>
            <a:off x="6419160" y="457200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Kubernetes HPA + 3 реплики API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Redis: rate limiting + кеш + Celery очередь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Gunicorn + N workers вместо 1 uvicorn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2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9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" name="Rectangle 2"/>
          <p:cNvSpPr/>
          <p:nvPr/>
        </p:nvSpPr>
        <p:spPr>
          <a:xfrm>
            <a:off x="0" y="5303520"/>
            <a:ext cx="1218852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" name="TextBox 4"/>
          <p:cNvSpPr/>
          <p:nvPr/>
        </p:nvSpPr>
        <p:spPr>
          <a:xfrm>
            <a:off x="457200" y="548640"/>
            <a:ext cx="112741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Спасибо за внимание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ectangle 5"/>
          <p:cNvSpPr/>
          <p:nvPr/>
        </p:nvSpPr>
        <p:spPr>
          <a:xfrm>
            <a:off x="32004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Rectangle 6"/>
          <p:cNvSpPr/>
          <p:nvPr/>
        </p:nvSpPr>
        <p:spPr>
          <a:xfrm>
            <a:off x="32004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45720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🎯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25% + 25%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45720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SMART-оценка + AI-генерация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9"/>
          <p:cNvSpPr/>
          <p:nvPr/>
        </p:nvSpPr>
        <p:spPr>
          <a:xfrm>
            <a:off x="45720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Gemini Flash · 5 критериев · goal_type · 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Rectangle 10"/>
          <p:cNvSpPr/>
          <p:nvPr/>
        </p:nvSpPr>
        <p:spPr>
          <a:xfrm>
            <a:off x="416052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0" name="Rectangle 11"/>
          <p:cNvSpPr/>
          <p:nvPr/>
        </p:nvSpPr>
        <p:spPr>
          <a:xfrm>
            <a:off x="416052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1" name="TextBox 12"/>
          <p:cNvSpPr/>
          <p:nvPr/>
        </p:nvSpPr>
        <p:spPr>
          <a:xfrm>
            <a:off x="429768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🔍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13"/>
          <p:cNvSpPr/>
          <p:nvPr/>
        </p:nvSpPr>
        <p:spPr>
          <a:xfrm>
            <a:off x="429768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RAG-пайплайн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14"/>
          <p:cNvSpPr/>
          <p:nvPr/>
        </p:nvSpPr>
        <p:spPr>
          <a:xfrm>
            <a:off x="429768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Qdrant · 160 ВНД · 412 чанков · cosine · source grounding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Rectangle 15"/>
          <p:cNvSpPr/>
          <p:nvPr/>
        </p:nvSpPr>
        <p:spPr>
          <a:xfrm>
            <a:off x="800100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5" name="Rectangle 16"/>
          <p:cNvSpPr/>
          <p:nvPr/>
        </p:nvSpPr>
        <p:spPr>
          <a:xfrm>
            <a:off x="800100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TextBox 17"/>
          <p:cNvSpPr/>
          <p:nvPr/>
        </p:nvSpPr>
        <p:spPr>
          <a:xfrm>
            <a:off x="813816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📊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18"/>
          <p:cNvSpPr/>
          <p:nvPr/>
        </p:nvSpPr>
        <p:spPr>
          <a:xfrm>
            <a:off x="813816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Аналитика и дашборд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19"/>
          <p:cNvSpPr/>
          <p:nvPr/>
        </p:nvSpPr>
        <p:spPr>
          <a:xfrm>
            <a:off x="813816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Dept quality · quarterly trend · maturity F-22 · radar chart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ectangle 20"/>
          <p:cNvSpPr/>
          <p:nvPr/>
        </p:nvSpPr>
        <p:spPr>
          <a:xfrm>
            <a:off x="32004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Rectangle 21"/>
          <p:cNvSpPr/>
          <p:nvPr/>
        </p:nvSpPr>
        <p:spPr>
          <a:xfrm>
            <a:off x="32004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1" name="TextBox 22"/>
          <p:cNvSpPr/>
          <p:nvPr/>
        </p:nvSpPr>
        <p:spPr>
          <a:xfrm>
            <a:off x="45720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⚙️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23"/>
          <p:cNvSpPr/>
          <p:nvPr/>
        </p:nvSpPr>
        <p:spPr>
          <a:xfrm>
            <a:off x="45720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Архитектура и API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Box 24"/>
          <p:cNvSpPr/>
          <p:nvPr/>
        </p:nvSpPr>
        <p:spPr>
          <a:xfrm>
            <a:off x="457200" y="4306680"/>
            <a:ext cx="329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FastAPI · OpenAPI /docs · Docker Compose · Alembic · Pydantic v2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Rectangle 25"/>
          <p:cNvSpPr/>
          <p:nvPr/>
        </p:nvSpPr>
        <p:spPr>
          <a:xfrm>
            <a:off x="416052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5" name="Rectangle 26"/>
          <p:cNvSpPr/>
          <p:nvPr/>
        </p:nvSpPr>
        <p:spPr>
          <a:xfrm>
            <a:off x="416052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TextBox 27"/>
          <p:cNvSpPr/>
          <p:nvPr/>
        </p:nvSpPr>
        <p:spPr>
          <a:xfrm>
            <a:off x="429768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💻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Box 28"/>
          <p:cNvSpPr/>
          <p:nvPr/>
        </p:nvSpPr>
        <p:spPr>
          <a:xfrm>
            <a:off x="429768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UX интерфейса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Box 29"/>
          <p:cNvSpPr/>
          <p:nvPr/>
        </p:nvSpPr>
        <p:spPr>
          <a:xfrm>
            <a:off x="4297680" y="4306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React 18 · MUI · 6 страниц · progress bars · alert banners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30"/>
          <p:cNvSpPr/>
          <p:nvPr/>
        </p:nvSpPr>
        <p:spPr>
          <a:xfrm>
            <a:off x="457200" y="630936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9bbee"/>
                </a:solidFill>
                <a:latin typeface="Calibri"/>
              </a:rPr>
              <a:t>Frontend: http://89.207.255.254:3000   ·   API: http://89.207.255.254:8001/docs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10 / 10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2026-03-28T19:23:04Z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